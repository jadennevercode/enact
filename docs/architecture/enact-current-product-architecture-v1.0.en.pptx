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775a35cf1842e1" /><Relationship Type="http://schemas.openxmlformats.org/officeDocument/2006/relationships/extended-properties" Target="/docProps/app.xml" Id="R6ab991b49cae483d" /><Relationship Type="http://schemas.openxmlformats.org/officeDocument/2006/relationships/officeDocument" Target="/ppt/presentation.xml" Id="Rdf9d44a3705f44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cbb185f6834271"/>
  </p:sldMasterIdLst>
  <p:notesMasterIdLst>
    <p:notesMasterId xmlns:r="http://schemas.openxmlformats.org/officeDocument/2006/relationships" r:id="Re22db646973040da"/>
  </p:notesMasterIdLst>
  <p:sldIdLst>
    <p:sldId xmlns:r="http://schemas.openxmlformats.org/officeDocument/2006/relationships" id="256" r:id="R6086a2513198457d"/>
    <p:sldId xmlns:r="http://schemas.openxmlformats.org/officeDocument/2006/relationships" id="257" r:id="R115b01ec058c4946"/>
    <p:sldId xmlns:r="http://schemas.openxmlformats.org/officeDocument/2006/relationships" id="258" r:id="Rd239554e5ff542d5"/>
    <p:sldId xmlns:r="http://schemas.openxmlformats.org/officeDocument/2006/relationships" id="259" r:id="Rcffb97456ee84e88"/>
    <p:sldId xmlns:r="http://schemas.openxmlformats.org/officeDocument/2006/relationships" id="260" r:id="R3ac22ff2d7534143"/>
    <p:sldId xmlns:r="http://schemas.openxmlformats.org/officeDocument/2006/relationships" id="261" r:id="Rf12a33d6603f41cc"/>
    <p:sldId xmlns:r="http://schemas.openxmlformats.org/officeDocument/2006/relationships" id="262" r:id="Ra09a4f15bf72411e"/>
    <p:sldId xmlns:r="http://schemas.openxmlformats.org/officeDocument/2006/relationships" id="263" r:id="Rf403f19c4c78421d"/>
    <p:sldId xmlns:r="http://schemas.openxmlformats.org/officeDocument/2006/relationships" id="264" r:id="R1b769b3039704f40"/>
    <p:sldId xmlns:r="http://schemas.openxmlformats.org/officeDocument/2006/relationships" id="265" r:id="R5068ece6568b4290"/>
    <p:sldId xmlns:r="http://schemas.openxmlformats.org/officeDocument/2006/relationships" id="266" r:id="R477e6c60eded4d19"/>
    <p:sldId xmlns:r="http://schemas.openxmlformats.org/officeDocument/2006/relationships" id="267" r:id="Reb55ffbb89274c03"/>
    <p:sldId xmlns:r="http://schemas.openxmlformats.org/officeDocument/2006/relationships" id="268" r:id="R7ea290ca240d4d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80242ba2de49f4" /><Relationship Type="http://schemas.openxmlformats.org/officeDocument/2006/relationships/slideMaster" Target="/ppt/slideMasters/slideMaster1.xml" Id="R27cbb185f6834271" /><Relationship Type="http://schemas.openxmlformats.org/officeDocument/2006/relationships/notesMaster" Target="/ppt/notesMasters/notesMaster1.xml" Id="Re22db646973040da" /><Relationship Type="http://schemas.openxmlformats.org/officeDocument/2006/relationships/presProps" Target="/ppt/presProps.xml" Id="R7b5555c2b29a4b42" /><Relationship Type="http://schemas.openxmlformats.org/officeDocument/2006/relationships/tableStyles" Target="/ppt/tableStyles.xml" Id="R8b78f68bf7c74677" /><Relationship Type="http://schemas.openxmlformats.org/officeDocument/2006/relationships/slide" Target="/ppt/slides/slide1.xml" Id="R6086a2513198457d" /><Relationship Type="http://schemas.openxmlformats.org/officeDocument/2006/relationships/slide" Target="/ppt/slides/slide2.xml" Id="R115b01ec058c4946" /><Relationship Type="http://schemas.openxmlformats.org/officeDocument/2006/relationships/slide" Target="/ppt/slides/slide3.xml" Id="Rd239554e5ff542d5" /><Relationship Type="http://schemas.openxmlformats.org/officeDocument/2006/relationships/slide" Target="/ppt/slides/slide4.xml" Id="Rcffb97456ee84e88" /><Relationship Type="http://schemas.openxmlformats.org/officeDocument/2006/relationships/slide" Target="/ppt/slides/slide5.xml" Id="R3ac22ff2d7534143" /><Relationship Type="http://schemas.openxmlformats.org/officeDocument/2006/relationships/slide" Target="/ppt/slides/slide6.xml" Id="Rf12a33d6603f41cc" /><Relationship Type="http://schemas.openxmlformats.org/officeDocument/2006/relationships/slide" Target="/ppt/slides/slide7.xml" Id="Ra09a4f15bf72411e" /><Relationship Type="http://schemas.openxmlformats.org/officeDocument/2006/relationships/slide" Target="/ppt/slides/slide8.xml" Id="Rf403f19c4c78421d" /><Relationship Type="http://schemas.openxmlformats.org/officeDocument/2006/relationships/slide" Target="/ppt/slides/slide9.xml" Id="R1b769b3039704f40" /><Relationship Type="http://schemas.openxmlformats.org/officeDocument/2006/relationships/slide" Target="/ppt/slides/slide10.xml" Id="R5068ece6568b4290" /><Relationship Type="http://schemas.openxmlformats.org/officeDocument/2006/relationships/slide" Target="/ppt/slides/slide11.xml" Id="R477e6c60eded4d19" /><Relationship Type="http://schemas.openxmlformats.org/officeDocument/2006/relationships/slide" Target="/ppt/slides/slide12.xml" Id="Reb55ffbb89274c03" /><Relationship Type="http://schemas.openxmlformats.org/officeDocument/2006/relationships/slide" Target="/ppt/slides/slide13.xml" Id="R7ea290ca240d4d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2e7a0921e0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afc435d1514abf" /><Relationship Type="http://schemas.openxmlformats.org/officeDocument/2006/relationships/notesMaster" Target="/ppt/notesMasters/notesMaster1.xml" Id="R2823e149551740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34212c83be4394" /><Relationship Type="http://schemas.openxmlformats.org/officeDocument/2006/relationships/notesMaster" Target="/ppt/notesMasters/notesMaster1.xml" Id="R65a2cce50f2f4c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a789c4475d4923" /><Relationship Type="http://schemas.openxmlformats.org/officeDocument/2006/relationships/notesMaster" Target="/ppt/notesMasters/notesMaster1.xml" Id="R17a8baa99ee447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ab3ab2f4334c65" /><Relationship Type="http://schemas.openxmlformats.org/officeDocument/2006/relationships/notesMaster" Target="/ppt/notesMasters/notesMaster1.xml" Id="Rbd240076294c4a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607d187cb84e25" /><Relationship Type="http://schemas.openxmlformats.org/officeDocument/2006/relationships/notesMaster" Target="/ppt/notesMasters/notesMaster1.xml" Id="R97c14e426e3c4b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55951581db43e7" /><Relationship Type="http://schemas.openxmlformats.org/officeDocument/2006/relationships/notesMaster" Target="/ppt/notesMasters/notesMaster1.xml" Id="R6fb11d52e7b24f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5f4130d1244c79" /><Relationship Type="http://schemas.openxmlformats.org/officeDocument/2006/relationships/notesMaster" Target="/ppt/notesMasters/notesMaster1.xml" Id="Rf7fba4cf9ad647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8ffb867fb64014" /><Relationship Type="http://schemas.openxmlformats.org/officeDocument/2006/relationships/notesMaster" Target="/ppt/notesMasters/notesMaster1.xml" Id="Rc4bb58ad38d64e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b206ada8bd434d" /><Relationship Type="http://schemas.openxmlformats.org/officeDocument/2006/relationships/notesMaster" Target="/ppt/notesMasters/notesMaster1.xml" Id="R0129e9574a0a4d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92579a69fa433d" /><Relationship Type="http://schemas.openxmlformats.org/officeDocument/2006/relationships/notesMaster" Target="/ppt/notesMasters/notesMaster1.xml" Id="R1052c4e6327747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6518f764bf4a4e" /><Relationship Type="http://schemas.openxmlformats.org/officeDocument/2006/relationships/notesMaster" Target="/ppt/notesMasters/notesMaster1.xml" Id="R77f21a35017147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2fa9526eec428a" /><Relationship Type="http://schemas.openxmlformats.org/officeDocument/2006/relationships/notesMaster" Target="/ppt/notesMasters/notesMaster1.xml" Id="R0f5cfca6d1664a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f4b8da747a43f6" /><Relationship Type="http://schemas.openxmlformats.org/officeDocument/2006/relationships/notesMaster" Target="/ppt/notesMasters/notesMaster1.xml" Id="Rb291aedbbff44e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(Cover and document control)</a:t>
            </a:r>
          </a:p>
          <a:p xmlns:a="http://schemas.openxmlformats.org/drawingml/2006/main">
            <a:r>
              <a:t>- /Users/jaden/PycharmProjects/Enact/README.md</a:t>
            </a:r>
          </a:p>
          <a:p xmlns:a="http://schemas.openxmlformats.org/drawingml/2006/main">
            <a:r>
              <a:t>- /Users/jaden/PycharmProjects/Enact/CLAUDE.md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(Executive summary; §2 Architecture overview)</a:t>
            </a:r>
          </a:p>
          <a:p xmlns:a="http://schemas.openxmlformats.org/drawingml/2006/main">
            <a:r>
              <a:t>- /Users/jaden/PycharmProjects/Enact/apps/docs/content/docs/how-enact-works.zh.mdx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(§3.2 Business capability map)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(§3.3 Core value stream)</a:t>
            </a:r>
          </a:p>
          <a:p xmlns:a="http://schemas.openxmlformats.org/drawingml/2006/main">
            <a:r>
              <a:t>- /Users/jaden/PycharmProjects/Enact/apps/docs/content/docs/tasks.zh.mdx</a:t>
            </a:r>
          </a:p>
          <a:p xmlns:a="http://schemas.openxmlformats.org/drawingml/2006/main">
            <a:r>
              <a:t>- /Users/jaden/PycharmProjects/Enact/apps/docs/content/docs/issues.zh.mdx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(§3.4–§3.5 Core business objects and rules)</a:t>
            </a:r>
          </a:p>
          <a:p xmlns:a="http://schemas.openxmlformats.org/drawingml/2006/main">
            <a:r>
              <a:t>- /Users/jaden/PycharmProjects/Enact/server/migrations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(§4.1–§4.2 System context and application containers)</a:t>
            </a:r>
          </a:p>
          <a:p xmlns:a="http://schemas.openxmlformats.org/drawingml/2006/main">
            <a:r>
              <a:t>- /Users/jaden/PycharmProjects/Enact/server/cmd/server/router.go</a:t>
            </a:r>
          </a:p>
          <a:p xmlns:a="http://schemas.openxmlformats.org/drawingml/2006/main">
            <a:r>
              <a:t>- /Users/jaden/PycharmProjects/Enact/apps/docs/content/docs/developers/architecture.zh.mdx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(§4.3 Application domains and component relationships)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(§4.5–§4.6 Front-end and back-end architecture)</a:t>
            </a:r>
          </a:p>
          <a:p xmlns:a="http://schemas.openxmlformats.org/drawingml/2006/main">
            <a:r>
              <a:t>- /Users/jaden/PycharmProjects/Enact/CLAUDE.md</a:t>
            </a:r>
          </a:p>
          <a:p xmlns:a="http://schemas.openxmlformats.org/drawingml/2006/main">
            <a:r>
              <a:t>- /Users/jaden/PycharmProjects/Enact/apps/mobile/CLAUDE.md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(§4.7 Key interaction sequence; §5.7 Execution reliability)</a:t>
            </a:r>
          </a:p>
          <a:p xmlns:a="http://schemas.openxmlformats.org/drawingml/2006/main">
            <a:r>
              <a:t>- /Users/jaden/PycharmProjects/Enact/server/internal/daemonws</a:t>
            </a:r>
          </a:p>
          <a:p xmlns:a="http://schemas.openxmlformats.org/drawingml/2006/main">
            <a:r>
              <a:t>- /Users/jaden/PycharmProjects/Enact/server/internal/realtime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(§3.6 Data and responsibility boundaries; §5.5–§5.6 Data, identity and isolation)</a:t>
            </a:r>
          </a:p>
          <a:p xmlns:a="http://schemas.openxmlformats.org/drawingml/2006/main">
            <a:r>
              <a:t>- /Users/jaden/PycharmProjects/Enact/apps/docs/content/docs/security-model.zh.mdx</a:t>
            </a:r>
          </a:p>
          <a:p xmlns:a="http://schemas.openxmlformats.org/drawingml/2006/main">
            <a:r>
              <a:t>- /Users/jaden/PycharmProjects/Enact/server/internal/util/secretbox/secretbox.go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(§5.2–§5.3 Deployment topology and modes)</a:t>
            </a:r>
          </a:p>
          <a:p xmlns:a="http://schemas.openxmlformats.org/drawingml/2006/main">
            <a:r>
              <a:t>- /Users/jaden/PycharmProjects/Enact/docker-compose.yml</a:t>
            </a:r>
          </a:p>
          <a:p xmlns:a="http://schemas.openxmlformats.org/drawingml/2006/main">
            <a:r>
              <a:t>- /Users/jaden/PycharmProjects/Enact/deploy/helm/enact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(§6 Cross-layer architecture mapping)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/Users/jaden/PycharmProjects/Enact/docs/architecture/enact-current-product-architecture.zh.md (§7 Current architecture constraints and operating assumptions)</a:t>
            </a:r>
          </a:p>
          <a:p xmlns:a="http://schemas.openxmlformats.org/drawingml/2006/main">
            <a:r>
              <a:t>- /Users/jaden/PycharmProjects/Enact/README.md</a:t>
            </a:r>
          </a:p>
          <a:p xmlns:a="http://schemas.openxmlformats.org/drawingml/2006/main">
            <a:r>
              <a:t>- /Users/jaden/PycharmProjects/Enact/CLAUDE.md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0b4e6938743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85730d4942456d" /><Relationship Type="http://schemas.openxmlformats.org/officeDocument/2006/relationships/slideLayout" Target="/ppt/slideLayouts/slideLayout1.xml" Id="R55d4e2afdbab4c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d4e2afdbab4c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9520f00a443b4" /><Relationship Type="http://schemas.openxmlformats.org/officeDocument/2006/relationships/notesSlide" Target="/ppt/notesSlides/notesSlide1.xml" Id="Re791add669c045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bad20371d4533" /><Relationship Type="http://schemas.openxmlformats.org/officeDocument/2006/relationships/notesSlide" Target="/ppt/notesSlides/notesSlide2.xml" Id="R43b3653c609840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1052aa4224da2" /><Relationship Type="http://schemas.openxmlformats.org/officeDocument/2006/relationships/notesSlide" Target="/ppt/notesSlides/notesSlide3.xml" Id="R94bf2b03b61149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11025e5be4a31" /><Relationship Type="http://schemas.openxmlformats.org/officeDocument/2006/relationships/notesSlide" Target="/ppt/notesSlides/notesSlide4.xml" Id="R48f56568f3c74d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85a1bffdb4c46" /><Relationship Type="http://schemas.openxmlformats.org/officeDocument/2006/relationships/notesSlide" Target="/ppt/notesSlides/notesSlide5.xml" Id="Rf03bd9895ecc42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53952402447c3" /><Relationship Type="http://schemas.openxmlformats.org/officeDocument/2006/relationships/notesSlide" Target="/ppt/notesSlides/notesSlide6.xml" Id="R0c9638eca50a4d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002310076433f" /><Relationship Type="http://schemas.openxmlformats.org/officeDocument/2006/relationships/notesSlide" Target="/ppt/notesSlides/notesSlide7.xml" Id="R100183705ccc4a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f9cea85444432" /><Relationship Type="http://schemas.openxmlformats.org/officeDocument/2006/relationships/notesSlide" Target="/ppt/notesSlides/notesSlide8.xml" Id="Ra35d1080075e48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f0043ee43444a" /><Relationship Type="http://schemas.openxmlformats.org/officeDocument/2006/relationships/notesSlide" Target="/ppt/notesSlides/notesSlide9.xml" Id="Rf9ba398bafac4d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c6e7c501f4d76" /><Relationship Type="http://schemas.openxmlformats.org/officeDocument/2006/relationships/notesSlide" Target="/ppt/notesSlides/notesSlide10.xml" Id="R27c759f0087648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e6b47058b46d2" /><Relationship Type="http://schemas.openxmlformats.org/officeDocument/2006/relationships/notesSlide" Target="/ppt/notesSlides/notesSlide11.xml" Id="R3a0f5a42d48544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7a878ec8940f9" /><Relationship Type="http://schemas.openxmlformats.org/officeDocument/2006/relationships/notesSlide" Target="/ppt/notesSlides/notesSlide12.xml" Id="R2b73d756d56445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6c984abbf4f7d" /><Relationship Type="http://schemas.openxmlformats.org/officeDocument/2006/relationships/notesSlide" Target="/ppt/notesSlides/notesSlide13.xml" Id="Ra015ae3910e340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DA5F50A4-C300-4449-AD67-4D9D4F1E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7200"/>
            <a:ext cx="0" cy="548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" name="cover-link-a">
            <a:extLst xmlns:a="http://schemas.openxmlformats.org/drawingml/2006/main">
              <a:ext uri="{FF2B5EF4-FFF2-40B4-BE49-F238E27FC236}">
                <a16:creationId xmlns:a16="http://schemas.microsoft.com/office/drawing/2014/main" id="{3591F61F-E17F-45A0-866D-64E6D78F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3" name="cover-link-b">
            <a:extLst xmlns:a="http://schemas.openxmlformats.org/drawingml/2006/main">
              <a:ext uri="{FF2B5EF4-FFF2-40B4-BE49-F238E27FC236}">
                <a16:creationId xmlns:a16="http://schemas.microsoft.com/office/drawing/2014/main" id="{D8004A89-DE14-4984-8E8A-A5BE0084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90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4" name="cover-link-c">
            <a:extLst xmlns:a="http://schemas.openxmlformats.org/drawingml/2006/main">
              <a:ext uri="{FF2B5EF4-FFF2-40B4-BE49-F238E27FC236}">
                <a16:creationId xmlns:a16="http://schemas.microsoft.com/office/drawing/2014/main" id="{4175E689-84A4-4FFA-B62A-FC57CCA0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720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A2E68D-8393-467C-8780-DC7BFA2D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DFFF727-F65A-4078-80C9-B59D052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5334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Enact</a:t>
            </a:r>
          </a:p>
          <a:p xmlns:a="http://schemas.openxmlformats.org/drawingml/2006/main">
            <a:pPr algn="l">
              <a:defRPr sz="4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  <a:p xmlns:a="http://schemas.openxmlformats.org/drawingml/2006/main">
            <a:pPr algn="l">
              <a:defRPr sz="4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301235A-04F1-4313-B795-9594EF3C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Business, application and technology architecture</a:t>
            </a:r>
          </a:p>
        </p:txBody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2644E493-D184-4EE1-9E45-75C7559D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Current state  |  2026-09-02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Baseline commit 6cefa6f5b486</a:t>
            </a:r>
          </a:p>
        </p:txBody>
      </p:sp>
      <p:sp>
        <p:nvSpPr>
          <p:cNvPr id="9" name="control-plane">
            <a:extLst xmlns:a="http://schemas.openxmlformats.org/drawingml/2006/main">
              <a:ext uri="{FF2B5EF4-FFF2-40B4-BE49-F238E27FC236}">
                <a16:creationId xmlns:a16="http://schemas.microsoft.com/office/drawing/2014/main" id="{58A51A05-F02F-4A87-A5C6-37BF1F85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811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control-plane-label">
            <a:extLst xmlns:a="http://schemas.openxmlformats.org/drawingml/2006/main">
              <a:ext uri="{FF2B5EF4-FFF2-40B4-BE49-F238E27FC236}">
                <a16:creationId xmlns:a16="http://schemas.microsoft.com/office/drawing/2014/main" id="{5EA6E008-AAA4-4B2B-B440-383F465E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CONTROL PLANE</a:t>
            </a:r>
          </a:p>
        </p:txBody>
      </p:sp>
      <p:sp>
        <p:nvSpPr>
          <p:cNvPr id="11" name="control-plane-detail">
            <a:extLst xmlns:a="http://schemas.openxmlformats.org/drawingml/2006/main">
              <a:ext uri="{FF2B5EF4-FFF2-40B4-BE49-F238E27FC236}">
                <a16:creationId xmlns:a16="http://schemas.microsoft.com/office/drawing/2014/main" id="{EC9469E2-F10C-49C2-8110-1DA422A7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Workspaces · issues · agents</a:t>
            </a:r>
          </a:p>
        </p:txBody>
      </p:sp>
      <p:sp>
        <p:nvSpPr>
          <p:cNvPr id="12" name="execution-plane">
            <a:extLst xmlns:a="http://schemas.openxmlformats.org/drawingml/2006/main">
              <a:ext uri="{FF2B5EF4-FFF2-40B4-BE49-F238E27FC236}">
                <a16:creationId xmlns:a16="http://schemas.microsoft.com/office/drawing/2014/main" id="{9E91B4CD-F129-4BAC-AC32-AC563732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execution-plane-label">
            <a:extLst xmlns:a="http://schemas.openxmlformats.org/drawingml/2006/main">
              <a:ext uri="{FF2B5EF4-FFF2-40B4-BE49-F238E27FC236}">
                <a16:creationId xmlns:a16="http://schemas.microsoft.com/office/drawing/2014/main" id="{37CAB937-3D71-45D5-826D-C83248DF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EXECUTION PLANE</a:t>
            </a:r>
          </a:p>
        </p:txBody>
      </p:sp>
      <p:sp>
        <p:nvSpPr>
          <p:cNvPr id="14" name="execution-plane-detail">
            <a:extLst xmlns:a="http://schemas.openxmlformats.org/drawingml/2006/main">
              <a:ext uri="{FF2B5EF4-FFF2-40B4-BE49-F238E27FC236}">
                <a16:creationId xmlns:a16="http://schemas.microsoft.com/office/drawing/2014/main" id="{DBBB243B-E177-40F8-8A6C-A7A8D94C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Daemon · Agent CLI · workdir</a:t>
            </a:r>
          </a:p>
        </p:txBody>
      </p:sp>
      <p:sp>
        <p:nvSpPr>
          <p:cNvPr id="1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DBD76B0D-38A5-4B4A-8DFB-7800D493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38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Make humans and AI agents work as one team.</a:t>
            </a:r>
          </a:p>
        </p:txBody>
      </p:sp>
    </p:spTree>
    <p:extLst>
      <p:ext uri="{BB962C8B-B14F-4D97-AF65-F5344CB8AC3E}">
        <p14:creationId xmlns:p14="http://schemas.microsoft.com/office/powerpoint/2010/main" val="1692746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2">
            <a:extLst xmlns:a="http://schemas.openxmlformats.org/drawingml/2006/main">
              <a:ext uri="{FF2B5EF4-FFF2-40B4-BE49-F238E27FC236}">
                <a16:creationId xmlns:a16="http://schemas.microsoft.com/office/drawing/2014/main" id="{C7279338-4761-4006-999E-ECBA786A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504C0AE-1BA0-4A01-9253-64AB27C1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Central coordination, local execution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B6005646-5FE7-4F90-B7CC-7B7651A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D2A4801F-A9E1-47EB-A35E-E016B6D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2FAC16DC-62C0-4470-A45E-70609E0E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collab-panel">
            <a:extLst xmlns:a="http://schemas.openxmlformats.org/drawingml/2006/main">
              <a:ext uri="{FF2B5EF4-FFF2-40B4-BE49-F238E27FC236}">
                <a16:creationId xmlns:a16="http://schemas.microsoft.com/office/drawing/2014/main" id="{E2052A07-D112-4224-B0DD-84741FE2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ollab-title">
            <a:extLst xmlns:a="http://schemas.openxmlformats.org/drawingml/2006/main">
              <a:ext uri="{FF2B5EF4-FFF2-40B4-BE49-F238E27FC236}">
                <a16:creationId xmlns:a16="http://schemas.microsoft.com/office/drawing/2014/main" id="{3005657A-9F1D-49C1-BBFA-E084A142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546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One collaborative record</a:t>
            </a:r>
          </a:p>
        </p:txBody>
      </p:sp>
      <p:sp>
        <p:nvSpPr>
          <p:cNvPr id="8" name="collab-body">
            <a:extLst xmlns:a="http://schemas.openxmlformats.org/drawingml/2006/main">
              <a:ext uri="{FF2B5EF4-FFF2-40B4-BE49-F238E27FC236}">
                <a16:creationId xmlns:a16="http://schemas.microsoft.com/office/drawing/2014/main" id="{972EA357-026C-4011-A664-19C26D4A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22288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Issues, comments, projects, chats, automation and review remain in a workspace-scoped system of record.</a:t>
            </a:r>
          </a:p>
        </p:txBody>
      </p:sp>
      <p:sp>
        <p:nvSpPr>
          <p:cNvPr id="9" name="triggers-panel">
            <a:extLst xmlns:a="http://schemas.openxmlformats.org/drawingml/2006/main">
              <a:ext uri="{FF2B5EF4-FFF2-40B4-BE49-F238E27FC236}">
                <a16:creationId xmlns:a16="http://schemas.microsoft.com/office/drawing/2014/main" id="{B306F470-A5D3-4C9E-9090-4071BFF8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2571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riggers-title">
            <a:extLst xmlns:a="http://schemas.openxmlformats.org/drawingml/2006/main">
              <a:ext uri="{FF2B5EF4-FFF2-40B4-BE49-F238E27FC236}">
                <a16:creationId xmlns:a16="http://schemas.microsoft.com/office/drawing/2014/main" id="{3CD08BE3-667E-44F9-A8E5-3150E379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Many entry points</a:t>
            </a:r>
          </a:p>
        </p:txBody>
      </p:sp>
      <p:sp>
        <p:nvSpPr>
          <p:cNvPr id="11" name="triggers-body">
            <a:extLst xmlns:a="http://schemas.openxmlformats.org/drawingml/2006/main">
              <a:ext uri="{FF2B5EF4-FFF2-40B4-BE49-F238E27FC236}">
                <a16:creationId xmlns:a16="http://schemas.microsoft.com/office/drawing/2014/main" id="{CC400264-B382-4C24-90A5-0ADFDD93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22288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People, agents, channels, VCS events and automations all converge on the same execution orchestration.</a:t>
            </a:r>
          </a:p>
        </p:txBody>
      </p:sp>
      <p:sp>
        <p:nvSpPr>
          <p:cNvPr id="12" name="control-panel">
            <a:extLst xmlns:a="http://schemas.openxmlformats.org/drawingml/2006/main">
              <a:ext uri="{FF2B5EF4-FFF2-40B4-BE49-F238E27FC236}">
                <a16:creationId xmlns:a16="http://schemas.microsoft.com/office/drawing/2014/main" id="{F7D9C468-D557-4A1A-97C0-B686CBF1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2571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control-title">
            <a:extLst xmlns:a="http://schemas.openxmlformats.org/drawingml/2006/main">
              <a:ext uri="{FF2B5EF4-FFF2-40B4-BE49-F238E27FC236}">
                <a16:creationId xmlns:a16="http://schemas.microsoft.com/office/drawing/2014/main" id="{CF5DAC56-86E6-4D70-84C7-58C5F580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One control plane</a:t>
            </a:r>
          </a:p>
        </p:txBody>
      </p:sp>
      <p:sp>
        <p:nvSpPr>
          <p:cNvPr id="14" name="control-body">
            <a:extLst xmlns:a="http://schemas.openxmlformats.org/drawingml/2006/main">
              <a:ext uri="{FF2B5EF4-FFF2-40B4-BE49-F238E27FC236}">
                <a16:creationId xmlns:a16="http://schemas.microsoft.com/office/drawing/2014/main" id="{2DB8C0C9-986E-4F28-9BBB-68D3AEA0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22288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Go modular monolith owns identity, permissions, business rules, scheduling, realtime updates and audit records.</a:t>
            </a:r>
          </a:p>
        </p:txBody>
      </p:sp>
      <p:sp>
        <p:nvSpPr>
          <p:cNvPr id="15" name="local-panel">
            <a:extLst xmlns:a="http://schemas.openxmlformats.org/drawingml/2006/main">
              <a:ext uri="{FF2B5EF4-FFF2-40B4-BE49-F238E27FC236}">
                <a16:creationId xmlns:a16="http://schemas.microsoft.com/office/drawing/2014/main" id="{C59FDB60-0FD2-4191-89EB-2A58888F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571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local-title">
            <a:extLst xmlns:a="http://schemas.openxmlformats.org/drawingml/2006/main">
              <a:ext uri="{FF2B5EF4-FFF2-40B4-BE49-F238E27FC236}">
                <a16:creationId xmlns:a16="http://schemas.microsoft.com/office/drawing/2014/main" id="{D5B72AE2-3F18-462B-AABB-0DFC810C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866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User-controlled execution</a:t>
            </a:r>
          </a:p>
        </p:txBody>
      </p:sp>
      <p:sp>
        <p:nvSpPr>
          <p:cNvPr id="17" name="local-body">
            <a:extLst xmlns:a="http://schemas.openxmlformats.org/drawingml/2006/main">
              <a:ext uri="{FF2B5EF4-FFF2-40B4-BE49-F238E27FC236}">
                <a16:creationId xmlns:a16="http://schemas.microsoft.com/office/drawing/2014/main" id="{4FC7F69B-0B52-40C3-858F-D4AB349D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2288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daemon claims each task, prepares a workdir and launches an external Agent CLI on the selected machine.</a:t>
            </a:r>
          </a:p>
        </p:txBody>
      </p:sp>
      <p:sp>
        <p:nvSpPr>
          <p:cNvPr id="18" name="thesis">
            <a:extLst xmlns:a="http://schemas.openxmlformats.org/drawingml/2006/main">
              <a:ext uri="{FF2B5EF4-FFF2-40B4-BE49-F238E27FC236}">
                <a16:creationId xmlns:a16="http://schemas.microsoft.com/office/drawing/2014/main" id="{BB4CEB13-17D5-45A2-B7B8-8DA7923B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00700"/>
            <a:ext cx="872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7857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PostgreSQL is authoritative; WebSocket lowers latency; polling and claim paths restore convergence.</a:t>
            </a:r>
          </a:p>
        </p:txBody>
      </p:sp>
    </p:spTree>
    <p:extLst>
      <p:ext uri="{BB962C8B-B14F-4D97-AF65-F5344CB8AC3E}">
        <p14:creationId xmlns:p14="http://schemas.microsoft.com/office/powerpoint/2010/main" val="2048384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-3">
            <a:extLst xmlns:a="http://schemas.openxmlformats.org/drawingml/2006/main">
              <a:ext uri="{FF2B5EF4-FFF2-40B4-BE49-F238E27FC236}">
                <a16:creationId xmlns:a16="http://schemas.microsoft.com/office/drawing/2014/main" id="{361F0B08-AE00-40EA-8497-59AFFAC4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3E82878-F2E0-4DB5-9E23-93345F50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Eight capability domains, one operating model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D62B2C90-9BD8-4706-88CA-0572FD41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35DCF6D4-0B56-4390-9132-B0EE7FC7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08E6984F-5F4E-4E21-8FDD-6BB52D49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cap-rule-0">
            <a:extLst xmlns:a="http://schemas.openxmlformats.org/drawingml/2006/main">
              <a:ext uri="{FF2B5EF4-FFF2-40B4-BE49-F238E27FC236}">
                <a16:creationId xmlns:a16="http://schemas.microsoft.com/office/drawing/2014/main" id="{E887865F-7A83-4D3A-BEE5-B51EE56A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cap-num-0">
            <a:extLst xmlns:a="http://schemas.openxmlformats.org/drawingml/2006/main">
              <a:ext uri="{FF2B5EF4-FFF2-40B4-BE49-F238E27FC236}">
                <a16:creationId xmlns:a16="http://schemas.microsoft.com/office/drawing/2014/main" id="{65757EDE-9939-4E56-B89D-D36B683F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ap-title-0">
            <a:extLst xmlns:a="http://schemas.openxmlformats.org/drawingml/2006/main">
              <a:ext uri="{FF2B5EF4-FFF2-40B4-BE49-F238E27FC236}">
                <a16:creationId xmlns:a16="http://schemas.microsoft.com/office/drawing/2014/main" id="{AE2D91FF-8A87-4B97-9CFD-B35692C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75585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Workspace governance</a:t>
            </a:r>
          </a:p>
        </p:txBody>
      </p:sp>
      <p:sp>
        <p:nvSpPr>
          <p:cNvPr id="9" name="cap-body-0">
            <a:extLst xmlns:a="http://schemas.openxmlformats.org/drawingml/2006/main">
              <a:ext uri="{FF2B5EF4-FFF2-40B4-BE49-F238E27FC236}">
                <a16:creationId xmlns:a16="http://schemas.microsoft.com/office/drawing/2014/main" id="{7A0D192A-0E49-46B5-805F-CCBC0C2C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Members · roles · invitations · access</a:t>
            </a:r>
          </a:p>
        </p:txBody>
      </p:sp>
      <p:sp>
        <p:nvSpPr>
          <p:cNvPr id="10" name="cap-rule-1">
            <a:extLst xmlns:a="http://schemas.openxmlformats.org/drawingml/2006/main">
              <a:ext uri="{FF2B5EF4-FFF2-40B4-BE49-F238E27FC236}">
                <a16:creationId xmlns:a16="http://schemas.microsoft.com/office/drawing/2014/main" id="{5F480AE8-30B0-4C76-B01D-5DD02E80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cap-num-1">
            <a:extLst xmlns:a="http://schemas.openxmlformats.org/drawingml/2006/main">
              <a:ext uri="{FF2B5EF4-FFF2-40B4-BE49-F238E27FC236}">
                <a16:creationId xmlns:a16="http://schemas.microsoft.com/office/drawing/2014/main" id="{F3817C36-C2C5-4BBB-A73C-A0AB0C10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cap-title-1">
            <a:extLst xmlns:a="http://schemas.openxmlformats.org/drawingml/2006/main">
              <a:ext uri="{FF2B5EF4-FFF2-40B4-BE49-F238E27FC236}">
                <a16:creationId xmlns:a16="http://schemas.microsoft.com/office/drawing/2014/main" id="{4BD5447B-896A-48F5-B3F8-246C1229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431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Work planning</a:t>
            </a:r>
          </a:p>
        </p:txBody>
      </p:sp>
      <p:sp>
        <p:nvSpPr>
          <p:cNvPr id="13" name="cap-body-1">
            <a:extLst xmlns:a="http://schemas.openxmlformats.org/drawingml/2006/main">
              <a:ext uri="{FF2B5EF4-FFF2-40B4-BE49-F238E27FC236}">
                <a16:creationId xmlns:a16="http://schemas.microsoft.com/office/drawing/2014/main" id="{C360AB79-D5E2-455C-B1C9-98B7D71F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Issues · projects · states · views</a:t>
            </a:r>
          </a:p>
        </p:txBody>
      </p:sp>
      <p:sp>
        <p:nvSpPr>
          <p:cNvPr id="14" name="cap-rule-2">
            <a:extLst xmlns:a="http://schemas.openxmlformats.org/drawingml/2006/main">
              <a:ext uri="{FF2B5EF4-FFF2-40B4-BE49-F238E27FC236}">
                <a16:creationId xmlns:a16="http://schemas.microsoft.com/office/drawing/2014/main" id="{E3478910-301C-4000-B2DD-6283633A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5" name="cap-num-2">
            <a:extLst xmlns:a="http://schemas.openxmlformats.org/drawingml/2006/main">
              <a:ext uri="{FF2B5EF4-FFF2-40B4-BE49-F238E27FC236}">
                <a16:creationId xmlns:a16="http://schemas.microsoft.com/office/drawing/2014/main" id="{E49EEA24-6D75-4FCA-AEC0-DF6FCA53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cap-title-2">
            <a:extLst xmlns:a="http://schemas.openxmlformats.org/drawingml/2006/main">
              <a:ext uri="{FF2B5EF4-FFF2-40B4-BE49-F238E27FC236}">
                <a16:creationId xmlns:a16="http://schemas.microsoft.com/office/drawing/2014/main" id="{FCA6767E-4254-4634-9773-270C6EB9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Agent capabilities</a:t>
            </a:r>
          </a:p>
        </p:txBody>
      </p:sp>
      <p:sp>
        <p:nvSpPr>
          <p:cNvPr id="17" name="cap-body-2">
            <a:extLst xmlns:a="http://schemas.openxmlformats.org/drawingml/2006/main">
              <a:ext uri="{FF2B5EF4-FFF2-40B4-BE49-F238E27FC236}">
                <a16:creationId xmlns:a16="http://schemas.microsoft.com/office/drawing/2014/main" id="{7FF4F16A-C01C-4DE9-A92C-635D7005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Agents · skills · ontology · MCP · squads</a:t>
            </a:r>
          </a:p>
        </p:txBody>
      </p:sp>
      <p:sp>
        <p:nvSpPr>
          <p:cNvPr id="18" name="cap-rule-3">
            <a:extLst xmlns:a="http://schemas.openxmlformats.org/drawingml/2006/main">
              <a:ext uri="{FF2B5EF4-FFF2-40B4-BE49-F238E27FC236}">
                <a16:creationId xmlns:a16="http://schemas.microsoft.com/office/drawing/2014/main" id="{7C7F9141-2E16-4441-B5E9-5CE96E41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9" name="cap-num-3">
            <a:extLst xmlns:a="http://schemas.openxmlformats.org/drawingml/2006/main">
              <a:ext uri="{FF2B5EF4-FFF2-40B4-BE49-F238E27FC236}">
                <a16:creationId xmlns:a16="http://schemas.microsoft.com/office/drawing/2014/main" id="{4A2A34E1-96CC-48CD-A022-03BF1759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81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cap-title-3">
            <a:extLst xmlns:a="http://schemas.openxmlformats.org/drawingml/2006/main">
              <a:ext uri="{FF2B5EF4-FFF2-40B4-BE49-F238E27FC236}">
                <a16:creationId xmlns:a16="http://schemas.microsoft.com/office/drawing/2014/main" id="{0C0BFB6B-1A88-4FD1-A4BC-6AB8BDB0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431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Execution &amp; audit</a:t>
            </a:r>
          </a:p>
        </p:txBody>
      </p:sp>
      <p:sp>
        <p:nvSpPr>
          <p:cNvPr id="21" name="cap-body-3">
            <a:extLst xmlns:a="http://schemas.openxmlformats.org/drawingml/2006/main">
              <a:ext uri="{FF2B5EF4-FFF2-40B4-BE49-F238E27FC236}">
                <a16:creationId xmlns:a16="http://schemas.microsoft.com/office/drawing/2014/main" id="{56C977D6-0F13-4F9C-8D84-D0215A8B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62200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Trigger · queue · claim · usage · review</a:t>
            </a:r>
          </a:p>
        </p:txBody>
      </p:sp>
      <p:sp>
        <p:nvSpPr>
          <p:cNvPr id="22" name="cap-rule-4">
            <a:extLst xmlns:a="http://schemas.openxmlformats.org/drawingml/2006/main">
              <a:ext uri="{FF2B5EF4-FFF2-40B4-BE49-F238E27FC236}">
                <a16:creationId xmlns:a16="http://schemas.microsoft.com/office/drawing/2014/main" id="{19B15EE6-5DEB-4DE9-9DC6-AB1DF590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23" name="cap-num-4">
            <a:extLst xmlns:a="http://schemas.openxmlformats.org/drawingml/2006/main">
              <a:ext uri="{FF2B5EF4-FFF2-40B4-BE49-F238E27FC236}">
                <a16:creationId xmlns:a16="http://schemas.microsoft.com/office/drawing/2014/main" id="{D9D9FEDA-802C-4A26-A9F3-5F01C32F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cap-title-4">
            <a:extLst xmlns:a="http://schemas.openxmlformats.org/drawingml/2006/main">
              <a:ext uri="{FF2B5EF4-FFF2-40B4-BE49-F238E27FC236}">
                <a16:creationId xmlns:a16="http://schemas.microsoft.com/office/drawing/2014/main" id="{34D11876-3D08-4B4F-B678-B3DFDEA6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Collaboration</a:t>
            </a:r>
          </a:p>
        </p:txBody>
      </p:sp>
      <p:sp>
        <p:nvSpPr>
          <p:cNvPr id="25" name="cap-body-4">
            <a:extLst xmlns:a="http://schemas.openxmlformats.org/drawingml/2006/main">
              <a:ext uri="{FF2B5EF4-FFF2-40B4-BE49-F238E27FC236}">
                <a16:creationId xmlns:a16="http://schemas.microsoft.com/office/drawing/2014/main" id="{BAB719DF-7540-4AEB-8355-15288974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Comments · chat · subscriptions · inbox</a:t>
            </a:r>
          </a:p>
        </p:txBody>
      </p:sp>
      <p:sp>
        <p:nvSpPr>
          <p:cNvPr id="26" name="cap-rule-5">
            <a:extLst xmlns:a="http://schemas.openxmlformats.org/drawingml/2006/main">
              <a:ext uri="{FF2B5EF4-FFF2-40B4-BE49-F238E27FC236}">
                <a16:creationId xmlns:a16="http://schemas.microsoft.com/office/drawing/2014/main" id="{6D480E3F-940B-4AC4-9F4B-3E2F620C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6237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27" name="cap-num-5">
            <a:extLst xmlns:a="http://schemas.openxmlformats.org/drawingml/2006/main">
              <a:ext uri="{FF2B5EF4-FFF2-40B4-BE49-F238E27FC236}">
                <a16:creationId xmlns:a16="http://schemas.microsoft.com/office/drawing/2014/main" id="{D3EC1C37-0079-43A8-95A3-0FDB130E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338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cap-title-5">
            <a:extLst xmlns:a="http://schemas.openxmlformats.org/drawingml/2006/main">
              <a:ext uri="{FF2B5EF4-FFF2-40B4-BE49-F238E27FC236}">
                <a16:creationId xmlns:a16="http://schemas.microsoft.com/office/drawing/2014/main" id="{BB920598-CB59-4C02-A2E7-484DA962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Automation</a:t>
            </a:r>
          </a:p>
        </p:txBody>
      </p:sp>
      <p:sp>
        <p:nvSpPr>
          <p:cNvPr id="29" name="cap-body-5">
            <a:extLst xmlns:a="http://schemas.openxmlformats.org/drawingml/2006/main">
              <a:ext uri="{FF2B5EF4-FFF2-40B4-BE49-F238E27FC236}">
                <a16:creationId xmlns:a16="http://schemas.microsoft.com/office/drawing/2014/main" id="{499D0CC4-E95B-4570-AE7F-26A86C12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14825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Runbooks · cron · webhook · delivery</a:t>
            </a:r>
          </a:p>
        </p:txBody>
      </p:sp>
      <p:sp>
        <p:nvSpPr>
          <p:cNvPr id="30" name="cap-rule-6">
            <a:extLst xmlns:a="http://schemas.openxmlformats.org/drawingml/2006/main">
              <a:ext uri="{FF2B5EF4-FFF2-40B4-BE49-F238E27FC236}">
                <a16:creationId xmlns:a16="http://schemas.microsoft.com/office/drawing/2014/main" id="{D725AE59-09D0-41C6-BE47-04EC7D39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6237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31" name="cap-num-6">
            <a:extLst xmlns:a="http://schemas.openxmlformats.org/drawingml/2006/main">
              <a:ext uri="{FF2B5EF4-FFF2-40B4-BE49-F238E27FC236}">
                <a16:creationId xmlns:a16="http://schemas.microsoft.com/office/drawing/2014/main" id="{3D5BD15B-F2E6-444C-9D3B-8D55EC9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338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2" name="cap-title-6">
            <a:extLst xmlns:a="http://schemas.openxmlformats.org/drawingml/2006/main">
              <a:ext uri="{FF2B5EF4-FFF2-40B4-BE49-F238E27FC236}">
                <a16:creationId xmlns:a16="http://schemas.microsoft.com/office/drawing/2014/main" id="{81C85B12-3012-4BE2-B91E-62F36CC2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957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Integrations</a:t>
            </a:r>
          </a:p>
        </p:txBody>
      </p:sp>
      <p:sp>
        <p:nvSpPr>
          <p:cNvPr id="33" name="cap-body-6">
            <a:extLst xmlns:a="http://schemas.openxmlformats.org/drawingml/2006/main">
              <a:ext uri="{FF2B5EF4-FFF2-40B4-BE49-F238E27FC236}">
                <a16:creationId xmlns:a16="http://schemas.microsoft.com/office/drawing/2014/main" id="{A9BF1808-4904-4636-B20D-8FB58DC6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14825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VCS · channels · Composio · plugins</a:t>
            </a:r>
          </a:p>
        </p:txBody>
      </p:sp>
      <p:sp>
        <p:nvSpPr>
          <p:cNvPr id="34" name="cap-rule-7">
            <a:extLst xmlns:a="http://schemas.openxmlformats.org/drawingml/2006/main">
              <a:ext uri="{FF2B5EF4-FFF2-40B4-BE49-F238E27FC236}">
                <a16:creationId xmlns:a16="http://schemas.microsoft.com/office/drawing/2014/main" id="{512A122C-148C-45C5-B8F7-589553CC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6237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35" name="cap-num-7">
            <a:extLst xmlns:a="http://schemas.openxmlformats.org/drawingml/2006/main">
              <a:ext uri="{FF2B5EF4-FFF2-40B4-BE49-F238E27FC236}">
                <a16:creationId xmlns:a16="http://schemas.microsoft.com/office/drawing/2014/main" id="{4791BCA5-CEF7-4485-BBBC-5746D505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338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6" name="cap-title-7">
            <a:extLst xmlns:a="http://schemas.openxmlformats.org/drawingml/2006/main">
              <a:ext uri="{FF2B5EF4-FFF2-40B4-BE49-F238E27FC236}">
                <a16:creationId xmlns:a16="http://schemas.microsoft.com/office/drawing/2014/main" id="{A5B2010B-9C53-4FE1-931E-7F084FED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957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73935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Platform &amp; monetization</a:t>
            </a:r>
          </a:p>
        </p:txBody>
      </p:sp>
      <p:sp>
        <p:nvSpPr>
          <p:cNvPr id="37" name="cap-body-7">
            <a:extLst xmlns:a="http://schemas.openxmlformats.org/drawingml/2006/main">
              <a:ext uri="{FF2B5EF4-FFF2-40B4-BE49-F238E27FC236}">
                <a16:creationId xmlns:a16="http://schemas.microsoft.com/office/drawing/2014/main" id="{48FEF7DB-28F5-49B7-A1DB-8855E309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14825"/>
            <a:ext cx="201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Health · usage · Cloud billing (conditional)</a:t>
            </a:r>
          </a:p>
        </p:txBody>
      </p:sp>
    </p:spTree>
    <p:extLst>
      <p:ext uri="{BB962C8B-B14F-4D97-AF65-F5344CB8AC3E}">
        <p14:creationId xmlns:p14="http://schemas.microsoft.com/office/powerpoint/2010/main" val="247769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4">
            <a:extLst xmlns:a="http://schemas.openxmlformats.org/drawingml/2006/main">
              <a:ext uri="{FF2B5EF4-FFF2-40B4-BE49-F238E27FC236}">
                <a16:creationId xmlns:a16="http://schemas.microsoft.com/office/drawing/2014/main" id="{DC59E2FF-2660-49D5-A9D6-FA44B527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876243D-0C3C-403E-BA4A-CFD6C39C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Work moves through one controlled loop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381DD763-6E04-4D04-B1C6-EEEC8994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3A6BFE9E-A917-4493-B1C0-2509060E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7941B651-3ED0-4F41-8404-CD11F035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6" name="value-timeline">
            <a:extLst xmlns:a="http://schemas.openxmlformats.org/drawingml/2006/main">
              <a:ext uri="{FF2B5EF4-FFF2-40B4-BE49-F238E27FC236}">
                <a16:creationId xmlns:a16="http://schemas.microsoft.com/office/drawing/2014/main" id="{BE11D248-3015-4075-A6D1-974327D8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stage-dot-0">
            <a:extLst xmlns:a="http://schemas.openxmlformats.org/drawingml/2006/main">
              <a:ext uri="{FF2B5EF4-FFF2-40B4-BE49-F238E27FC236}">
                <a16:creationId xmlns:a16="http://schemas.microsoft.com/office/drawing/2014/main" id="{5364D871-27CB-49F1-B295-F8141D80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8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A6054530-6877-4B85-A8C3-3B8D328B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INTENT</a:t>
            </a:r>
          </a:p>
        </p:txBody>
      </p:sp>
      <p:sp>
        <p:nvSpPr>
          <p:cNvPr id="9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745F240E-3EB3-4D07-BBB4-9E274874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Create or receive work</a:t>
            </a:r>
          </a:p>
        </p:txBody>
      </p:sp>
      <p:sp>
        <p:nvSpPr>
          <p:cNvPr id="10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3B706D16-B865-48E6-B8AB-29BFFC2F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Issue · mention · chat · automation · channel</a:t>
            </a:r>
          </a:p>
        </p:txBody>
      </p:sp>
      <p:sp>
        <p:nvSpPr>
          <p:cNvPr id="11" name="stage-dot-1">
            <a:extLst xmlns:a="http://schemas.openxmlformats.org/drawingml/2006/main">
              <a:ext uri="{FF2B5EF4-FFF2-40B4-BE49-F238E27FC236}">
                <a16:creationId xmlns:a16="http://schemas.microsoft.com/office/drawing/2014/main" id="{75C8FEC4-B44A-4D49-8891-76D71430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623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12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DB1B99AB-DCD4-4F44-857C-AC24E706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13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DE89310F-6C40-498B-8713-FD5EB70B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Validate and dispatch</a:t>
            </a:r>
          </a:p>
        </p:txBody>
      </p:sp>
      <p:sp>
        <p:nvSpPr>
          <p:cNvPr id="14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E12731C8-C758-4844-BA73-49AA9E4F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053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Owner type · access · runtime · queue · claim</a:t>
            </a:r>
          </a:p>
        </p:txBody>
      </p:sp>
      <p:sp>
        <p:nvSpPr>
          <p:cNvPr id="15" name="stage-dot-2">
            <a:extLst xmlns:a="http://schemas.openxmlformats.org/drawingml/2006/main">
              <a:ext uri="{FF2B5EF4-FFF2-40B4-BE49-F238E27FC236}">
                <a16:creationId xmlns:a16="http://schemas.microsoft.com/office/drawing/2014/main" id="{96461F20-2EEF-42BE-A864-941D9F77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623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CBFE556D-A078-4FBB-BB57-5A0E40CE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17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333F47ED-CE7A-45F7-A4C4-604C89E1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Work locally</a:t>
            </a:r>
          </a:p>
        </p:txBody>
      </p:sp>
      <p:sp>
        <p:nvSpPr>
          <p:cNvPr id="18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1208B281-AC63-43D3-BCCA-AA888968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Workdir · Agent CLI · stream · cancel · usage</a:t>
            </a:r>
          </a:p>
        </p:txBody>
      </p:sp>
      <p:sp>
        <p:nvSpPr>
          <p:cNvPr id="19" name="stage-dot-3">
            <a:extLst xmlns:a="http://schemas.openxmlformats.org/drawingml/2006/main">
              <a:ext uri="{FF2B5EF4-FFF2-40B4-BE49-F238E27FC236}">
                <a16:creationId xmlns:a16="http://schemas.microsoft.com/office/drawing/2014/main" id="{3B2060A7-B682-4B4B-9370-13DFA7CF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0B2545"/>
            </a:solidFill>
            <a:prstDash val="solid"/>
          </a:ln>
        </p:spPr>
      </p:sp>
      <p:sp>
        <p:nvSpPr>
          <p:cNvPr id="20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2F540EDD-6D9E-4539-BEAD-AA703D9E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21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4591D604-7938-45A7-AEE0-B0D2DE7A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38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9446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Review and retain</a:t>
            </a:r>
          </a:p>
        </p:txBody>
      </p:sp>
      <p:sp>
        <p:nvSpPr>
          <p:cNvPr id="22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B51A96F2-6207-4857-95C9-78B2A0D1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053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Messages · result · PR · status · audit trail</a:t>
            </a:r>
          </a:p>
        </p:txBody>
      </p:sp>
      <p:sp>
        <p:nvSpPr>
          <p:cNvPr id="23" name="value-guardrail">
            <a:extLst xmlns:a="http://schemas.openxmlformats.org/drawingml/2006/main">
              <a:ext uri="{FF2B5EF4-FFF2-40B4-BE49-F238E27FC236}">
                <a16:creationId xmlns:a16="http://schemas.microsoft.com/office/drawing/2014/main" id="{E089E2AA-0E09-4546-A6AB-39641771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4807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Execution completed ≠ issue done. Human review or explicit integration rules close the work record.</a:t>
            </a:r>
          </a:p>
        </p:txBody>
      </p:sp>
    </p:spTree>
    <p:extLst>
      <p:ext uri="{BB962C8B-B14F-4D97-AF65-F5344CB8AC3E}">
        <p14:creationId xmlns:p14="http://schemas.microsoft.com/office/powerpoint/2010/main" val="329779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5">
            <a:extLst xmlns:a="http://schemas.openxmlformats.org/drawingml/2006/main">
              <a:ext uri="{FF2B5EF4-FFF2-40B4-BE49-F238E27FC236}">
                <a16:creationId xmlns:a16="http://schemas.microsoft.com/office/drawing/2014/main" id="{D9D3D226-1E62-49DD-A761-6EBECEDA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93C4C40-2E1C-43A9-8278-B3D847BE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Workspace is the business and authorization boundary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EE922DD3-8C5B-48EA-A6B4-124BF681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559F7CD4-5EE2-4A7B-8F5E-91A5A831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A7EDFE69-D9F0-49D8-B449-C210C8AE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obj-line-left">
            <a:extLst xmlns:a="http://schemas.openxmlformats.org/drawingml/2006/main">
              <a:ext uri="{FF2B5EF4-FFF2-40B4-BE49-F238E27FC236}">
                <a16:creationId xmlns:a16="http://schemas.microsoft.com/office/drawing/2014/main" id="{3A8D7007-DBF2-4873-BB7A-99E22869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337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obj-line-right">
            <a:extLst xmlns:a="http://schemas.openxmlformats.org/drawingml/2006/main">
              <a:ext uri="{FF2B5EF4-FFF2-40B4-BE49-F238E27FC236}">
                <a16:creationId xmlns:a16="http://schemas.microsoft.com/office/drawing/2014/main" id="{33F9C9C0-62C6-4BA9-A53B-58BE0C70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337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obj-line-up">
            <a:extLst xmlns:a="http://schemas.openxmlformats.org/drawingml/2006/main">
              <a:ext uri="{FF2B5EF4-FFF2-40B4-BE49-F238E27FC236}">
                <a16:creationId xmlns:a16="http://schemas.microsoft.com/office/drawing/2014/main" id="{8E68C0D5-EFC4-41AF-A4D7-45580EF4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obj-line-down">
            <a:extLst xmlns:a="http://schemas.openxmlformats.org/drawingml/2006/main">
              <a:ext uri="{FF2B5EF4-FFF2-40B4-BE49-F238E27FC236}">
                <a16:creationId xmlns:a16="http://schemas.microsoft.com/office/drawing/2014/main" id="{0BC682A1-1A88-45A1-BE7C-C431A2E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workspace-object">
            <a:extLst xmlns:a="http://schemas.openxmlformats.org/drawingml/2006/main">
              <a:ext uri="{FF2B5EF4-FFF2-40B4-BE49-F238E27FC236}">
                <a16:creationId xmlns:a16="http://schemas.microsoft.com/office/drawing/2014/main" id="{C47E620A-4D49-4185-BB2F-55FA5390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05100"/>
            <a:ext cx="2781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workspace-object-title">
            <a:extLst xmlns:a="http://schemas.openxmlformats.org/drawingml/2006/main">
              <a:ext uri="{FF2B5EF4-FFF2-40B4-BE49-F238E27FC236}">
                <a16:creationId xmlns:a16="http://schemas.microsoft.com/office/drawing/2014/main" id="{B3B5113B-31CE-4B96-8233-A65CE32B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908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WORKSPACE</a:t>
            </a:r>
          </a:p>
        </p:txBody>
      </p:sp>
      <p:sp>
        <p:nvSpPr>
          <p:cNvPr id="12" name="workspace-object-body">
            <a:extLst xmlns:a="http://schemas.openxmlformats.org/drawingml/2006/main">
              <a:ext uri="{FF2B5EF4-FFF2-40B4-BE49-F238E27FC236}">
                <a16:creationId xmlns:a16="http://schemas.microsoft.com/office/drawing/2014/main" id="{1E12B015-A0F2-43A8-9EE7-E675EB60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290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Members · roles · isolation</a:t>
            </a:r>
          </a:p>
        </p:txBody>
      </p:sp>
      <p:sp>
        <p:nvSpPr>
          <p:cNvPr id="13" name="work-objects-panel">
            <a:extLst xmlns:a="http://schemas.openxmlformats.org/drawingml/2006/main">
              <a:ext uri="{FF2B5EF4-FFF2-40B4-BE49-F238E27FC236}">
                <a16:creationId xmlns:a16="http://schemas.microsoft.com/office/drawing/2014/main" id="{AD99EC2A-AD7C-46C6-8580-44253157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1145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work-objects-title">
            <a:extLst xmlns:a="http://schemas.openxmlformats.org/drawingml/2006/main">
              <a:ext uri="{FF2B5EF4-FFF2-40B4-BE49-F238E27FC236}">
                <a16:creationId xmlns:a16="http://schemas.microsoft.com/office/drawing/2014/main" id="{A118FAAF-ECAF-4976-A0E6-992F1864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Work records</a:t>
            </a:r>
          </a:p>
        </p:txBody>
      </p:sp>
      <p:sp>
        <p:nvSpPr>
          <p:cNvPr id="15" name="work-objects-body">
            <a:extLst xmlns:a="http://schemas.openxmlformats.org/drawingml/2006/main">
              <a:ext uri="{FF2B5EF4-FFF2-40B4-BE49-F238E27FC236}">
                <a16:creationId xmlns:a16="http://schemas.microsoft.com/office/drawing/2014/main" id="{5F25A733-761D-4F7C-A113-6499E3A9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771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Issue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Project &amp; resource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· label · property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Comment</a:t>
            </a:r>
          </a:p>
        </p:txBody>
      </p:sp>
      <p:sp>
        <p:nvSpPr>
          <p:cNvPr id="16" name="people-objects-panel">
            <a:extLst xmlns:a="http://schemas.openxmlformats.org/drawingml/2006/main">
              <a:ext uri="{FF2B5EF4-FFF2-40B4-BE49-F238E27FC236}">
                <a16:creationId xmlns:a16="http://schemas.microsoft.com/office/drawing/2014/main" id="{A764D013-DB79-4C5B-B979-437ADA2D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05000"/>
            <a:ext cx="21145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people-objects-title">
            <a:extLst xmlns:a="http://schemas.openxmlformats.org/drawingml/2006/main">
              <a:ext uri="{FF2B5EF4-FFF2-40B4-BE49-F238E27FC236}">
                <a16:creationId xmlns:a16="http://schemas.microsoft.com/office/drawing/2014/main" id="{E552E894-9226-414F-BC12-FD890B11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574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3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People &amp; capabilities</a:t>
            </a:r>
          </a:p>
        </p:txBody>
      </p:sp>
      <p:sp>
        <p:nvSpPr>
          <p:cNvPr id="18" name="people-objects-body">
            <a:extLst xmlns:a="http://schemas.openxmlformats.org/drawingml/2006/main">
              <a:ext uri="{FF2B5EF4-FFF2-40B4-BE49-F238E27FC236}">
                <a16:creationId xmlns:a16="http://schemas.microsoft.com/office/drawing/2014/main" id="{678E9C0C-E11A-4957-8F9A-1D27E077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57450"/>
            <a:ext cx="1771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Member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Agent &amp; runtime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Squad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Skill · ontology · MCP</a:t>
            </a:r>
          </a:p>
        </p:txBody>
      </p:sp>
      <p:sp>
        <p:nvSpPr>
          <p:cNvPr id="19" name="automation-objects-panel">
            <a:extLst xmlns:a="http://schemas.openxmlformats.org/drawingml/2006/main">
              <a:ext uri="{FF2B5EF4-FFF2-40B4-BE49-F238E27FC236}">
                <a16:creationId xmlns:a16="http://schemas.microsoft.com/office/drawing/2014/main" id="{5027731A-A8F9-4F64-B9B9-8A2671BE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428750"/>
            <a:ext cx="297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automation-objects-title">
            <a:extLst xmlns:a="http://schemas.openxmlformats.org/drawingml/2006/main">
              <a:ext uri="{FF2B5EF4-FFF2-40B4-BE49-F238E27FC236}">
                <a16:creationId xmlns:a16="http://schemas.microsoft.com/office/drawing/2014/main" id="{F727BB04-2AA9-4013-8174-36EB78AD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811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Automation</a:t>
            </a:r>
          </a:p>
        </p:txBody>
      </p:sp>
      <p:sp>
        <p:nvSpPr>
          <p:cNvPr id="21" name="automation-objects-body">
            <a:extLst xmlns:a="http://schemas.openxmlformats.org/drawingml/2006/main">
              <a:ext uri="{FF2B5EF4-FFF2-40B4-BE49-F238E27FC236}">
                <a16:creationId xmlns:a16="http://schemas.microsoft.com/office/drawing/2014/main" id="{AECE60FE-5A62-46C7-9B82-C04F6EB4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812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Autopilot · cron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Webhook · delivery</a:t>
            </a:r>
          </a:p>
        </p:txBody>
      </p:sp>
      <p:sp>
        <p:nvSpPr>
          <p:cNvPr id="22" name="execution-objects-panel">
            <a:extLst xmlns:a="http://schemas.openxmlformats.org/drawingml/2006/main">
              <a:ext uri="{FF2B5EF4-FFF2-40B4-BE49-F238E27FC236}">
                <a16:creationId xmlns:a16="http://schemas.microsoft.com/office/drawing/2014/main" id="{3A5598FF-F490-4346-A3BB-DE300353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72000"/>
            <a:ext cx="3810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execution-objects-title">
            <a:extLst xmlns:a="http://schemas.openxmlformats.org/drawingml/2006/main">
              <a:ext uri="{FF2B5EF4-FFF2-40B4-BE49-F238E27FC236}">
                <a16:creationId xmlns:a16="http://schemas.microsoft.com/office/drawing/2014/main" id="{8D10AB0F-BD98-4E07-89E3-B8D62F29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2440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Execution &amp; collaboration</a:t>
            </a:r>
          </a:p>
        </p:txBody>
      </p:sp>
      <p:sp>
        <p:nvSpPr>
          <p:cNvPr id="24" name="execution-objects-body">
            <a:extLst xmlns:a="http://schemas.openxmlformats.org/drawingml/2006/main">
              <a:ext uri="{FF2B5EF4-FFF2-40B4-BE49-F238E27FC236}">
                <a16:creationId xmlns:a16="http://schemas.microsoft.com/office/drawing/2014/main" id="{3CFE1397-F9FC-4D8B-BFB0-A967B943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2445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Task · message · usage · token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Chat session · inbox item</a:t>
            </a:r>
          </a:p>
        </p:txBody>
      </p:sp>
      <p:sp>
        <p:nvSpPr>
          <p:cNvPr id="25" name="object-rule">
            <a:extLst xmlns:a="http://schemas.openxmlformats.org/drawingml/2006/main">
              <a:ext uri="{FF2B5EF4-FFF2-40B4-BE49-F238E27FC236}">
                <a16:creationId xmlns:a16="http://schemas.microsoft.com/office/drawing/2014/main" id="{0F244ED8-4877-4769-A293-7D5FF297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43600"/>
            <a:ext cx="803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Relationships are enforced in application services and transactions—not by database foreign keys.</a:t>
            </a:r>
          </a:p>
        </p:txBody>
      </p:sp>
    </p:spTree>
    <p:extLst>
      <p:ext uri="{BB962C8B-B14F-4D97-AF65-F5344CB8AC3E}">
        <p14:creationId xmlns:p14="http://schemas.microsoft.com/office/powerpoint/2010/main" val="308626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6">
            <a:extLst xmlns:a="http://schemas.openxmlformats.org/drawingml/2006/main">
              <a:ext uri="{FF2B5EF4-FFF2-40B4-BE49-F238E27FC236}">
                <a16:creationId xmlns:a16="http://schemas.microsoft.com/office/drawing/2014/main" id="{D433E783-579D-47BC-B92B-EB82526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F289BAB-58BD-486A-A45C-B576F7A1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One control plane connects clients to local execution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CD27986C-645C-4537-8130-16536761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81D139BB-210B-4E0C-B160-F517D817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72775C57-F0D9-4102-A240-A25492FA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6" name="ctx-arrow-clients">
            <a:extLst xmlns:a="http://schemas.openxmlformats.org/drawingml/2006/main">
              <a:ext uri="{FF2B5EF4-FFF2-40B4-BE49-F238E27FC236}">
                <a16:creationId xmlns:a16="http://schemas.microsoft.com/office/drawing/2014/main" id="{80AF3A21-3410-4823-A9EE-64CE55BF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ctx-arrow-data">
            <a:extLst xmlns:a="http://schemas.openxmlformats.org/drawingml/2006/main">
              <a:ext uri="{FF2B5EF4-FFF2-40B4-BE49-F238E27FC236}">
                <a16:creationId xmlns:a16="http://schemas.microsoft.com/office/drawing/2014/main" id="{11E39DF2-95E0-429C-B83B-439B5DE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ctx-arrow-daemon">
            <a:extLst xmlns:a="http://schemas.openxmlformats.org/drawingml/2006/main">
              <a:ext uri="{FF2B5EF4-FFF2-40B4-BE49-F238E27FC236}">
                <a16:creationId xmlns:a16="http://schemas.microsoft.com/office/drawing/2014/main" id="{04E8115B-CB11-469E-AC03-E88C2312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95800"/>
            <a:ext cx="228600" cy="685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clients-panel">
            <a:extLst xmlns:a="http://schemas.openxmlformats.org/drawingml/2006/main">
              <a:ext uri="{FF2B5EF4-FFF2-40B4-BE49-F238E27FC236}">
                <a16:creationId xmlns:a16="http://schemas.microsoft.com/office/drawing/2014/main" id="{F19C6D92-D71E-4025-8792-930B2732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lients-title">
            <a:extLst xmlns:a="http://schemas.openxmlformats.org/drawingml/2006/main">
              <a:ext uri="{FF2B5EF4-FFF2-40B4-BE49-F238E27FC236}">
                <a16:creationId xmlns:a16="http://schemas.microsoft.com/office/drawing/2014/main" id="{E3A263E3-30BE-4F68-9F19-5DCFB115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Clients</a:t>
            </a:r>
          </a:p>
        </p:txBody>
      </p:sp>
      <p:sp>
        <p:nvSpPr>
          <p:cNvPr id="11" name="clients-body">
            <a:extLst xmlns:a="http://schemas.openxmlformats.org/drawingml/2006/main">
              <a:ext uri="{FF2B5EF4-FFF2-40B4-BE49-F238E27FC236}">
                <a16:creationId xmlns:a16="http://schemas.microsoft.com/office/drawing/2014/main" id="{6CE73CC7-ED91-400E-AE1C-F80E516E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2133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Next.js Web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Electron Desktop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Expo Mobile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 CLI</a:t>
            </a:r>
          </a:p>
        </p:txBody>
      </p:sp>
      <p:sp>
        <p:nvSpPr>
          <p:cNvPr id="12" name="go-control-panel">
            <a:extLst xmlns:a="http://schemas.openxmlformats.org/drawingml/2006/main">
              <a:ext uri="{FF2B5EF4-FFF2-40B4-BE49-F238E27FC236}">
                <a16:creationId xmlns:a16="http://schemas.microsoft.com/office/drawing/2014/main" id="{033209CC-0FAC-45C7-9666-2648F012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4381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go-control-title">
            <a:extLst xmlns:a="http://schemas.openxmlformats.org/drawingml/2006/main">
              <a:ext uri="{FF2B5EF4-FFF2-40B4-BE49-F238E27FC236}">
                <a16:creationId xmlns:a16="http://schemas.microsoft.com/office/drawing/2014/main" id="{12E9FE88-8131-447C-911C-FD04849F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621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Go control plane</a:t>
            </a:r>
          </a:p>
        </p:txBody>
      </p:sp>
      <p:sp>
        <p:nvSpPr>
          <p:cNvPr id="14" name="go-control-body">
            <a:extLst xmlns:a="http://schemas.openxmlformats.org/drawingml/2006/main">
              <a:ext uri="{FF2B5EF4-FFF2-40B4-BE49-F238E27FC236}">
                <a16:creationId xmlns:a16="http://schemas.microsoft.com/office/drawing/2014/main" id="{C61F72BB-FE22-40AA-97E2-A127330F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40386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Chi router &amp; middleware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Handlers · services · sqlc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User WS · daemon WS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Scheduler · integrations · plugins</a:t>
            </a:r>
          </a:p>
        </p:txBody>
      </p:sp>
      <p:sp>
        <p:nvSpPr>
          <p:cNvPr id="15" name="state-panel">
            <a:extLst xmlns:a="http://schemas.openxmlformats.org/drawingml/2006/main">
              <a:ext uri="{FF2B5EF4-FFF2-40B4-BE49-F238E27FC236}">
                <a16:creationId xmlns:a16="http://schemas.microsoft.com/office/drawing/2014/main" id="{2922FA16-F5D3-4160-97C3-86BD7B99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3009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tate-title">
            <a:extLst xmlns:a="http://schemas.openxmlformats.org/drawingml/2006/main">
              <a:ext uri="{FF2B5EF4-FFF2-40B4-BE49-F238E27FC236}">
                <a16:creationId xmlns:a16="http://schemas.microsoft.com/office/drawing/2014/main" id="{E97F5BA4-4B7F-48D6-8373-9653D8AE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28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Authoritative data</a:t>
            </a:r>
          </a:p>
        </p:txBody>
      </p:sp>
      <p:sp>
        <p:nvSpPr>
          <p:cNvPr id="17" name="state-body">
            <a:extLst xmlns:a="http://schemas.openxmlformats.org/drawingml/2006/main">
              <a:ext uri="{FF2B5EF4-FFF2-40B4-BE49-F238E27FC236}">
                <a16:creationId xmlns:a16="http://schemas.microsoft.com/office/drawing/2014/main" id="{65858283-82B7-481C-A7CA-89AA0BBF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28900"/>
            <a:ext cx="2667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PostgreSQL + pgvector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Redis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Local or S3 attachments</a:t>
            </a:r>
          </a:p>
        </p:txBody>
      </p:sp>
      <p:sp>
        <p:nvSpPr>
          <p:cNvPr id="18" name="local-exec-panel">
            <a:extLst xmlns:a="http://schemas.openxmlformats.org/drawingml/2006/main">
              <a:ext uri="{FF2B5EF4-FFF2-40B4-BE49-F238E27FC236}">
                <a16:creationId xmlns:a16="http://schemas.microsoft.com/office/drawing/2014/main" id="{F4C231A9-BB96-4CD5-94E0-D20F0AA8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4229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local-exec-title">
            <a:extLst xmlns:a="http://schemas.openxmlformats.org/drawingml/2006/main">
              <a:ext uri="{FF2B5EF4-FFF2-40B4-BE49-F238E27FC236}">
                <a16:creationId xmlns:a16="http://schemas.microsoft.com/office/drawing/2014/main" id="{B4F14C9B-0B06-454C-8F33-452BE284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625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Local execution plane</a:t>
            </a:r>
          </a:p>
        </p:txBody>
      </p:sp>
      <p:sp>
        <p:nvSpPr>
          <p:cNvPr id="20" name="local-exec-body">
            <a:extLst xmlns:a="http://schemas.openxmlformats.org/drawingml/2006/main">
              <a:ext uri="{FF2B5EF4-FFF2-40B4-BE49-F238E27FC236}">
                <a16:creationId xmlns:a16="http://schemas.microsoft.com/office/drawing/2014/main" id="{2A9D80A7-B8DE-41EB-ABE1-07F2E865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6260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Daemon → provider adapter → Agent CLI → per-task workdir</a:t>
            </a:r>
          </a:p>
        </p:txBody>
      </p:sp>
      <p:sp>
        <p:nvSpPr>
          <p:cNvPr id="21" name="external-label">
            <a:extLst xmlns:a="http://schemas.openxmlformats.org/drawingml/2006/main">
              <a:ext uri="{FF2B5EF4-FFF2-40B4-BE49-F238E27FC236}">
                <a16:creationId xmlns:a16="http://schemas.microsoft.com/office/drawing/2014/main" id="{5EE76F41-57B4-47BE-B9FC-3C9326BD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62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External systems</a:t>
            </a:r>
          </a:p>
        </p:txBody>
      </p:sp>
      <p:sp>
        <p:nvSpPr>
          <p:cNvPr id="22" name="external-body">
            <a:extLst xmlns:a="http://schemas.openxmlformats.org/drawingml/2006/main">
              <a:ext uri="{FF2B5EF4-FFF2-40B4-BE49-F238E27FC236}">
                <a16:creationId xmlns:a16="http://schemas.microsoft.com/office/drawing/2014/main" id="{A1E896DD-F30C-4188-A2FC-C692C37E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2445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VCS · channels · MCP · Composio · Cloud billing</a:t>
            </a:r>
          </a:p>
        </p:txBody>
      </p:sp>
    </p:spTree>
    <p:extLst>
      <p:ext uri="{BB962C8B-B14F-4D97-AF65-F5344CB8AC3E}">
        <p14:creationId xmlns:p14="http://schemas.microsoft.com/office/powerpoint/2010/main" val="356279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7">
            <a:extLst xmlns:a="http://schemas.openxmlformats.org/drawingml/2006/main">
              <a:ext uri="{FF2B5EF4-FFF2-40B4-BE49-F238E27FC236}">
                <a16:creationId xmlns:a16="http://schemas.microsoft.com/office/drawing/2014/main" id="{B9B8EB9B-6CF1-408F-BE6C-DA9B75E3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BB86059-7BDE-4DB9-96CC-F95D37AE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Application domains converge on orchestration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F4F87ABF-060B-4143-BA7E-2AAF5FAA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4AC8301E-AA44-4EB2-B39C-D4758D8A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B946F293-7D2D-4C87-A3B4-27A656D0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layer-0">
            <a:extLst xmlns:a="http://schemas.openxmlformats.org/drawingml/2006/main">
              <a:ext uri="{FF2B5EF4-FFF2-40B4-BE49-F238E27FC236}">
                <a16:creationId xmlns:a16="http://schemas.microsoft.com/office/drawing/2014/main" id="{4F9F765F-A958-487A-B10F-612EDC6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047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layer-label-0">
            <a:extLst xmlns:a="http://schemas.openxmlformats.org/drawingml/2006/main">
              <a:ext uri="{FF2B5EF4-FFF2-40B4-BE49-F238E27FC236}">
                <a16:creationId xmlns:a16="http://schemas.microsoft.com/office/drawing/2014/main" id="{F945F4FB-5A00-4A05-8E21-8CBD509B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145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8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990F1E5-3869-4715-8B38-2A6AF98D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95475"/>
            <a:ext cx="786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Web · Desktop · Mobile · CLI · Docs</a:t>
            </a:r>
          </a:p>
        </p:txBody>
      </p:sp>
      <p:sp>
        <p:nvSpPr>
          <p:cNvPr id="9" name="layer-arrow-0">
            <a:extLst xmlns:a="http://schemas.openxmlformats.org/drawingml/2006/main">
              <a:ext uri="{FF2B5EF4-FFF2-40B4-BE49-F238E27FC236}">
                <a16:creationId xmlns:a16="http://schemas.microsoft.com/office/drawing/2014/main" id="{A766912F-640F-4295-9135-22BF23F8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33650"/>
            <a:ext cx="2667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layer-1">
            <a:extLst xmlns:a="http://schemas.openxmlformats.org/drawingml/2006/main">
              <a:ext uri="{FF2B5EF4-FFF2-40B4-BE49-F238E27FC236}">
                <a16:creationId xmlns:a16="http://schemas.microsoft.com/office/drawing/2014/main" id="{05EC278B-001C-4D9D-922B-523870F9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047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layer-label-1">
            <a:extLst xmlns:a="http://schemas.openxmlformats.org/drawingml/2006/main">
              <a:ext uri="{FF2B5EF4-FFF2-40B4-BE49-F238E27FC236}">
                <a16:creationId xmlns:a16="http://schemas.microsoft.com/office/drawing/2014/main" id="{D7214983-26CF-4578-B453-48C9035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BUSINESS DOMAINS</a:t>
            </a:r>
          </a:p>
        </p:txBody>
      </p:sp>
      <p:sp>
        <p:nvSpPr>
          <p:cNvPr id="12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62CDC49A-16FD-470E-A5D0-DA4B5D01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24175"/>
            <a:ext cx="786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Identity &amp; workspace  |  Work management  |  Agents &amp; capabilities  |  Automation  |  Integrations  |  Commercialization</a:t>
            </a:r>
          </a:p>
        </p:txBody>
      </p:sp>
      <p:sp>
        <p:nvSpPr>
          <p:cNvPr id="13" name="layer-arrow-1">
            <a:extLst xmlns:a="http://schemas.openxmlformats.org/drawingml/2006/main">
              <a:ext uri="{FF2B5EF4-FFF2-40B4-BE49-F238E27FC236}">
                <a16:creationId xmlns:a16="http://schemas.microsoft.com/office/drawing/2014/main" id="{6420A1DC-8454-4438-9523-E815B323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62350"/>
            <a:ext cx="2667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layer-2">
            <a:extLst xmlns:a="http://schemas.openxmlformats.org/drawingml/2006/main">
              <a:ext uri="{FF2B5EF4-FFF2-40B4-BE49-F238E27FC236}">
                <a16:creationId xmlns:a16="http://schemas.microsoft.com/office/drawing/2014/main" id="{41993803-727F-4960-B78E-E5E97E10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047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layer-label-2">
            <a:extLst xmlns:a="http://schemas.openxmlformats.org/drawingml/2006/main">
              <a:ext uri="{FF2B5EF4-FFF2-40B4-BE49-F238E27FC236}">
                <a16:creationId xmlns:a16="http://schemas.microsoft.com/office/drawing/2014/main" id="{228DC5B0-D584-4443-A654-F6C95CB5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 SERVICES</a:t>
            </a:r>
          </a:p>
        </p:txBody>
      </p:sp>
      <p:sp>
        <p:nvSpPr>
          <p:cNvPr id="16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E63A33ED-103F-4CC8-A933-F2EBCE6A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52875"/>
            <a:ext cx="786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Trigger  |  Queue &amp; claim  |  Lifecycle  |  Usage  |  Realtime  |  Notification</a:t>
            </a:r>
          </a:p>
        </p:txBody>
      </p:sp>
      <p:sp>
        <p:nvSpPr>
          <p:cNvPr id="17" name="layer-arrow-2">
            <a:extLst xmlns:a="http://schemas.openxmlformats.org/drawingml/2006/main">
              <a:ext uri="{FF2B5EF4-FFF2-40B4-BE49-F238E27FC236}">
                <a16:creationId xmlns:a16="http://schemas.microsoft.com/office/drawing/2014/main" id="{EC698070-9B79-4AFC-93D0-4A0DDDD7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2667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8" name="layer-3">
            <a:extLst xmlns:a="http://schemas.openxmlformats.org/drawingml/2006/main">
              <a:ext uri="{FF2B5EF4-FFF2-40B4-BE49-F238E27FC236}">
                <a16:creationId xmlns:a16="http://schemas.microsoft.com/office/drawing/2014/main" id="{744732D4-D8C4-46FC-97B8-FCF7083F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layer-label-3">
            <a:extLst xmlns:a="http://schemas.openxmlformats.org/drawingml/2006/main">
              <a:ext uri="{FF2B5EF4-FFF2-40B4-BE49-F238E27FC236}">
                <a16:creationId xmlns:a16="http://schemas.microsoft.com/office/drawing/2014/main" id="{871E1D88-C7E0-453B-9D17-307BCF69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006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DATA &amp; EXECUTION</a:t>
            </a:r>
          </a:p>
        </p:txBody>
      </p:sp>
      <p:sp>
        <p:nvSpPr>
          <p:cNvPr id="20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EDDE7EF9-091D-4FB9-83DB-81FA8CBF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81575"/>
            <a:ext cx="786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sqlc → PostgreSQL  |  optional Redis  |  local/S3 storage  |  daemon → Agent CLI</a:t>
            </a:r>
          </a:p>
        </p:txBody>
      </p:sp>
    </p:spTree>
    <p:extLst>
      <p:ext uri="{BB962C8B-B14F-4D97-AF65-F5344CB8AC3E}">
        <p14:creationId xmlns:p14="http://schemas.microsoft.com/office/powerpoint/2010/main" val="19417520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8">
            <a:extLst xmlns:a="http://schemas.openxmlformats.org/drawingml/2006/main">
              <a:ext uri="{FF2B5EF4-FFF2-40B4-BE49-F238E27FC236}">
                <a16:creationId xmlns:a16="http://schemas.microsoft.com/office/drawing/2014/main" id="{3EDB0FE3-A215-4174-AC87-7B7BF50C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AF0935D-D34B-467A-B401-122558A5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Shared packages and modular backend enforce ownership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A0D35E6B-D6E4-4508-AB21-EA38F6D2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BBAB4A1D-E07D-4638-B817-82A74C98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D7555F6D-45C7-4504-AA1D-C77B8AB6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6" name="frontend-heading">
            <a:extLst xmlns:a="http://schemas.openxmlformats.org/drawingml/2006/main">
              <a:ext uri="{FF2B5EF4-FFF2-40B4-BE49-F238E27FC236}">
                <a16:creationId xmlns:a16="http://schemas.microsoft.com/office/drawing/2014/main" id="{5163D370-A2BF-4B93-A76F-11AA2DC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FRONT END</a:t>
            </a:r>
          </a:p>
        </p:txBody>
      </p:sp>
      <p:sp>
        <p:nvSpPr>
          <p:cNvPr id="7" name="backend-heading">
            <a:extLst xmlns:a="http://schemas.openxmlformats.org/drawingml/2006/main">
              <a:ext uri="{FF2B5EF4-FFF2-40B4-BE49-F238E27FC236}">
                <a16:creationId xmlns:a16="http://schemas.microsoft.com/office/drawing/2014/main" id="{3B9CDAF3-AA46-4C30-8BDE-A27D8221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50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BACK END</a:t>
            </a:r>
          </a:p>
        </p:txBody>
      </p:sp>
      <p:sp>
        <p:nvSpPr>
          <p:cNvPr id="8" name="split">
            <a:extLst xmlns:a="http://schemas.openxmlformats.org/drawingml/2006/main">
              <a:ext uri="{FF2B5EF4-FFF2-40B4-BE49-F238E27FC236}">
                <a16:creationId xmlns:a16="http://schemas.microsoft.com/office/drawing/2014/main" id="{295E0DEB-64AF-421C-B336-C5D41C19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954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core-panel">
            <a:extLst xmlns:a="http://schemas.openxmlformats.org/drawingml/2006/main">
              <a:ext uri="{FF2B5EF4-FFF2-40B4-BE49-F238E27FC236}">
                <a16:creationId xmlns:a16="http://schemas.microsoft.com/office/drawing/2014/main" id="{D1BD7E0E-737C-4638-8218-4FDDD988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571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ore-title">
            <a:extLst xmlns:a="http://schemas.openxmlformats.org/drawingml/2006/main">
              <a:ext uri="{FF2B5EF4-FFF2-40B4-BE49-F238E27FC236}">
                <a16:creationId xmlns:a16="http://schemas.microsoft.com/office/drawing/2014/main" id="{2F0E1EDC-30CB-4AB5-AB3D-AD76B54B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packages/core</a:t>
            </a:r>
          </a:p>
        </p:txBody>
      </p:sp>
      <p:sp>
        <p:nvSpPr>
          <p:cNvPr id="11" name="core-body">
            <a:extLst xmlns:a="http://schemas.openxmlformats.org/drawingml/2006/main">
              <a:ext uri="{FF2B5EF4-FFF2-40B4-BE49-F238E27FC236}">
                <a16:creationId xmlns:a16="http://schemas.microsoft.com/office/drawing/2014/main" id="{7E07CC08-F763-4332-A974-80EB889C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228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3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API client · schemas · TanStack Query · mutations · permissions · Zustand client state</a:t>
            </a:r>
          </a:p>
        </p:txBody>
      </p:sp>
      <p:sp>
        <p:nvSpPr>
          <p:cNvPr id="12" name="views-panel">
            <a:extLst xmlns:a="http://schemas.openxmlformats.org/drawingml/2006/main">
              <a:ext uri="{FF2B5EF4-FFF2-40B4-BE49-F238E27FC236}">
                <a16:creationId xmlns:a16="http://schemas.microsoft.com/office/drawing/2014/main" id="{0BA2E194-71EE-4C48-8B61-AC540019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2571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views-title">
            <a:extLst xmlns:a="http://schemas.openxmlformats.org/drawingml/2006/main">
              <a:ext uri="{FF2B5EF4-FFF2-40B4-BE49-F238E27FC236}">
                <a16:creationId xmlns:a16="http://schemas.microsoft.com/office/drawing/2014/main" id="{D9FBA60E-BE78-442F-8F7B-C07A5A54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packages/views</a:t>
            </a:r>
          </a:p>
        </p:txBody>
      </p:sp>
      <p:sp>
        <p:nvSpPr>
          <p:cNvPr id="14" name="views-body">
            <a:extLst xmlns:a="http://schemas.openxmlformats.org/drawingml/2006/main">
              <a:ext uri="{FF2B5EF4-FFF2-40B4-BE49-F238E27FC236}">
                <a16:creationId xmlns:a16="http://schemas.microsoft.com/office/drawing/2014/main" id="{66247B29-0825-49B1-9FD6-9C36E85B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228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03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Shared business pages and components. No Next.js or React Router dependency.</a:t>
            </a:r>
          </a:p>
        </p:txBody>
      </p:sp>
      <p:sp>
        <p:nvSpPr>
          <p:cNvPr id="15" name="apps-panel">
            <a:extLst xmlns:a="http://schemas.openxmlformats.org/drawingml/2006/main">
              <a:ext uri="{FF2B5EF4-FFF2-40B4-BE49-F238E27FC236}">
                <a16:creationId xmlns:a16="http://schemas.microsoft.com/office/drawing/2014/main" id="{ABBFFB40-5F86-4A9B-8519-E2DF27CB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334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apps-title">
            <a:extLst xmlns:a="http://schemas.openxmlformats.org/drawingml/2006/main">
              <a:ext uri="{FF2B5EF4-FFF2-40B4-BE49-F238E27FC236}">
                <a16:creationId xmlns:a16="http://schemas.microsoft.com/office/drawing/2014/main" id="{3A59B3FE-9E2C-4453-9E25-54D13AF5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Application adapters</a:t>
            </a:r>
          </a:p>
        </p:txBody>
      </p:sp>
      <p:sp>
        <p:nvSpPr>
          <p:cNvPr id="17" name="apps-body">
            <a:extLst xmlns:a="http://schemas.openxmlformats.org/drawingml/2006/main">
              <a:ext uri="{FF2B5EF4-FFF2-40B4-BE49-F238E27FC236}">
                <a16:creationId xmlns:a16="http://schemas.microsoft.com/office/drawing/2014/main" id="{16FE4935-8132-4FD0-AB29-F7E24B7F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4991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Web owns Next.js APIs. Desktop owns Electron IPC and windows. Mobile remains independent.</a:t>
            </a:r>
          </a:p>
        </p:txBody>
      </p:sp>
      <p:sp>
        <p:nvSpPr>
          <p:cNvPr id="18" name="backend-chain-1">
            <a:extLst xmlns:a="http://schemas.openxmlformats.org/drawingml/2006/main">
              <a:ext uri="{FF2B5EF4-FFF2-40B4-BE49-F238E27FC236}">
                <a16:creationId xmlns:a16="http://schemas.microsoft.com/office/drawing/2014/main" id="{1D7C56CE-13F4-4912-AB34-E5137D7C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590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9" name="backend-chain-2">
            <a:extLst xmlns:a="http://schemas.openxmlformats.org/drawingml/2006/main">
              <a:ext uri="{FF2B5EF4-FFF2-40B4-BE49-F238E27FC236}">
                <a16:creationId xmlns:a16="http://schemas.microsoft.com/office/drawing/2014/main" id="{074DC4D9-39CB-47D4-B55A-B3A67DC4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86000"/>
            <a:ext cx="590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0" name="router-node">
            <a:extLst xmlns:a="http://schemas.openxmlformats.org/drawingml/2006/main">
              <a:ext uri="{FF2B5EF4-FFF2-40B4-BE49-F238E27FC236}">
                <a16:creationId xmlns:a16="http://schemas.microsoft.com/office/drawing/2014/main" id="{86811985-FB09-4C23-B6A0-B6CB07C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router + middleware</a:t>
            </a:r>
          </a:p>
        </p:txBody>
      </p:sp>
      <p:sp>
        <p:nvSpPr>
          <p:cNvPr id="21" name="handler-node">
            <a:extLst xmlns:a="http://schemas.openxmlformats.org/drawingml/2006/main">
              <a:ext uri="{FF2B5EF4-FFF2-40B4-BE49-F238E27FC236}">
                <a16:creationId xmlns:a16="http://schemas.microsoft.com/office/drawing/2014/main" id="{BF322021-929E-4F66-B810-E66CF918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57400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handler</a:t>
            </a:r>
          </a:p>
        </p:txBody>
      </p:sp>
      <p:sp>
        <p:nvSpPr>
          <p:cNvPr id="22" name="service-node">
            <a:extLst xmlns:a="http://schemas.openxmlformats.org/drawingml/2006/main">
              <a:ext uri="{FF2B5EF4-FFF2-40B4-BE49-F238E27FC236}">
                <a16:creationId xmlns:a16="http://schemas.microsoft.com/office/drawing/2014/main" id="{0436AF85-CF1B-472F-B549-C2D6C91F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990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23" name="db-node">
            <a:extLst xmlns:a="http://schemas.openxmlformats.org/drawingml/2006/main">
              <a:ext uri="{FF2B5EF4-FFF2-40B4-BE49-F238E27FC236}">
                <a16:creationId xmlns:a16="http://schemas.microsoft.com/office/drawing/2014/main" id="{A7029EA2-ACED-49D9-9171-2716387E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sqlc → PostgreSQL</a:t>
            </a:r>
          </a:p>
        </p:txBody>
      </p:sp>
      <p:sp>
        <p:nvSpPr>
          <p:cNvPr id="24" name="workers-node">
            <a:extLst xmlns:a="http://schemas.openxmlformats.org/drawingml/2006/main">
              <a:ext uri="{FF2B5EF4-FFF2-40B4-BE49-F238E27FC236}">
                <a16:creationId xmlns:a16="http://schemas.microsoft.com/office/drawing/2014/main" id="{96B9D253-5D75-4EDB-925F-70CBD542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400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Realtime · scheduler · sweepers</a:t>
            </a:r>
          </a:p>
          <a:p xmlns:a="http://schemas.openxmlformats.org/drawingml/2006/main">
            <a:pPr algn="ctr">
              <a:defRPr sz="1425" b="0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integrations · storage · plugins</a:t>
            </a:r>
          </a:p>
        </p:txBody>
      </p:sp>
      <p:sp>
        <p:nvSpPr>
          <p:cNvPr id="25" name="state-rule">
            <a:extLst xmlns:a="http://schemas.openxmlformats.org/drawingml/2006/main">
              <a:ext uri="{FF2B5EF4-FFF2-40B4-BE49-F238E27FC236}">
                <a16:creationId xmlns:a16="http://schemas.microsoft.com/office/drawing/2014/main" id="{92792C82-468A-455A-A66E-0A1699C9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Server state lives in Query caches; Zustand owns only client and view state.</a:t>
            </a:r>
          </a:p>
        </p:txBody>
      </p:sp>
    </p:spTree>
    <p:extLst>
      <p:ext uri="{BB962C8B-B14F-4D97-AF65-F5344CB8AC3E}">
        <p14:creationId xmlns:p14="http://schemas.microsoft.com/office/powerpoint/2010/main" val="17408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9">
            <a:extLst xmlns:a="http://schemas.openxmlformats.org/drawingml/2006/main">
              <a:ext uri="{FF2B5EF4-FFF2-40B4-BE49-F238E27FC236}">
                <a16:creationId xmlns:a16="http://schemas.microsoft.com/office/drawing/2014/main" id="{71056264-D503-4DDF-A2B9-1578AC8D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E760DEA-0233-48F6-BF9B-3140FAD4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Durable state, accelerated by realtime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77DBEC7B-B943-41D1-828F-BD04B6AD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3CE5DA42-E1CD-41F3-97C5-5FEB2B2A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D6D9A4ED-05A5-4DA0-AEA9-DC29009B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" name="lane-line-0">
            <a:extLst xmlns:a="http://schemas.openxmlformats.org/drawingml/2006/main">
              <a:ext uri="{FF2B5EF4-FFF2-40B4-BE49-F238E27FC236}">
                <a16:creationId xmlns:a16="http://schemas.microsoft.com/office/drawing/2014/main" id="{4CB01FCD-3920-4068-944A-13A5BC8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955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lane-line-1">
            <a:extLst xmlns:a="http://schemas.openxmlformats.org/drawingml/2006/main">
              <a:ext uri="{FF2B5EF4-FFF2-40B4-BE49-F238E27FC236}">
                <a16:creationId xmlns:a16="http://schemas.microsoft.com/office/drawing/2014/main" id="{F54F3137-C750-4700-99FB-BE0B97AA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955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lane-line-2">
            <a:extLst xmlns:a="http://schemas.openxmlformats.org/drawingml/2006/main">
              <a:ext uri="{FF2B5EF4-FFF2-40B4-BE49-F238E27FC236}">
                <a16:creationId xmlns:a16="http://schemas.microsoft.com/office/drawing/2014/main" id="{DA9CA4F7-8D47-44E4-A5EA-2EAB6142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lane-line-3">
            <a:extLst xmlns:a="http://schemas.openxmlformats.org/drawingml/2006/main">
              <a:ext uri="{FF2B5EF4-FFF2-40B4-BE49-F238E27FC236}">
                <a16:creationId xmlns:a16="http://schemas.microsoft.com/office/drawing/2014/main" id="{3185001B-A8CC-4FF2-9F5D-62892818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ane-line-4">
            <a:extLst xmlns:a="http://schemas.openxmlformats.org/drawingml/2006/main">
              <a:ext uri="{FF2B5EF4-FFF2-40B4-BE49-F238E27FC236}">
                <a16:creationId xmlns:a16="http://schemas.microsoft.com/office/drawing/2014/main" id="{6F99B8D9-3388-464D-B1C3-3F8A317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0955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eq-arrow-0">
            <a:extLst xmlns:a="http://schemas.openxmlformats.org/drawingml/2006/main">
              <a:ext uri="{FF2B5EF4-FFF2-40B4-BE49-F238E27FC236}">
                <a16:creationId xmlns:a16="http://schemas.microsoft.com/office/drawing/2014/main" id="{5E46FCBD-2303-477E-9D81-FCB319E4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66950"/>
            <a:ext cx="1981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seq-msg-0">
            <a:extLst xmlns:a="http://schemas.openxmlformats.org/drawingml/2006/main">
              <a:ext uri="{FF2B5EF4-FFF2-40B4-BE49-F238E27FC236}">
                <a16:creationId xmlns:a16="http://schemas.microsoft.com/office/drawing/2014/main" id="{0512775C-7FE6-4C06-A849-755B86AF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57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 Trigger issue execution</a:t>
            </a:r>
          </a:p>
        </p:txBody>
      </p:sp>
      <p:sp>
        <p:nvSpPr>
          <p:cNvPr id="13" name="seq-arrow-1">
            <a:extLst xmlns:a="http://schemas.openxmlformats.org/drawingml/2006/main">
              <a:ext uri="{FF2B5EF4-FFF2-40B4-BE49-F238E27FC236}">
                <a16:creationId xmlns:a16="http://schemas.microsoft.com/office/drawing/2014/main" id="{27559605-1005-414A-8D16-65492B1B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1981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eq-msg-1">
            <a:extLst xmlns:a="http://schemas.openxmlformats.org/drawingml/2006/main">
              <a:ext uri="{FF2B5EF4-FFF2-40B4-BE49-F238E27FC236}">
                <a16:creationId xmlns:a16="http://schemas.microsoft.com/office/drawing/2014/main" id="{07B92047-1B6E-4A58-A333-65C92C13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384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59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 Validate + create queued task</a:t>
            </a:r>
          </a:p>
        </p:txBody>
      </p:sp>
      <p:sp>
        <p:nvSpPr>
          <p:cNvPr id="15" name="seq-arrow-2">
            <a:extLst xmlns:a="http://schemas.openxmlformats.org/drawingml/2006/main">
              <a:ext uri="{FF2B5EF4-FFF2-40B4-BE49-F238E27FC236}">
                <a16:creationId xmlns:a16="http://schemas.microsoft.com/office/drawing/2014/main" id="{A2839B8E-6B90-4716-8FB3-26C6552A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57550"/>
            <a:ext cx="41719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seq-msg-2">
            <a:extLst xmlns:a="http://schemas.openxmlformats.org/drawingml/2006/main">
              <a:ext uri="{FF2B5EF4-FFF2-40B4-BE49-F238E27FC236}">
                <a16:creationId xmlns:a16="http://schemas.microsoft.com/office/drawing/2014/main" id="{53D6A243-CF4E-4E10-B614-3F3AA97B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337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 Wake / claim</a:t>
            </a:r>
          </a:p>
        </p:txBody>
      </p:sp>
      <p:sp>
        <p:nvSpPr>
          <p:cNvPr id="17" name="seq-arrow-3">
            <a:extLst xmlns:a="http://schemas.openxmlformats.org/drawingml/2006/main">
              <a:ext uri="{FF2B5EF4-FFF2-40B4-BE49-F238E27FC236}">
                <a16:creationId xmlns:a16="http://schemas.microsoft.com/office/drawing/2014/main" id="{4D5116B4-66E7-4496-8B53-E5851FD7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1981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seq-msg-3">
            <a:extLst xmlns:a="http://schemas.openxmlformats.org/drawingml/2006/main">
              <a:ext uri="{FF2B5EF4-FFF2-40B4-BE49-F238E27FC236}">
                <a16:creationId xmlns:a16="http://schemas.microsoft.com/office/drawing/2014/main" id="{0FAB73DF-930A-46A2-8287-D7A91446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 Launch provider CLI</a:t>
            </a:r>
          </a:p>
        </p:txBody>
      </p:sp>
      <p:sp>
        <p:nvSpPr>
          <p:cNvPr id="19" name="seq-arrow-4">
            <a:extLst xmlns:a="http://schemas.openxmlformats.org/drawingml/2006/main">
              <a:ext uri="{FF2B5EF4-FFF2-40B4-BE49-F238E27FC236}">
                <a16:creationId xmlns:a16="http://schemas.microsoft.com/office/drawing/2014/main" id="{431B2A33-9162-4897-AAD7-EEEFECC7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240030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0" name="seq-msg-4">
            <a:extLst xmlns:a="http://schemas.openxmlformats.org/drawingml/2006/main">
              <a:ext uri="{FF2B5EF4-FFF2-40B4-BE49-F238E27FC236}">
                <a16:creationId xmlns:a16="http://schemas.microsoft.com/office/drawing/2014/main" id="{6C8FD7B4-EFDE-4FB6-933C-8C026671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 Stream events + usage</a:t>
            </a:r>
          </a:p>
        </p:txBody>
      </p:sp>
      <p:sp>
        <p:nvSpPr>
          <p:cNvPr id="21" name="seq-arrow-5">
            <a:extLst xmlns:a="http://schemas.openxmlformats.org/drawingml/2006/main">
              <a:ext uri="{FF2B5EF4-FFF2-40B4-BE49-F238E27FC236}">
                <a16:creationId xmlns:a16="http://schemas.microsoft.com/office/drawing/2014/main" id="{E434F0A6-BDB4-4182-9ED7-82F3B769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43450"/>
            <a:ext cx="459105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seq-msg-5">
            <a:extLst xmlns:a="http://schemas.openxmlformats.org/drawingml/2006/main">
              <a:ext uri="{FF2B5EF4-FFF2-40B4-BE49-F238E27FC236}">
                <a16:creationId xmlns:a16="http://schemas.microsoft.com/office/drawing/2014/main" id="{FDA0B9BD-0329-40D9-8DCB-8F14FC3A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196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 Progress / messages / completion</a:t>
            </a:r>
          </a:p>
        </p:txBody>
      </p:sp>
      <p:sp>
        <p:nvSpPr>
          <p:cNvPr id="23" name="seq-arrow-6">
            <a:extLst xmlns:a="http://schemas.openxmlformats.org/drawingml/2006/main">
              <a:ext uri="{FF2B5EF4-FFF2-40B4-BE49-F238E27FC236}">
                <a16:creationId xmlns:a16="http://schemas.microsoft.com/office/drawing/2014/main" id="{EADC93A7-39E6-4C52-AC4B-DDC54A43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38750"/>
            <a:ext cx="1981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seq-msg-6">
            <a:extLst xmlns:a="http://schemas.openxmlformats.org/drawingml/2006/main">
              <a:ext uri="{FF2B5EF4-FFF2-40B4-BE49-F238E27FC236}">
                <a16:creationId xmlns:a16="http://schemas.microsoft.com/office/drawing/2014/main" id="{61F40E91-F596-4312-9EFE-B2D061CB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149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 Persist final state</a:t>
            </a:r>
          </a:p>
        </p:txBody>
      </p:sp>
      <p:sp>
        <p:nvSpPr>
          <p:cNvPr id="25" name="seq-arrow-7">
            <a:extLst xmlns:a="http://schemas.openxmlformats.org/drawingml/2006/main">
              <a:ext uri="{FF2B5EF4-FFF2-40B4-BE49-F238E27FC236}">
                <a16:creationId xmlns:a16="http://schemas.microsoft.com/office/drawing/2014/main" id="{88099472-D568-405F-807E-47A0007E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34050"/>
            <a:ext cx="240030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seq-msg-7">
            <a:extLst xmlns:a="http://schemas.openxmlformats.org/drawingml/2006/main">
              <a:ext uri="{FF2B5EF4-FFF2-40B4-BE49-F238E27FC236}">
                <a16:creationId xmlns:a16="http://schemas.microsoft.com/office/drawing/2014/main" id="{44C6729B-C834-4772-BFC6-AD9A5A75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102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59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 WebSocket patch or query refresh</a:t>
            </a:r>
          </a:p>
        </p:txBody>
      </p:sp>
      <p:sp>
        <p:nvSpPr>
          <p:cNvPr id="27" name="actor-0">
            <a:extLst xmlns:a="http://schemas.openxmlformats.org/drawingml/2006/main">
              <a:ext uri="{FF2B5EF4-FFF2-40B4-BE49-F238E27FC236}">
                <a16:creationId xmlns:a16="http://schemas.microsoft.com/office/drawing/2014/main" id="{823E566F-88FE-41E4-A848-A680B5CC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</p:txBody>
      </p:sp>
      <p:sp>
        <p:nvSpPr>
          <p:cNvPr id="28" name="actor-1">
            <a:extLst xmlns:a="http://schemas.openxmlformats.org/drawingml/2006/main">
              <a:ext uri="{FF2B5EF4-FFF2-40B4-BE49-F238E27FC236}">
                <a16:creationId xmlns:a16="http://schemas.microsoft.com/office/drawing/2014/main" id="{76A0CBBF-9F5A-4B27-A592-72622895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00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Go API</a:t>
            </a:r>
          </a:p>
        </p:txBody>
      </p:sp>
      <p:sp>
        <p:nvSpPr>
          <p:cNvPr id="29" name="actor-2">
            <a:extLst xmlns:a="http://schemas.openxmlformats.org/drawingml/2006/main">
              <a:ext uri="{FF2B5EF4-FFF2-40B4-BE49-F238E27FC236}">
                <a16:creationId xmlns:a16="http://schemas.microsoft.com/office/drawing/2014/main" id="{EF309BD9-76A6-47CA-AE21-4758E6CC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30" name="actor-3">
            <a:extLst xmlns:a="http://schemas.openxmlformats.org/drawingml/2006/main">
              <a:ext uri="{FF2B5EF4-FFF2-40B4-BE49-F238E27FC236}">
                <a16:creationId xmlns:a16="http://schemas.microsoft.com/office/drawing/2014/main" id="{FF6D9363-9A6F-48DE-B288-B839E716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Daemon</a:t>
            </a:r>
          </a:p>
        </p:txBody>
      </p:sp>
      <p:sp>
        <p:nvSpPr>
          <p:cNvPr id="31" name="actor-4">
            <a:extLst xmlns:a="http://schemas.openxmlformats.org/drawingml/2006/main">
              <a:ext uri="{FF2B5EF4-FFF2-40B4-BE49-F238E27FC236}">
                <a16:creationId xmlns:a16="http://schemas.microsoft.com/office/drawing/2014/main" id="{11505F93-0373-44AE-A38E-59809D23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00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Agent CLI</a:t>
            </a:r>
          </a:p>
        </p:txBody>
      </p:sp>
      <p:sp>
        <p:nvSpPr>
          <p:cNvPr id="32" name="seq-fallback">
            <a:extLst xmlns:a="http://schemas.openxmlformats.org/drawingml/2006/main">
              <a:ext uri="{FF2B5EF4-FFF2-40B4-BE49-F238E27FC236}">
                <a16:creationId xmlns:a16="http://schemas.microsoft.com/office/drawing/2014/main" id="{3175A1C9-0CE4-4ADB-9924-C33BDC92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19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Best-effort wakeups reduce latency. Claim, polling and reconciliation preserve correctness.</a:t>
            </a:r>
          </a:p>
        </p:txBody>
      </p:sp>
    </p:spTree>
    <p:extLst>
      <p:ext uri="{BB962C8B-B14F-4D97-AF65-F5344CB8AC3E}">
        <p14:creationId xmlns:p14="http://schemas.microsoft.com/office/powerpoint/2010/main" val="16817723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-10">
            <a:extLst xmlns:a="http://schemas.openxmlformats.org/drawingml/2006/main">
              <a:ext uri="{FF2B5EF4-FFF2-40B4-BE49-F238E27FC236}">
                <a16:creationId xmlns:a16="http://schemas.microsoft.com/office/drawing/2014/main" id="{2AF200A5-3F4A-4D86-B45F-A3456E72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E2C3A69-667E-45B6-B324-CC01D6F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Security boundary: collaboration vs. execution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F52726CC-7154-4307-8058-0E2F18EE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7F6A1914-43D4-4249-B5DB-CC9989A8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0FDFB333-E606-44E9-B879-8402247D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771650"/>
          <a:ext xmlns:a="http://schemas.openxmlformats.org/drawingml/2006/main" cx="11391900" cy="3886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4648200"/>
                <a:gridCol w="46482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Enact control plane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Execution machine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Business state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Workspace, members, issues, agents, tasks, messages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authoritative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&amp; files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References, attachments and artifact metadata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Checkout, workdir and actual file changes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Credentials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Encrypted configured secrets, custom_env, task token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CLI, Git, cloud CLI and SSH credentials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Isolation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Workspace membership, role, access and API scope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Daemon OS user, container or VM boundary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Consistency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final state; Redis and WS are optional accelerators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Per-task directory locks and process lifecycle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ecurity-note">
            <a:extLst xmlns:a="http://schemas.openxmlformats.org/drawingml/2006/main">
              <a:ext uri="{FF2B5EF4-FFF2-40B4-BE49-F238E27FC236}">
                <a16:creationId xmlns:a16="http://schemas.microsoft.com/office/drawing/2014/main" id="{0668B616-52D5-4383-B8D6-E8E373B6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975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18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Per-task workdirs and task-scoped tokens reduce impact, but Enact does not provide a default filesystem sandbox.</a:t>
            </a:r>
          </a:p>
        </p:txBody>
      </p:sp>
    </p:spTree>
    <p:extLst>
      <p:ext uri="{BB962C8B-B14F-4D97-AF65-F5344CB8AC3E}">
        <p14:creationId xmlns:p14="http://schemas.microsoft.com/office/powerpoint/2010/main" val="38313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11">
            <a:extLst xmlns:a="http://schemas.openxmlformats.org/drawingml/2006/main">
              <a:ext uri="{FF2B5EF4-FFF2-40B4-BE49-F238E27FC236}">
                <a16:creationId xmlns:a16="http://schemas.microsoft.com/office/drawing/2014/main" id="{5F7D0217-0990-4B0E-B643-C5B9694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A049F84F-6C51-4A92-8E89-D53FB34D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Three deployment modes, one control/execution split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9936E12C-CF63-470B-9BA8-582D5F57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3D8E0B1B-DFF9-4A5C-8D99-2CD9619A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66223146-577A-47B3-AC42-681276E2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mode-0">
            <a:extLst xmlns:a="http://schemas.openxmlformats.org/drawingml/2006/main">
              <a:ext uri="{FF2B5EF4-FFF2-40B4-BE49-F238E27FC236}">
                <a16:creationId xmlns:a16="http://schemas.microsoft.com/office/drawing/2014/main" id="{45B9600E-29E5-410C-B76B-E72861AB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34099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mode-label-0">
            <a:extLst xmlns:a="http://schemas.openxmlformats.org/drawingml/2006/main">
              <a:ext uri="{FF2B5EF4-FFF2-40B4-BE49-F238E27FC236}">
                <a16:creationId xmlns:a16="http://schemas.microsoft.com/office/drawing/2014/main" id="{52F16746-1C35-4005-8B1B-AED30635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LOCAL DEVELOPMENT</a:t>
            </a:r>
          </a:p>
        </p:txBody>
      </p:sp>
      <p:sp>
        <p:nvSpPr>
          <p:cNvPr id="8" name="mode-title-0">
            <a:extLst xmlns:a="http://schemas.openxmlformats.org/drawingml/2006/main">
              <a:ext uri="{FF2B5EF4-FFF2-40B4-BE49-F238E27FC236}">
                <a16:creationId xmlns:a16="http://schemas.microsoft.com/office/drawing/2014/main" id="{3B27EA0C-B628-4A56-BF5F-479F573E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Developer workstation</a:t>
            </a:r>
          </a:p>
        </p:txBody>
      </p:sp>
      <p:sp>
        <p:nvSpPr>
          <p:cNvPr id="9" name="mode-rule-0">
            <a:extLst xmlns:a="http://schemas.openxmlformats.org/drawingml/2006/main">
              <a:ext uri="{FF2B5EF4-FFF2-40B4-BE49-F238E27FC236}">
                <a16:creationId xmlns:a16="http://schemas.microsoft.com/office/drawing/2014/main" id="{3C728B09-6BBE-4398-83D7-DB4306F6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mode-body-0">
            <a:extLst xmlns:a="http://schemas.openxmlformats.org/drawingml/2006/main">
              <a:ext uri="{FF2B5EF4-FFF2-40B4-BE49-F238E27FC236}">
                <a16:creationId xmlns:a16="http://schemas.microsoft.com/office/drawing/2014/main" id="{939D72F4-4DF2-4514-A5EA-40710024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2990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Web / Desktop dev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 server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Docker PostgreSQL + pgvector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Same-machine daemon + CLI</a:t>
            </a:r>
          </a:p>
        </p:txBody>
      </p:sp>
      <p:sp>
        <p:nvSpPr>
          <p:cNvPr id="11" name="mode-cond-0">
            <a:extLst xmlns:a="http://schemas.openxmlformats.org/drawingml/2006/main">
              <a:ext uri="{FF2B5EF4-FFF2-40B4-BE49-F238E27FC236}">
                <a16:creationId xmlns:a16="http://schemas.microsoft.com/office/drawing/2014/main" id="{2306E036-3FF2-4771-BDBA-3714A5CB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 i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Optional test Redis</a:t>
            </a:r>
          </a:p>
        </p:txBody>
      </p:sp>
      <p:sp>
        <p:nvSpPr>
          <p:cNvPr id="12" name="mode-1">
            <a:extLst xmlns:a="http://schemas.openxmlformats.org/drawingml/2006/main">
              <a:ext uri="{FF2B5EF4-FFF2-40B4-BE49-F238E27FC236}">
                <a16:creationId xmlns:a16="http://schemas.microsoft.com/office/drawing/2014/main" id="{47D0025C-0DA2-45D5-9C84-629769D0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71650"/>
            <a:ext cx="34099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mode-label-1">
            <a:extLst xmlns:a="http://schemas.openxmlformats.org/drawingml/2006/main">
              <a:ext uri="{FF2B5EF4-FFF2-40B4-BE49-F238E27FC236}">
                <a16:creationId xmlns:a16="http://schemas.microsoft.com/office/drawing/2014/main" id="{25E1EB70-E6D9-4577-96BA-E261B710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SELF-HOSTED</a:t>
            </a:r>
          </a:p>
        </p:txBody>
      </p:sp>
      <p:sp>
        <p:nvSpPr>
          <p:cNvPr id="14" name="mode-title-1">
            <a:extLst xmlns:a="http://schemas.openxmlformats.org/drawingml/2006/main">
              <a:ext uri="{FF2B5EF4-FFF2-40B4-BE49-F238E27FC236}">
                <a16:creationId xmlns:a16="http://schemas.microsoft.com/office/drawing/2014/main" id="{1A0D12D7-8E02-43D4-882C-11B94FFC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Customer-operated control plane</a:t>
            </a:r>
          </a:p>
        </p:txBody>
      </p:sp>
      <p:sp>
        <p:nvSpPr>
          <p:cNvPr id="15" name="mode-rule-1">
            <a:extLst xmlns:a="http://schemas.openxmlformats.org/drawingml/2006/main">
              <a:ext uri="{FF2B5EF4-FFF2-40B4-BE49-F238E27FC236}">
                <a16:creationId xmlns:a16="http://schemas.microsoft.com/office/drawing/2014/main" id="{D6259FF2-CB08-4ED0-8B6D-025863D2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mode-body-1">
            <a:extLst xmlns:a="http://schemas.openxmlformats.org/drawingml/2006/main">
              <a:ext uri="{FF2B5EF4-FFF2-40B4-BE49-F238E27FC236}">
                <a16:creationId xmlns:a16="http://schemas.microsoft.com/office/drawing/2014/main" id="{5FD4046B-4142-4B22-A3ED-CB5C9844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05200"/>
            <a:ext cx="2990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Frontend + backend containers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PostgreSQL internal or external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Daemon on user-selected machines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Compose or Helm</a:t>
            </a:r>
          </a:p>
        </p:txBody>
      </p:sp>
      <p:sp>
        <p:nvSpPr>
          <p:cNvPr id="17" name="mode-cond-1">
            <a:extLst xmlns:a="http://schemas.openxmlformats.org/drawingml/2006/main">
              <a:ext uri="{FF2B5EF4-FFF2-40B4-BE49-F238E27FC236}">
                <a16:creationId xmlns:a16="http://schemas.microsoft.com/office/drawing/2014/main" id="{9260063B-EB5B-4F11-81CF-EF4CB7D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01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 i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Optional Redis · S3 · ingress</a:t>
            </a:r>
          </a:p>
        </p:txBody>
      </p:sp>
      <p:sp>
        <p:nvSpPr>
          <p:cNvPr id="18" name="mode-2">
            <a:extLst xmlns:a="http://schemas.openxmlformats.org/drawingml/2006/main">
              <a:ext uri="{FF2B5EF4-FFF2-40B4-BE49-F238E27FC236}">
                <a16:creationId xmlns:a16="http://schemas.microsoft.com/office/drawing/2014/main" id="{DD066123-B496-4EFD-AD9A-30E8E989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71650"/>
            <a:ext cx="34099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mode-label-2">
            <a:extLst xmlns:a="http://schemas.openxmlformats.org/drawingml/2006/main">
              <a:ext uri="{FF2B5EF4-FFF2-40B4-BE49-F238E27FC236}">
                <a16:creationId xmlns:a16="http://schemas.microsoft.com/office/drawing/2014/main" id="{03ACA0F0-75D1-4AE5-B8EF-00CFA638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ENACT CLOUD</a:t>
            </a:r>
          </a:p>
        </p:txBody>
      </p:sp>
      <p:sp>
        <p:nvSpPr>
          <p:cNvPr id="20" name="mode-title-2">
            <a:extLst xmlns:a="http://schemas.openxmlformats.org/drawingml/2006/main">
              <a:ext uri="{FF2B5EF4-FFF2-40B4-BE49-F238E27FC236}">
                <a16:creationId xmlns:a16="http://schemas.microsoft.com/office/drawing/2014/main" id="{48BCEE31-21D2-42B2-8DB9-3A85649D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Hosted control plane</a:t>
            </a:r>
          </a:p>
        </p:txBody>
      </p:sp>
      <p:sp>
        <p:nvSpPr>
          <p:cNvPr id="21" name="mode-rule-2">
            <a:extLst xmlns:a="http://schemas.openxmlformats.org/drawingml/2006/main">
              <a:ext uri="{FF2B5EF4-FFF2-40B4-BE49-F238E27FC236}">
                <a16:creationId xmlns:a16="http://schemas.microsoft.com/office/drawing/2014/main" id="{ECE8FBDD-8347-4FA5-87A0-4936A31D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mode-body-2">
            <a:extLst xmlns:a="http://schemas.openxmlformats.org/drawingml/2006/main">
              <a:ext uri="{FF2B5EF4-FFF2-40B4-BE49-F238E27FC236}">
                <a16:creationId xmlns:a16="http://schemas.microsoft.com/office/drawing/2014/main" id="{CFD9D69B-68AA-4C84-8F8B-1BF36B32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2990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7953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Hosted Web + backend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Managed data and object storage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Daemon remains connected to user machines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Subscription and entitlement services</a:t>
            </a:r>
          </a:p>
        </p:txBody>
      </p:sp>
      <p:sp>
        <p:nvSpPr>
          <p:cNvPr id="23" name="mode-cond-2">
            <a:extLst xmlns:a="http://schemas.openxmlformats.org/drawingml/2006/main">
              <a:ext uri="{FF2B5EF4-FFF2-40B4-BE49-F238E27FC236}">
                <a16:creationId xmlns:a16="http://schemas.microsoft.com/office/drawing/2014/main" id="{275E20CA-2014-4BF3-B5BC-FCDB214A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 i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Commercial capabilities are conditional</a:t>
            </a:r>
          </a:p>
        </p:txBody>
      </p:sp>
    </p:spTree>
    <p:extLst>
      <p:ext uri="{BB962C8B-B14F-4D97-AF65-F5344CB8AC3E}">
        <p14:creationId xmlns:p14="http://schemas.microsoft.com/office/powerpoint/2010/main" val="8124975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-12">
            <a:extLst xmlns:a="http://schemas.openxmlformats.org/drawingml/2006/main">
              <a:ext uri="{FF2B5EF4-FFF2-40B4-BE49-F238E27FC236}">
                <a16:creationId xmlns:a16="http://schemas.microsoft.com/office/drawing/2014/main" id="{60D17630-EBDF-449C-B20D-8D30DBB4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22B424F4-79F2-4414-B7C6-C17757C4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Cross-layer ownership for every capability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79167773-44B5-4EFB-84FC-13ADBB3F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88B10143-C76E-4BAF-B5C3-70D74FED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003511BF-E69A-4632-BE79-B87D6CCA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11391900" cy="4400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2724150"/>
                <a:gridCol w="3543300"/>
                <a:gridCol w="2838450"/>
              </a:tblGrid>
              <a:tr h="4889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Business capability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 domain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 implementation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Authoritative objects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Workspace governance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Auth · workspace ·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Chi middleware · JWT/PAT · Query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workspace · member · invitation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planning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Issues · projects · views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Go services · sqlc · shared views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issue · project · status · view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capabilities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Agents · skills · squads · runtimes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Go API · provider catalog · shared/mobile UI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· skill · squad · runtime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Execution &amp; audit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Trigger · queue · lifecycle · usage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queue · WS · daemon adapters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task_queue · message · usage · token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Collaboration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Comment · chat · inbox · realtime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Event bus · user WS · Query patch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comment · chat · inbox_item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Automation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Autopilot · cron · webhook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robfig/cron · scheduler · quota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autopilot · delivery · quota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VCS · channels · Composio · plugins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OAuth/API/Webhook · secretbox · MCP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connection · installation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Platform &amp; monetization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Health · metrics · usage · billing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Prometheus · health probes · Cloud API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usage · rollup · Cloud service data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458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13">
            <a:extLst xmlns:a="http://schemas.openxmlformats.org/drawingml/2006/main">
              <a:ext uri="{FF2B5EF4-FFF2-40B4-BE49-F238E27FC236}">
                <a16:creationId xmlns:a16="http://schemas.microsoft.com/office/drawing/2014/main" id="{42DBE732-5BFB-4B52-99CF-1676B77A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CURRENT-STATE ARCHITECTURE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D0F57A83-FA74-4196-8A9C-CB8836B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One boundary makes the current architecture coherent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28332790-43DC-4BE4-8491-198173EF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2D7A73FA-7B34-4EBD-A39A-F156807F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Enact  |  Current state  |  2026-09-02  |  Git 6cefa6f5b486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ADCBF95E-5956-49B1-8572-B0EE0E6B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close-num-0">
            <a:extLst xmlns:a="http://schemas.openxmlformats.org/drawingml/2006/main">
              <a:ext uri="{FF2B5EF4-FFF2-40B4-BE49-F238E27FC236}">
                <a16:creationId xmlns:a16="http://schemas.microsoft.com/office/drawing/2014/main" id="{9998C199-ABD0-412A-AFDC-EB58F1CE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close-title-0">
            <a:extLst xmlns:a="http://schemas.openxmlformats.org/drawingml/2006/main">
              <a:ext uri="{FF2B5EF4-FFF2-40B4-BE49-F238E27FC236}">
                <a16:creationId xmlns:a16="http://schemas.microsoft.com/office/drawing/2014/main" id="{3715E4E1-B340-48D9-B64A-D7B19B5D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52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Central collaboration</a:t>
            </a:r>
          </a:p>
        </p:txBody>
      </p:sp>
      <p:sp>
        <p:nvSpPr>
          <p:cNvPr id="8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4F182277-6089-4911-87E2-2D78B153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582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workspace-scoped record for people, agents, work, execution and review.</a:t>
            </a:r>
          </a:p>
        </p:txBody>
      </p:sp>
      <p:sp>
        <p:nvSpPr>
          <p:cNvPr id="9" name="close-rule-0">
            <a:extLst xmlns:a="http://schemas.openxmlformats.org/drawingml/2006/main">
              <a:ext uri="{FF2B5EF4-FFF2-40B4-BE49-F238E27FC236}">
                <a16:creationId xmlns:a16="http://schemas.microsoft.com/office/drawing/2014/main" id="{421BFB4F-F6C6-499A-95CB-324BCF9F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lose-num-1">
            <a:extLst xmlns:a="http://schemas.openxmlformats.org/drawingml/2006/main">
              <a:ext uri="{FF2B5EF4-FFF2-40B4-BE49-F238E27FC236}">
                <a16:creationId xmlns:a16="http://schemas.microsoft.com/office/drawing/2014/main" id="{14CE950B-3AE4-4394-AE4B-43C25B19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close-title-1">
            <a:extLst xmlns:a="http://schemas.openxmlformats.org/drawingml/2006/main">
              <a:ext uri="{FF2B5EF4-FFF2-40B4-BE49-F238E27FC236}">
                <a16:creationId xmlns:a16="http://schemas.microsoft.com/office/drawing/2014/main" id="{830C0CC8-84B6-4C7A-AD50-C5A3B3EC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Local agency</a:t>
            </a:r>
          </a:p>
        </p:txBody>
      </p:sp>
      <p:sp>
        <p:nvSpPr>
          <p:cNvPr id="12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9F077FEC-1402-4A89-A8DD-9C2E76B8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External Agent CLIs run where code, credentials and tools already live.</a:t>
            </a:r>
          </a:p>
        </p:txBody>
      </p:sp>
      <p:sp>
        <p:nvSpPr>
          <p:cNvPr id="13" name="close-rule-1">
            <a:extLst xmlns:a="http://schemas.openxmlformats.org/drawingml/2006/main">
              <a:ext uri="{FF2B5EF4-FFF2-40B4-BE49-F238E27FC236}">
                <a16:creationId xmlns:a16="http://schemas.microsoft.com/office/drawing/2014/main" id="{A75D14DB-1700-4E0B-AA4F-069BF18B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lose-num-2">
            <a:extLst xmlns:a="http://schemas.openxmlformats.org/drawingml/2006/main">
              <a:ext uri="{FF2B5EF4-FFF2-40B4-BE49-F238E27FC236}">
                <a16:creationId xmlns:a16="http://schemas.microsoft.com/office/drawing/2014/main" id="{A0CFF433-45BB-4916-AA2E-B74F3D90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close-title-2">
            <a:extLst xmlns:a="http://schemas.openxmlformats.org/drawingml/2006/main">
              <a:ext uri="{FF2B5EF4-FFF2-40B4-BE49-F238E27FC236}">
                <a16:creationId xmlns:a16="http://schemas.microsoft.com/office/drawing/2014/main" id="{B6084F40-5DFB-4A76-ACE5-83D4F1CA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Durable convergence</a:t>
            </a:r>
          </a:p>
        </p:txBody>
      </p:sp>
      <p:sp>
        <p:nvSpPr>
          <p:cNvPr id="16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F4F7072C-E67E-45CE-AA1B-9BFE4E1A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PostgreSQL owns final state; realtime and Redis accelerate without becoming authoritative.</a:t>
            </a:r>
          </a:p>
        </p:txBody>
      </p:sp>
      <p:sp>
        <p:nvSpPr>
          <p:cNvPr id="17" name="close-rule-2">
            <a:extLst xmlns:a="http://schemas.openxmlformats.org/drawingml/2006/main">
              <a:ext uri="{FF2B5EF4-FFF2-40B4-BE49-F238E27FC236}">
                <a16:creationId xmlns:a16="http://schemas.microsoft.com/office/drawing/2014/main" id="{370AD920-E267-4089-99EC-E6BB19B2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close-num-3">
            <a:extLst xmlns:a="http://schemas.openxmlformats.org/drawingml/2006/main">
              <a:ext uri="{FF2B5EF4-FFF2-40B4-BE49-F238E27FC236}">
                <a16:creationId xmlns:a16="http://schemas.microsoft.com/office/drawing/2014/main" id="{6D39FDFC-46C7-409F-9CAF-F6E39FA7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close-title-3">
            <a:extLst xmlns:a="http://schemas.openxmlformats.org/drawingml/2006/main">
              <a:ext uri="{FF2B5EF4-FFF2-40B4-BE49-F238E27FC236}">
                <a16:creationId xmlns:a16="http://schemas.microsoft.com/office/drawing/2014/main" id="{B3C6197C-5162-4895-8699-CB1CA31B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Explicit conditions</a:t>
            </a:r>
          </a:p>
        </p:txBody>
      </p:sp>
      <p:sp>
        <p:nvSpPr>
          <p:cNvPr id="20" name="close-body-3">
            <a:extLst xmlns:a="http://schemas.openxmlformats.org/drawingml/2006/main">
              <a:ext uri="{FF2B5EF4-FFF2-40B4-BE49-F238E27FC236}">
                <a16:creationId xmlns:a16="http://schemas.microsoft.com/office/drawing/2014/main" id="{748FFE62-8857-4AC1-9D2F-868BB41D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24400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Cloud billing, Redis, S3, channels, Composio and plugins activate only when deployed and configured.</a:t>
            </a:r>
          </a:p>
        </p:txBody>
      </p:sp>
      <p:sp>
        <p:nvSpPr>
          <p:cNvPr id="21" name="close-rule-3">
            <a:extLst xmlns:a="http://schemas.openxmlformats.org/drawingml/2006/main">
              <a:ext uri="{FF2B5EF4-FFF2-40B4-BE49-F238E27FC236}">
                <a16:creationId xmlns:a16="http://schemas.microsoft.com/office/drawing/2014/main" id="{05B3A77E-2856-4895-97EA-0B517FCB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close-message">
            <a:extLst xmlns:a="http://schemas.openxmlformats.org/drawingml/2006/main">
              <a:ext uri="{FF2B5EF4-FFF2-40B4-BE49-F238E27FC236}">
                <a16:creationId xmlns:a16="http://schemas.microsoft.com/office/drawing/2014/main" id="{5E538872-CD81-45B7-A480-E0D20195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2545"/>
                </a:solidFill>
                <a:latin typeface="Helvetica Neue"/>
                <a:ea typeface="Helvetica Neue"/>
                <a:cs typeface="Helvetica Neue"/>
              </a:rPr>
              <a:t>Architecture baseline: current product behavior at Git 6cefa6f5b486.</a:t>
            </a:r>
          </a:p>
        </p:txBody>
      </p:sp>
    </p:spTree>
    <p:extLst>
      <p:ext uri="{BB962C8B-B14F-4D97-AF65-F5344CB8AC3E}">
        <p14:creationId xmlns:p14="http://schemas.microsoft.com/office/powerpoint/2010/main" val="1906188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2026-09-02T14:33:42.0470000Z</dcterms:created>
  <dcterms:modified xsi:type="dcterms:W3CDTF">2026-09-02T14:33:42.0470000Z</dcterms:modified>
</coreProperties>
</file>