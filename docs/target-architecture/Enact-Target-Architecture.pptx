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850" cy="6858000"/>
          </a:xfrm>
          <a:prstGeom prst="rect">
            <a:avLst/>
          </a:prstGeom>
          <a:solidFill>
            <a:srgbClr val="0B1F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pic>
        <p:nvPicPr>
          <p:cNvPr id="3" name="Picture 2" descr="wind-turbines-green.png"/>
          <p:cNvPicPr>
            <a:picLocks noChangeAspect="1"/>
          </p:cNvPicPr>
          <p:nvPr/>
        </p:nvPicPr>
        <p:blipFill>
          <a:blip r:embed="rId2"/>
          <a:srcRect l="31016" r="31016"/>
          <a:stretch>
            <a:fillRect/>
          </a:stretch>
        </p:blipFill>
        <p:spPr>
          <a:xfrm>
            <a:off x="7562850" y="0"/>
            <a:ext cx="4629150" cy="6858000"/>
          </a:xfrm>
          <a:prstGeom prst="rect">
            <a:avLst/>
          </a:prstGeom>
        </p:spPr>
      </p:pic>
      <p:sp>
        <p:nvSpPr>
          <p:cNvPr id="4" name="TextBox 3"/>
          <p:cNvSpPr txBox="1"/>
          <p:nvPr/>
        </p:nvSpPr>
        <p:spPr>
          <a:xfrm>
            <a:off x="609600" y="495300"/>
            <a:ext cx="1905000" cy="360045"/>
          </a:xfrm>
          <a:prstGeom prst="rect">
            <a:avLst/>
          </a:prstGeom>
          <a:noFill/>
        </p:spPr>
        <p:txBody>
          <a:bodyPr wrap="square" anchor="t" lIns="0" tIns="0" rIns="0" bIns="0">
            <a:noAutofit/>
          </a:bodyPr>
          <a:lstStyle/>
          <a:p>
            <a:pPr algn="l">
              <a:lnSpc>
                <a:spcPct val="100000"/>
              </a:lnSpc>
              <a:spcBef>
                <a:spcPts val="0"/>
              </a:spcBef>
              <a:spcAft>
                <a:spcPts val="0"/>
              </a:spcAft>
            </a:pPr>
            <a:r>
              <a:rPr sz="1575" b="1">
                <a:solidFill>
                  <a:srgbClr val="FFFFFF"/>
                </a:solidFill>
                <a:latin typeface="Open Sans"/>
              </a:rPr>
              <a:t>Deloitte</a:t>
            </a:r>
            <a:r>
              <a:rPr sz="1575" b="1">
                <a:solidFill>
                  <a:srgbClr val="86BC25"/>
                </a:solidFill>
                <a:latin typeface="Open Sans"/>
              </a:rPr>
              <a:t>.</a:t>
            </a:r>
          </a:p>
        </p:txBody>
      </p:sp>
      <p:sp>
        <p:nvSpPr>
          <p:cNvPr id="5" name="TextBox 4"/>
          <p:cNvSpPr txBox="1"/>
          <p:nvPr/>
        </p:nvSpPr>
        <p:spPr>
          <a:xfrm>
            <a:off x="3429000" y="533400"/>
            <a:ext cx="3562350" cy="209550"/>
          </a:xfrm>
          <a:prstGeom prst="rect">
            <a:avLst/>
          </a:prstGeom>
          <a:noFill/>
        </p:spPr>
        <p:txBody>
          <a:bodyPr wrap="square" anchor="t" lIns="0" tIns="0" rIns="0" bIns="0">
            <a:noAutofit/>
          </a:bodyPr>
          <a:lstStyle/>
          <a:p>
            <a:pPr algn="r">
              <a:lnSpc>
                <a:spcPct val="100000"/>
              </a:lnSpc>
              <a:spcBef>
                <a:spcPts val="0"/>
              </a:spcBef>
              <a:spcAft>
                <a:spcPts val="0"/>
              </a:spcAft>
            </a:pPr>
            <a:r>
              <a:rPr sz="825" b="1" i="0" spc="140">
                <a:solidFill>
                  <a:srgbClr val="C0E08A"/>
                </a:solidFill>
                <a:latin typeface="Open Sans"/>
              </a:rPr>
              <a:t>ENTERPRISE ARCHITECTURE</a:t>
            </a:r>
          </a:p>
        </p:txBody>
      </p:sp>
      <p:sp>
        <p:nvSpPr>
          <p:cNvPr id="6" name="TextBox 5"/>
          <p:cNvSpPr txBox="1"/>
          <p:nvPr/>
        </p:nvSpPr>
        <p:spPr>
          <a:xfrm>
            <a:off x="609600" y="2781300"/>
            <a:ext cx="62865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i="0" spc="140">
                <a:solidFill>
                  <a:srgbClr val="86BC25"/>
                </a:solidFill>
                <a:latin typeface="Open Sans"/>
              </a:rPr>
              <a:t>TARGET-STATE ARCHITECTURE</a:t>
            </a:r>
          </a:p>
        </p:txBody>
      </p:sp>
      <p:sp>
        <p:nvSpPr>
          <p:cNvPr id="7" name="TextBox 6"/>
          <p:cNvSpPr txBox="1"/>
          <p:nvPr/>
        </p:nvSpPr>
        <p:spPr>
          <a:xfrm>
            <a:off x="609600" y="3067050"/>
            <a:ext cx="6572250" cy="1181100"/>
          </a:xfrm>
          <a:prstGeom prst="rect">
            <a:avLst/>
          </a:prstGeom>
          <a:noFill/>
        </p:spPr>
        <p:txBody>
          <a:bodyPr wrap="square" anchor="t" lIns="0" tIns="0" rIns="0" bIns="0">
            <a:noAutofit/>
          </a:bodyPr>
          <a:lstStyle/>
          <a:p>
            <a:pPr algn="l">
              <a:lnSpc>
                <a:spcPct val="106000"/>
              </a:lnSpc>
              <a:spcBef>
                <a:spcPts val="0"/>
              </a:spcBef>
              <a:spcAft>
                <a:spcPts val="0"/>
              </a:spcAft>
            </a:pPr>
            <a:r>
              <a:rPr sz="3750" b="0" i="0">
                <a:solidFill>
                  <a:srgbClr val="FFFFFF"/>
                </a:solidFill>
                <a:latin typeface="Open Sans Light"/>
              </a:rPr>
              <a:t>Enact: a work system</a:t>
            </a:r>
          </a:p>
          <a:p>
            <a:pPr>
              <a:lnSpc>
                <a:spcPct val="106000"/>
              </a:lnSpc>
              <a:spcBef>
                <a:spcPts val="0"/>
              </a:spcBef>
              <a:spcAft>
                <a:spcPts val="0"/>
              </a:spcAft>
            </a:pPr>
            <a:r>
              <a:rPr sz="3750" b="0">
                <a:solidFill>
                  <a:srgbClr val="FFFFFF"/>
                </a:solidFill>
                <a:latin typeface="Open Sans Light"/>
              </a:rPr>
              <a:t>for </a:t>
            </a:r>
            <a:r>
              <a:rPr sz="3750" b="1">
                <a:solidFill>
                  <a:srgbClr val="FFFFFF"/>
                </a:solidFill>
                <a:latin typeface="Open Sans"/>
              </a:rPr>
              <a:t>people and agents</a:t>
            </a:r>
          </a:p>
        </p:txBody>
      </p:sp>
      <p:sp>
        <p:nvSpPr>
          <p:cNvPr id="8" name="Rectangle 7"/>
          <p:cNvSpPr/>
          <p:nvPr/>
        </p:nvSpPr>
        <p:spPr>
          <a:xfrm>
            <a:off x="609600" y="4400550"/>
            <a:ext cx="6096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09600" y="4686300"/>
            <a:ext cx="5905500" cy="609600"/>
          </a:xfrm>
          <a:prstGeom prst="rect">
            <a:avLst/>
          </a:prstGeom>
          <a:noFill/>
        </p:spPr>
        <p:txBody>
          <a:bodyPr wrap="square" anchor="t" lIns="0" tIns="0" rIns="0" bIns="0">
            <a:noAutofit/>
          </a:bodyPr>
          <a:lstStyle/>
          <a:p>
            <a:pPr algn="l">
              <a:lnSpc>
                <a:spcPct val="145000"/>
              </a:lnSpc>
              <a:spcBef>
                <a:spcPts val="0"/>
              </a:spcBef>
              <a:spcAft>
                <a:spcPts val="0"/>
              </a:spcAft>
            </a:pPr>
            <a:r>
              <a:rPr sz="1275" b="0" i="0">
                <a:solidFill>
                  <a:srgbClr val="C9CEC9"/>
                </a:solidFill>
                <a:latin typeface="Open Sans"/>
              </a:rPr>
              <a:t>Business, application and technology architecture for enterprise evaluation of human–agent delivery.</a:t>
            </a:r>
          </a:p>
        </p:txBody>
      </p:sp>
      <p:sp>
        <p:nvSpPr>
          <p:cNvPr id="10" name="Rectangle 9"/>
          <p:cNvSpPr/>
          <p:nvPr/>
        </p:nvSpPr>
        <p:spPr>
          <a:xfrm>
            <a:off x="609600" y="5867400"/>
            <a:ext cx="6343650" cy="9525"/>
          </a:xfrm>
          <a:prstGeom prst="rect">
            <a:avLst/>
          </a:prstGeom>
          <a:solidFill>
            <a:srgbClr val="334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09600" y="6019800"/>
            <a:ext cx="4000500" cy="228600"/>
          </a:xfrm>
          <a:prstGeom prst="rect">
            <a:avLst/>
          </a:prstGeom>
          <a:noFill/>
        </p:spPr>
        <p:txBody>
          <a:bodyPr wrap="square" anchor="t" lIns="0" tIns="0" rIns="0" bIns="0">
            <a:noAutofit/>
          </a:bodyPr>
          <a:lstStyle/>
          <a:p>
            <a:pPr algn="l">
              <a:lnSpc>
                <a:spcPct val="100000"/>
              </a:lnSpc>
              <a:spcBef>
                <a:spcPts val="0"/>
              </a:spcBef>
              <a:spcAft>
                <a:spcPts val="0"/>
              </a:spcAft>
            </a:pPr>
            <a:r>
              <a:rPr sz="900" b="0">
                <a:solidFill>
                  <a:srgbClr val="C9CEC9"/>
                </a:solidFill>
                <a:latin typeface="Open Sans"/>
              </a:rPr>
              <a:t>Prepared for enterprise architecture review</a:t>
            </a:r>
          </a:p>
        </p:txBody>
      </p:sp>
      <p:sp>
        <p:nvSpPr>
          <p:cNvPr id="12" name="TextBox 11"/>
          <p:cNvSpPr txBox="1"/>
          <p:nvPr/>
        </p:nvSpPr>
        <p:spPr>
          <a:xfrm>
            <a:off x="4095750" y="6019800"/>
            <a:ext cx="2857500" cy="228600"/>
          </a:xfrm>
          <a:prstGeom prst="rect">
            <a:avLst/>
          </a:prstGeom>
          <a:noFill/>
        </p:spPr>
        <p:txBody>
          <a:bodyPr wrap="square" anchor="t" lIns="0" tIns="0" rIns="0" bIns="0">
            <a:noAutofit/>
          </a:bodyPr>
          <a:lstStyle/>
          <a:p>
            <a:pPr algn="r">
              <a:lnSpc>
                <a:spcPct val="100000"/>
              </a:lnSpc>
              <a:spcBef>
                <a:spcPts val="0"/>
              </a:spcBef>
              <a:spcAft>
                <a:spcPts val="0"/>
              </a:spcAft>
            </a:pPr>
            <a:r>
              <a:rPr sz="675" b="0" i="0">
                <a:solidFill>
                  <a:srgbClr val="8A948C"/>
                </a:solidFill>
                <a:latin typeface="Open Sans"/>
              </a:rPr>
              <a:t>Information Classification: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OVERVIEW</a:t>
            </a:r>
          </a:p>
        </p:txBody>
      </p:sp>
      <p:sp>
        <p:nvSpPr>
          <p:cNvPr id="4" name="TextBox 3"/>
          <p:cNvSpPr txBox="1"/>
          <p:nvPr/>
        </p:nvSpPr>
        <p:spPr>
          <a:xfrm>
            <a:off x="609600" y="1028700"/>
            <a:ext cx="10972800" cy="476250"/>
          </a:xfrm>
          <a:prstGeom prst="rect">
            <a:avLst/>
          </a:prstGeom>
          <a:noFill/>
        </p:spPr>
        <p:txBody>
          <a:bodyPr wrap="square" anchor="t" lIns="0" tIns="0" rIns="0" bIns="0">
            <a:noAutofit/>
          </a:bodyPr>
          <a:lstStyle/>
          <a:p>
            <a:pPr algn="l">
              <a:lnSpc>
                <a:spcPct val="106000"/>
              </a:lnSpc>
              <a:spcBef>
                <a:spcPts val="0"/>
              </a:spcBef>
              <a:spcAft>
                <a:spcPts val="0"/>
              </a:spcAft>
            </a:pPr>
            <a:r>
              <a:rPr sz="3000" b="0" i="0">
                <a:solidFill>
                  <a:srgbClr val="000000"/>
                </a:solidFill>
                <a:latin typeface="Open Sans Light"/>
              </a:rPr>
              <a:t>What this deck covers</a:t>
            </a:r>
          </a:p>
        </p:txBody>
      </p:sp>
      <p:sp>
        <p:nvSpPr>
          <p:cNvPr id="5" name="Rectangle 4"/>
          <p:cNvSpPr/>
          <p:nvPr/>
        </p:nvSpPr>
        <p:spPr>
          <a:xfrm>
            <a:off x="609600" y="1581150"/>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09600" y="2228850"/>
            <a:ext cx="438150" cy="285750"/>
          </a:xfrm>
          <a:prstGeom prst="rect">
            <a:avLst/>
          </a:prstGeom>
          <a:noFill/>
        </p:spPr>
        <p:txBody>
          <a:bodyPr wrap="square" anchor="t" lIns="0" tIns="0" rIns="0" bIns="0">
            <a:noAutofit/>
          </a:bodyPr>
          <a:lstStyle/>
          <a:p>
            <a:pPr algn="l">
              <a:lnSpc>
                <a:spcPct val="100000"/>
              </a:lnSpc>
              <a:spcBef>
                <a:spcPts val="0"/>
              </a:spcBef>
              <a:spcAft>
                <a:spcPts val="0"/>
              </a:spcAft>
            </a:pPr>
            <a:r>
              <a:rPr sz="1425" b="1" i="0">
                <a:solidFill>
                  <a:srgbClr val="86BC25"/>
                </a:solidFill>
                <a:latin typeface="Consolas"/>
              </a:rPr>
              <a:t>01</a:t>
            </a:r>
          </a:p>
        </p:txBody>
      </p:sp>
      <p:sp>
        <p:nvSpPr>
          <p:cNvPr id="7" name="TextBox 6"/>
          <p:cNvSpPr txBox="1"/>
          <p:nvPr/>
        </p:nvSpPr>
        <p:spPr>
          <a:xfrm>
            <a:off x="1104900" y="2209800"/>
            <a:ext cx="4705350" cy="266700"/>
          </a:xfrm>
          <a:prstGeom prst="rect">
            <a:avLst/>
          </a:prstGeom>
          <a:noFill/>
        </p:spPr>
        <p:txBody>
          <a:bodyPr wrap="square" anchor="t" lIns="0" tIns="0" rIns="0" bIns="0">
            <a:noAutofit/>
          </a:bodyPr>
          <a:lstStyle/>
          <a:p>
            <a:pPr algn="l">
              <a:lnSpc>
                <a:spcPct val="120000"/>
              </a:lnSpc>
              <a:spcBef>
                <a:spcPts val="0"/>
              </a:spcBef>
              <a:spcAft>
                <a:spcPts val="0"/>
              </a:spcAft>
            </a:pPr>
            <a:r>
              <a:rPr sz="1425" b="1" i="0">
                <a:solidFill>
                  <a:srgbClr val="000000"/>
                </a:solidFill>
                <a:latin typeface="Open Sans"/>
              </a:rPr>
              <a:t>The case for a work system</a:t>
            </a:r>
          </a:p>
        </p:txBody>
      </p:sp>
      <p:sp>
        <p:nvSpPr>
          <p:cNvPr id="8" name="TextBox 7"/>
          <p:cNvSpPr txBox="1"/>
          <p:nvPr/>
        </p:nvSpPr>
        <p:spPr>
          <a:xfrm>
            <a:off x="1104900" y="2495550"/>
            <a:ext cx="4705350" cy="438150"/>
          </a:xfrm>
          <a:prstGeom prst="rect">
            <a:avLst/>
          </a:prstGeom>
          <a:noFill/>
        </p:spPr>
        <p:txBody>
          <a:bodyPr wrap="square" anchor="t" lIns="0" tIns="0" rIns="0" bIns="0">
            <a:noAutofit/>
          </a:bodyPr>
          <a:lstStyle/>
          <a:p>
            <a:pPr algn="l">
              <a:lnSpc>
                <a:spcPct val="145000"/>
              </a:lnSpc>
              <a:spcBef>
                <a:spcPts val="0"/>
              </a:spcBef>
              <a:spcAft>
                <a:spcPts val="0"/>
              </a:spcAft>
            </a:pPr>
            <a:r>
              <a:rPr sz="1050" b="0" i="0">
                <a:solidFill>
                  <a:srgbClr val="53565A"/>
                </a:solidFill>
                <a:latin typeface="Open Sans"/>
              </a:rPr>
              <a:t>Why coding agents create a coordination problem, and what Enact claims.</a:t>
            </a:r>
          </a:p>
        </p:txBody>
      </p:sp>
      <p:sp>
        <p:nvSpPr>
          <p:cNvPr id="9" name="Rectangle 8"/>
          <p:cNvSpPr/>
          <p:nvPr/>
        </p:nvSpPr>
        <p:spPr>
          <a:xfrm>
            <a:off x="609600" y="3067050"/>
            <a:ext cx="51435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6210300" y="2228850"/>
            <a:ext cx="438150" cy="285750"/>
          </a:xfrm>
          <a:prstGeom prst="rect">
            <a:avLst/>
          </a:prstGeom>
          <a:noFill/>
        </p:spPr>
        <p:txBody>
          <a:bodyPr wrap="square" anchor="t" lIns="0" tIns="0" rIns="0" bIns="0">
            <a:noAutofit/>
          </a:bodyPr>
          <a:lstStyle/>
          <a:p>
            <a:pPr algn="l">
              <a:lnSpc>
                <a:spcPct val="100000"/>
              </a:lnSpc>
              <a:spcBef>
                <a:spcPts val="0"/>
              </a:spcBef>
              <a:spcAft>
                <a:spcPts val="0"/>
              </a:spcAft>
            </a:pPr>
            <a:r>
              <a:rPr sz="1425" b="1" i="0">
                <a:solidFill>
                  <a:srgbClr val="86BC25"/>
                </a:solidFill>
                <a:latin typeface="Consolas"/>
              </a:rPr>
              <a:t>02</a:t>
            </a:r>
          </a:p>
        </p:txBody>
      </p:sp>
      <p:sp>
        <p:nvSpPr>
          <p:cNvPr id="11" name="TextBox 10"/>
          <p:cNvSpPr txBox="1"/>
          <p:nvPr/>
        </p:nvSpPr>
        <p:spPr>
          <a:xfrm>
            <a:off x="6705600" y="2209800"/>
            <a:ext cx="4705350" cy="266700"/>
          </a:xfrm>
          <a:prstGeom prst="rect">
            <a:avLst/>
          </a:prstGeom>
          <a:noFill/>
        </p:spPr>
        <p:txBody>
          <a:bodyPr wrap="square" anchor="t" lIns="0" tIns="0" rIns="0" bIns="0">
            <a:noAutofit/>
          </a:bodyPr>
          <a:lstStyle/>
          <a:p>
            <a:pPr algn="l">
              <a:lnSpc>
                <a:spcPct val="120000"/>
              </a:lnSpc>
              <a:spcBef>
                <a:spcPts val="0"/>
              </a:spcBef>
              <a:spcAft>
                <a:spcPts val="0"/>
              </a:spcAft>
            </a:pPr>
            <a:r>
              <a:rPr sz="1425" b="1" i="0">
                <a:solidFill>
                  <a:srgbClr val="000000"/>
                </a:solidFill>
                <a:latin typeface="Open Sans"/>
              </a:rPr>
              <a:t>Business architecture</a:t>
            </a:r>
          </a:p>
        </p:txBody>
      </p:sp>
      <p:sp>
        <p:nvSpPr>
          <p:cNvPr id="12" name="TextBox 11"/>
          <p:cNvSpPr txBox="1"/>
          <p:nvPr/>
        </p:nvSpPr>
        <p:spPr>
          <a:xfrm>
            <a:off x="6705600" y="2495550"/>
            <a:ext cx="4705350" cy="438150"/>
          </a:xfrm>
          <a:prstGeom prst="rect">
            <a:avLst/>
          </a:prstGeom>
          <a:noFill/>
        </p:spPr>
        <p:txBody>
          <a:bodyPr wrap="square" anchor="t" lIns="0" tIns="0" rIns="0" bIns="0">
            <a:noAutofit/>
          </a:bodyPr>
          <a:lstStyle/>
          <a:p>
            <a:pPr algn="l">
              <a:lnSpc>
                <a:spcPct val="145000"/>
              </a:lnSpc>
              <a:spcBef>
                <a:spcPts val="0"/>
              </a:spcBef>
              <a:spcAft>
                <a:spcPts val="0"/>
              </a:spcAft>
            </a:pPr>
            <a:r>
              <a:rPr sz="1050" b="0" i="0">
                <a:solidFill>
                  <a:srgbClr val="53565A"/>
                </a:solidFill>
                <a:latin typeface="Open Sans"/>
              </a:rPr>
              <a:t>Capabilities, roles, the value chain, and the commercial model.</a:t>
            </a:r>
          </a:p>
        </p:txBody>
      </p:sp>
      <p:sp>
        <p:nvSpPr>
          <p:cNvPr id="13" name="Rectangle 12"/>
          <p:cNvSpPr/>
          <p:nvPr/>
        </p:nvSpPr>
        <p:spPr>
          <a:xfrm>
            <a:off x="6210300" y="3067050"/>
            <a:ext cx="51435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09600" y="3486150"/>
            <a:ext cx="438150" cy="285750"/>
          </a:xfrm>
          <a:prstGeom prst="rect">
            <a:avLst/>
          </a:prstGeom>
          <a:noFill/>
        </p:spPr>
        <p:txBody>
          <a:bodyPr wrap="square" anchor="t" lIns="0" tIns="0" rIns="0" bIns="0">
            <a:noAutofit/>
          </a:bodyPr>
          <a:lstStyle/>
          <a:p>
            <a:pPr algn="l">
              <a:lnSpc>
                <a:spcPct val="100000"/>
              </a:lnSpc>
              <a:spcBef>
                <a:spcPts val="0"/>
              </a:spcBef>
              <a:spcAft>
                <a:spcPts val="0"/>
              </a:spcAft>
            </a:pPr>
            <a:r>
              <a:rPr sz="1425" b="1" i="0">
                <a:solidFill>
                  <a:srgbClr val="86BC25"/>
                </a:solidFill>
                <a:latin typeface="Consolas"/>
              </a:rPr>
              <a:t>03</a:t>
            </a:r>
          </a:p>
        </p:txBody>
      </p:sp>
      <p:sp>
        <p:nvSpPr>
          <p:cNvPr id="15" name="TextBox 14"/>
          <p:cNvSpPr txBox="1"/>
          <p:nvPr/>
        </p:nvSpPr>
        <p:spPr>
          <a:xfrm>
            <a:off x="1104900" y="3467100"/>
            <a:ext cx="4705350" cy="266700"/>
          </a:xfrm>
          <a:prstGeom prst="rect">
            <a:avLst/>
          </a:prstGeom>
          <a:noFill/>
        </p:spPr>
        <p:txBody>
          <a:bodyPr wrap="square" anchor="t" lIns="0" tIns="0" rIns="0" bIns="0">
            <a:noAutofit/>
          </a:bodyPr>
          <a:lstStyle/>
          <a:p>
            <a:pPr algn="l">
              <a:lnSpc>
                <a:spcPct val="120000"/>
              </a:lnSpc>
              <a:spcBef>
                <a:spcPts val="0"/>
              </a:spcBef>
              <a:spcAft>
                <a:spcPts val="0"/>
              </a:spcAft>
            </a:pPr>
            <a:r>
              <a:rPr sz="1425" b="1" i="0">
                <a:solidFill>
                  <a:srgbClr val="000000"/>
                </a:solidFill>
                <a:latin typeface="Open Sans"/>
              </a:rPr>
              <a:t>Application architecture</a:t>
            </a:r>
          </a:p>
        </p:txBody>
      </p:sp>
      <p:sp>
        <p:nvSpPr>
          <p:cNvPr id="16" name="TextBox 15"/>
          <p:cNvSpPr txBox="1"/>
          <p:nvPr/>
        </p:nvSpPr>
        <p:spPr>
          <a:xfrm>
            <a:off x="1104900" y="3752850"/>
            <a:ext cx="4705350" cy="438150"/>
          </a:xfrm>
          <a:prstGeom prst="rect">
            <a:avLst/>
          </a:prstGeom>
          <a:noFill/>
        </p:spPr>
        <p:txBody>
          <a:bodyPr wrap="square" anchor="t" lIns="0" tIns="0" rIns="0" bIns="0">
            <a:noAutofit/>
          </a:bodyPr>
          <a:lstStyle/>
          <a:p>
            <a:pPr algn="l">
              <a:lnSpc>
                <a:spcPct val="145000"/>
              </a:lnSpc>
              <a:spcBef>
                <a:spcPts val="0"/>
              </a:spcBef>
              <a:spcAft>
                <a:spcPts val="0"/>
              </a:spcAft>
            </a:pPr>
            <a:r>
              <a:rPr sz="1050" b="0" i="0">
                <a:solidFill>
                  <a:srgbClr val="53565A"/>
                </a:solidFill>
                <a:latin typeface="Open Sans"/>
              </a:rPr>
              <a:t>Components, interaction patterns, integrations and extension surfaces.</a:t>
            </a:r>
          </a:p>
        </p:txBody>
      </p:sp>
      <p:sp>
        <p:nvSpPr>
          <p:cNvPr id="17" name="Rectangle 16"/>
          <p:cNvSpPr/>
          <p:nvPr/>
        </p:nvSpPr>
        <p:spPr>
          <a:xfrm>
            <a:off x="609600" y="4324350"/>
            <a:ext cx="51435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210300" y="3486150"/>
            <a:ext cx="438150" cy="285750"/>
          </a:xfrm>
          <a:prstGeom prst="rect">
            <a:avLst/>
          </a:prstGeom>
          <a:noFill/>
        </p:spPr>
        <p:txBody>
          <a:bodyPr wrap="square" anchor="t" lIns="0" tIns="0" rIns="0" bIns="0">
            <a:noAutofit/>
          </a:bodyPr>
          <a:lstStyle/>
          <a:p>
            <a:pPr algn="l">
              <a:lnSpc>
                <a:spcPct val="100000"/>
              </a:lnSpc>
              <a:spcBef>
                <a:spcPts val="0"/>
              </a:spcBef>
              <a:spcAft>
                <a:spcPts val="0"/>
              </a:spcAft>
            </a:pPr>
            <a:r>
              <a:rPr sz="1425" b="1" i="0">
                <a:solidFill>
                  <a:srgbClr val="86BC25"/>
                </a:solidFill>
                <a:latin typeface="Consolas"/>
              </a:rPr>
              <a:t>04</a:t>
            </a:r>
          </a:p>
        </p:txBody>
      </p:sp>
      <p:sp>
        <p:nvSpPr>
          <p:cNvPr id="19" name="TextBox 18"/>
          <p:cNvSpPr txBox="1"/>
          <p:nvPr/>
        </p:nvSpPr>
        <p:spPr>
          <a:xfrm>
            <a:off x="6705600" y="3467100"/>
            <a:ext cx="4705350" cy="266700"/>
          </a:xfrm>
          <a:prstGeom prst="rect">
            <a:avLst/>
          </a:prstGeom>
          <a:noFill/>
        </p:spPr>
        <p:txBody>
          <a:bodyPr wrap="square" anchor="t" lIns="0" tIns="0" rIns="0" bIns="0">
            <a:noAutofit/>
          </a:bodyPr>
          <a:lstStyle/>
          <a:p>
            <a:pPr algn="l">
              <a:lnSpc>
                <a:spcPct val="120000"/>
              </a:lnSpc>
              <a:spcBef>
                <a:spcPts val="0"/>
              </a:spcBef>
              <a:spcAft>
                <a:spcPts val="0"/>
              </a:spcAft>
            </a:pPr>
            <a:r>
              <a:rPr sz="1425" b="1" i="0">
                <a:solidFill>
                  <a:srgbClr val="000000"/>
                </a:solidFill>
                <a:latin typeface="Open Sans"/>
              </a:rPr>
              <a:t>Technology architecture</a:t>
            </a:r>
          </a:p>
        </p:txBody>
      </p:sp>
      <p:sp>
        <p:nvSpPr>
          <p:cNvPr id="20" name="TextBox 19"/>
          <p:cNvSpPr txBox="1"/>
          <p:nvPr/>
        </p:nvSpPr>
        <p:spPr>
          <a:xfrm>
            <a:off x="6705600" y="3752850"/>
            <a:ext cx="4705350" cy="438150"/>
          </a:xfrm>
          <a:prstGeom prst="rect">
            <a:avLst/>
          </a:prstGeom>
          <a:noFill/>
        </p:spPr>
        <p:txBody>
          <a:bodyPr wrap="square" anchor="t" lIns="0" tIns="0" rIns="0" bIns="0">
            <a:noAutofit/>
          </a:bodyPr>
          <a:lstStyle/>
          <a:p>
            <a:pPr algn="l">
              <a:lnSpc>
                <a:spcPct val="145000"/>
              </a:lnSpc>
              <a:spcBef>
                <a:spcPts val="0"/>
              </a:spcBef>
              <a:spcAft>
                <a:spcPts val="0"/>
              </a:spcAft>
            </a:pPr>
            <a:r>
              <a:rPr sz="1050" b="0" i="0">
                <a:solidFill>
                  <a:srgbClr val="53565A"/>
                </a:solidFill>
                <a:latin typeface="Open Sans"/>
              </a:rPr>
              <a:t>Stack, deployment, the data boundary, security and reliability.</a:t>
            </a:r>
          </a:p>
        </p:txBody>
      </p:sp>
      <p:sp>
        <p:nvSpPr>
          <p:cNvPr id="21" name="Rectangle 20"/>
          <p:cNvSpPr/>
          <p:nvPr/>
        </p:nvSpPr>
        <p:spPr>
          <a:xfrm>
            <a:off x="6210300" y="4324350"/>
            <a:ext cx="51435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23" name="TextBox 22"/>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24" name="TextBox 23"/>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een-abstract-1.png"/>
          <p:cNvPicPr>
            <a:picLocks noChangeAspect="1"/>
          </p:cNvPicPr>
          <p:nvPr/>
        </p:nvPicPr>
        <p:blipFill>
          <a:blip r:embed="rId2"/>
          <a:srcRect l="2449" r="2449"/>
          <a:stretch>
            <a:fillRect/>
          </a:stretch>
        </p:blipFill>
        <p:spPr>
          <a:xfrm>
            <a:off x="0" y="0"/>
            <a:ext cx="12192000" cy="6858000"/>
          </a:xfrm>
          <a:prstGeom prst="rect">
            <a:avLst/>
          </a:prstGeom>
        </p:spPr>
      </p:pic>
      <p:sp>
        <p:nvSpPr>
          <p:cNvPr id="3" name="Rectangle 2"/>
          <p:cNvSpPr/>
          <p:nvPr/>
        </p:nvSpPr>
        <p:spPr>
          <a:xfrm>
            <a:off x="0" y="0"/>
            <a:ext cx="12192000" cy="6858000"/>
          </a:xfrm>
          <a:prstGeom prst="rect">
            <a:avLst/>
          </a:prstGeom>
          <a:gradFill rotWithShape="1">
            <a:gsLst>
              <a:gs pos="0">
                <a:srgbClr val="062A18">
                  <a:alpha val="94000"/>
                </a:srgbClr>
              </a:gs>
              <a:gs pos="100000">
                <a:srgbClr val="046A38">
                  <a:alpha val="8000"/>
                </a:srgbClr>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 name="TextBox 3"/>
          <p:cNvSpPr txBox="1"/>
          <p:nvPr/>
        </p:nvSpPr>
        <p:spPr>
          <a:xfrm>
            <a:off x="609600" y="495300"/>
            <a:ext cx="1905000" cy="291465"/>
          </a:xfrm>
          <a:prstGeom prst="rect">
            <a:avLst/>
          </a:prstGeom>
          <a:noFill/>
        </p:spPr>
        <p:txBody>
          <a:bodyPr wrap="square" anchor="t" lIns="0" tIns="0" rIns="0" bIns="0">
            <a:noAutofit/>
          </a:bodyPr>
          <a:lstStyle/>
          <a:p>
            <a:pPr algn="l">
              <a:lnSpc>
                <a:spcPct val="100000"/>
              </a:lnSpc>
              <a:spcBef>
                <a:spcPts val="0"/>
              </a:spcBef>
              <a:spcAft>
                <a:spcPts val="0"/>
              </a:spcAft>
            </a:pPr>
            <a:r>
              <a:rPr sz="1275" b="1">
                <a:solidFill>
                  <a:srgbClr val="FFFFFF"/>
                </a:solidFill>
                <a:latin typeface="Open Sans"/>
              </a:rPr>
              <a:t>Deloitte</a:t>
            </a:r>
            <a:r>
              <a:rPr sz="1275" b="1">
                <a:solidFill>
                  <a:srgbClr val="86BC25"/>
                </a:solidFill>
                <a:latin typeface="Open Sans"/>
              </a:rPr>
              <a:t>.</a:t>
            </a:r>
          </a:p>
        </p:txBody>
      </p:sp>
      <p:sp>
        <p:nvSpPr>
          <p:cNvPr id="5" name="TextBox 4"/>
          <p:cNvSpPr txBox="1"/>
          <p:nvPr/>
        </p:nvSpPr>
        <p:spPr>
          <a:xfrm>
            <a:off x="609600" y="4305300"/>
            <a:ext cx="2857500" cy="285750"/>
          </a:xfrm>
          <a:prstGeom prst="rect">
            <a:avLst/>
          </a:prstGeom>
          <a:noFill/>
        </p:spPr>
        <p:txBody>
          <a:bodyPr wrap="square" anchor="t" lIns="0" tIns="0" rIns="0" bIns="0">
            <a:noAutofit/>
          </a:bodyPr>
          <a:lstStyle/>
          <a:p>
            <a:pPr algn="l">
              <a:lnSpc>
                <a:spcPct val="100000"/>
              </a:lnSpc>
              <a:spcBef>
                <a:spcPts val="0"/>
              </a:spcBef>
              <a:spcAft>
                <a:spcPts val="0"/>
              </a:spcAft>
            </a:pPr>
            <a:r>
              <a:rPr sz="1275" b="1" i="0" spc="100">
                <a:solidFill>
                  <a:srgbClr val="DDE8D4"/>
                </a:solidFill>
                <a:latin typeface="Consolas"/>
              </a:rPr>
              <a:t>01 / 04</a:t>
            </a:r>
          </a:p>
        </p:txBody>
      </p:sp>
      <p:sp>
        <p:nvSpPr>
          <p:cNvPr id="6" name="TextBox 5"/>
          <p:cNvSpPr txBox="1"/>
          <p:nvPr/>
        </p:nvSpPr>
        <p:spPr>
          <a:xfrm>
            <a:off x="609600" y="4629150"/>
            <a:ext cx="3810000" cy="22860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FFFFFF"/>
                </a:solidFill>
                <a:latin typeface="Open Sans"/>
              </a:rPr>
              <a:t>THE PROBLEM</a:t>
            </a:r>
          </a:p>
        </p:txBody>
      </p:sp>
      <p:sp>
        <p:nvSpPr>
          <p:cNvPr id="7" name="TextBox 6"/>
          <p:cNvSpPr txBox="1"/>
          <p:nvPr/>
        </p:nvSpPr>
        <p:spPr>
          <a:xfrm>
            <a:off x="609600" y="4895850"/>
            <a:ext cx="7620000" cy="1249680"/>
          </a:xfrm>
          <a:prstGeom prst="rect">
            <a:avLst/>
          </a:prstGeom>
          <a:noFill/>
        </p:spPr>
        <p:txBody>
          <a:bodyPr wrap="square" anchor="t" lIns="0" tIns="0" rIns="0" bIns="0">
            <a:noAutofit/>
          </a:bodyPr>
          <a:lstStyle/>
          <a:p>
            <a:pPr algn="l">
              <a:lnSpc>
                <a:spcPct val="105000"/>
              </a:lnSpc>
              <a:spcBef>
                <a:spcPts val="0"/>
              </a:spcBef>
              <a:spcAft>
                <a:spcPts val="0"/>
              </a:spcAft>
            </a:pPr>
            <a:r>
              <a:rPr sz="3900" b="0" i="0">
                <a:solidFill>
                  <a:srgbClr val="FFFFFF"/>
                </a:solidFill>
                <a:latin typeface="Open Sans Light"/>
              </a:rPr>
              <a:t>Agents got faster.</a:t>
            </a:r>
          </a:p>
          <a:p>
            <a:pPr>
              <a:lnSpc>
                <a:spcPct val="105000"/>
              </a:lnSpc>
              <a:spcBef>
                <a:spcPts val="0"/>
              </a:spcBef>
              <a:spcAft>
                <a:spcPts val="0"/>
              </a:spcAft>
            </a:pPr>
            <a:r>
              <a:rPr sz="3900" b="0" i="0">
                <a:solidFill>
                  <a:srgbClr val="FFFFFF"/>
                </a:solidFill>
                <a:latin typeface="Open Sans Light"/>
              </a:rPr>
              <a:t>Coordination did not.</a:t>
            </a:r>
          </a:p>
        </p:txBody>
      </p:sp>
      <p:sp>
        <p:nvSpPr>
          <p:cNvPr id="8" name="Rectangle 7"/>
          <p:cNvSpPr/>
          <p:nvPr/>
        </p:nvSpPr>
        <p:spPr>
          <a:xfrm>
            <a:off x="609600" y="6221730"/>
            <a:ext cx="685800" cy="47625"/>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9A9A9A"/>
                </a:solidFill>
                <a:latin typeface="Open Sans"/>
              </a:rPr>
              <a:t>Information Classification: Confidential</a:t>
            </a:r>
          </a:p>
        </p:txBody>
      </p:sp>
      <p:sp>
        <p:nvSpPr>
          <p:cNvPr id="10" name="TextBox 9"/>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9A9A9A"/>
                </a:solidFill>
                <a:latin typeface="Open Sans"/>
              </a:rPr>
              <a:t>© 2026 Deloitte. For internal use only.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THE PROBLEM</a:t>
            </a:r>
          </a:p>
        </p:txBody>
      </p:sp>
      <p:sp>
        <p:nvSpPr>
          <p:cNvPr id="4" name="TextBox 3"/>
          <p:cNvSpPr txBox="1"/>
          <p:nvPr/>
        </p:nvSpPr>
        <p:spPr>
          <a:xfrm>
            <a:off x="609600" y="1028700"/>
            <a:ext cx="10972800" cy="434340"/>
          </a:xfrm>
          <a:prstGeom prst="rect">
            <a:avLst/>
          </a:prstGeom>
          <a:noFill/>
        </p:spPr>
        <p:txBody>
          <a:bodyPr wrap="square" anchor="t" lIns="0" tIns="0" rIns="0" bIns="0">
            <a:noAutofit/>
          </a:bodyPr>
          <a:lstStyle/>
          <a:p>
            <a:pPr algn="l">
              <a:lnSpc>
                <a:spcPct val="106000"/>
              </a:lnSpc>
              <a:spcBef>
                <a:spcPts val="0"/>
              </a:spcBef>
              <a:spcAft>
                <a:spcPts val="0"/>
              </a:spcAft>
            </a:pPr>
            <a:r>
              <a:rPr sz="2700" b="0" i="0">
                <a:solidFill>
                  <a:srgbClr val="000000"/>
                </a:solidFill>
                <a:latin typeface="Open Sans Light"/>
              </a:rPr>
              <a:t>Four gaps that appear after agent adoption</a:t>
            </a:r>
          </a:p>
        </p:txBody>
      </p:sp>
      <p:sp>
        <p:nvSpPr>
          <p:cNvPr id="5" name="Rectangle 4"/>
          <p:cNvSpPr/>
          <p:nvPr/>
        </p:nvSpPr>
        <p:spPr>
          <a:xfrm>
            <a:off x="609600" y="1539240"/>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Rectangle 5"/>
          <p:cNvSpPr/>
          <p:nvPr/>
        </p:nvSpPr>
        <p:spPr>
          <a:xfrm>
            <a:off x="609600" y="2381250"/>
            <a:ext cx="38100" cy="62865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TextBox 6"/>
          <p:cNvSpPr txBox="1"/>
          <p:nvPr/>
        </p:nvSpPr>
        <p:spPr>
          <a:xfrm>
            <a:off x="819150" y="2352675"/>
            <a:ext cx="3048000" cy="285750"/>
          </a:xfrm>
          <a:prstGeom prst="rect">
            <a:avLst/>
          </a:prstGeom>
          <a:noFill/>
        </p:spPr>
        <p:txBody>
          <a:bodyPr wrap="square" anchor="t" lIns="0" tIns="0" rIns="0" bIns="0">
            <a:noAutofit/>
          </a:bodyPr>
          <a:lstStyle/>
          <a:p>
            <a:pPr algn="l">
              <a:lnSpc>
                <a:spcPct val="120000"/>
              </a:lnSpc>
              <a:spcBef>
                <a:spcPts val="0"/>
              </a:spcBef>
              <a:spcAft>
                <a:spcPts val="0"/>
              </a:spcAft>
            </a:pPr>
            <a:r>
              <a:rPr sz="1425" b="1" i="0">
                <a:solidFill>
                  <a:srgbClr val="000000"/>
                </a:solidFill>
                <a:latin typeface="Open Sans"/>
              </a:rPr>
              <a:t>Context is lost</a:t>
            </a:r>
          </a:p>
        </p:txBody>
      </p:sp>
      <p:sp>
        <p:nvSpPr>
          <p:cNvPr id="8" name="TextBox 7"/>
          <p:cNvSpPr txBox="1"/>
          <p:nvPr/>
        </p:nvSpPr>
        <p:spPr>
          <a:xfrm>
            <a:off x="4038600" y="2362200"/>
            <a:ext cx="7543800" cy="590550"/>
          </a:xfrm>
          <a:prstGeom prst="rect">
            <a:avLst/>
          </a:prstGeom>
          <a:noFill/>
        </p:spPr>
        <p:txBody>
          <a:bodyPr wrap="square" anchor="t" lIns="0" tIns="0" rIns="0" bIns="0">
            <a:noAutofit/>
          </a:bodyPr>
          <a:lstStyle/>
          <a:p>
            <a:pPr algn="l">
              <a:lnSpc>
                <a:spcPct val="145000"/>
              </a:lnSpc>
              <a:spcBef>
                <a:spcPts val="0"/>
              </a:spcBef>
              <a:spcAft>
                <a:spcPts val="0"/>
              </a:spcAft>
            </a:pPr>
            <a:r>
              <a:rPr sz="1087" b="0" i="0">
                <a:solidFill>
                  <a:srgbClr val="53565A"/>
                </a:solidFill>
                <a:latin typeface="Open Sans"/>
              </a:rPr>
              <a:t>Sessions forget everything when they end. Background is pasted in again and again; one piece of work is scattered across terminals and chat logs.</a:t>
            </a:r>
          </a:p>
        </p:txBody>
      </p:sp>
      <p:sp>
        <p:nvSpPr>
          <p:cNvPr id="9" name="Rectangle 8"/>
          <p:cNvSpPr/>
          <p:nvPr/>
        </p:nvSpPr>
        <p:spPr>
          <a:xfrm>
            <a:off x="609600" y="3124200"/>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Rectangle 9"/>
          <p:cNvSpPr/>
          <p:nvPr/>
        </p:nvSpPr>
        <p:spPr>
          <a:xfrm>
            <a:off x="609600" y="3295650"/>
            <a:ext cx="38100" cy="628650"/>
          </a:xfrm>
          <a:prstGeom prst="rect">
            <a:avLst/>
          </a:prstGeom>
          <a:solidFill>
            <a:srgbClr val="BBB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819150" y="3267075"/>
            <a:ext cx="3048000" cy="285750"/>
          </a:xfrm>
          <a:prstGeom prst="rect">
            <a:avLst/>
          </a:prstGeom>
          <a:noFill/>
        </p:spPr>
        <p:txBody>
          <a:bodyPr wrap="square" anchor="t" lIns="0" tIns="0" rIns="0" bIns="0">
            <a:noAutofit/>
          </a:bodyPr>
          <a:lstStyle/>
          <a:p>
            <a:pPr algn="l">
              <a:lnSpc>
                <a:spcPct val="120000"/>
              </a:lnSpc>
              <a:spcBef>
                <a:spcPts val="0"/>
              </a:spcBef>
              <a:spcAft>
                <a:spcPts val="0"/>
              </a:spcAft>
            </a:pPr>
            <a:r>
              <a:rPr sz="1425" b="1" i="0">
                <a:solidFill>
                  <a:srgbClr val="000000"/>
                </a:solidFill>
                <a:latin typeface="Open Sans"/>
              </a:rPr>
              <a:t>Accountability is fuzzy</a:t>
            </a:r>
          </a:p>
        </p:txBody>
      </p:sp>
      <p:sp>
        <p:nvSpPr>
          <p:cNvPr id="12" name="TextBox 11"/>
          <p:cNvSpPr txBox="1"/>
          <p:nvPr/>
        </p:nvSpPr>
        <p:spPr>
          <a:xfrm>
            <a:off x="4038600" y="3276600"/>
            <a:ext cx="7543800" cy="590550"/>
          </a:xfrm>
          <a:prstGeom prst="rect">
            <a:avLst/>
          </a:prstGeom>
          <a:noFill/>
        </p:spPr>
        <p:txBody>
          <a:bodyPr wrap="square" anchor="t" lIns="0" tIns="0" rIns="0" bIns="0">
            <a:noAutofit/>
          </a:bodyPr>
          <a:lstStyle/>
          <a:p>
            <a:pPr algn="l">
              <a:lnSpc>
                <a:spcPct val="145000"/>
              </a:lnSpc>
              <a:spcBef>
                <a:spcPts val="0"/>
              </a:spcBef>
              <a:spcAft>
                <a:spcPts val="0"/>
              </a:spcAft>
            </a:pPr>
            <a:r>
              <a:rPr sz="1087" b="0" i="0">
                <a:solidFill>
                  <a:srgbClr val="53565A"/>
                </a:solidFill>
                <a:latin typeface="Open Sans"/>
              </a:rPr>
              <a:t>Who started this agent, what may it read, where may it write, and on whose behalf is it acting?</a:t>
            </a:r>
          </a:p>
        </p:txBody>
      </p:sp>
      <p:sp>
        <p:nvSpPr>
          <p:cNvPr id="13" name="Rectangle 12"/>
          <p:cNvSpPr/>
          <p:nvPr/>
        </p:nvSpPr>
        <p:spPr>
          <a:xfrm>
            <a:off x="609600" y="4038600"/>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ectangle 13"/>
          <p:cNvSpPr/>
          <p:nvPr/>
        </p:nvSpPr>
        <p:spPr>
          <a:xfrm>
            <a:off x="609600" y="4210050"/>
            <a:ext cx="38100" cy="628650"/>
          </a:xfrm>
          <a:prstGeom prst="rect">
            <a:avLst/>
          </a:prstGeom>
          <a:solidFill>
            <a:srgbClr val="BBB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19150" y="4181475"/>
            <a:ext cx="3048000" cy="285750"/>
          </a:xfrm>
          <a:prstGeom prst="rect">
            <a:avLst/>
          </a:prstGeom>
          <a:noFill/>
        </p:spPr>
        <p:txBody>
          <a:bodyPr wrap="square" anchor="t" lIns="0" tIns="0" rIns="0" bIns="0">
            <a:noAutofit/>
          </a:bodyPr>
          <a:lstStyle/>
          <a:p>
            <a:pPr algn="l">
              <a:lnSpc>
                <a:spcPct val="120000"/>
              </a:lnSpc>
              <a:spcBef>
                <a:spcPts val="0"/>
              </a:spcBef>
              <a:spcAft>
                <a:spcPts val="0"/>
              </a:spcAft>
            </a:pPr>
            <a:r>
              <a:rPr sz="1425" b="1" i="0">
                <a:solidFill>
                  <a:srgbClr val="000000"/>
                </a:solidFill>
                <a:latin typeface="Open Sans"/>
              </a:rPr>
              <a:t>Cost is invisible</a:t>
            </a:r>
          </a:p>
        </p:txBody>
      </p:sp>
      <p:sp>
        <p:nvSpPr>
          <p:cNvPr id="16" name="TextBox 15"/>
          <p:cNvSpPr txBox="1"/>
          <p:nvPr/>
        </p:nvSpPr>
        <p:spPr>
          <a:xfrm>
            <a:off x="4038600" y="4191000"/>
            <a:ext cx="7543800" cy="590550"/>
          </a:xfrm>
          <a:prstGeom prst="rect">
            <a:avLst/>
          </a:prstGeom>
          <a:noFill/>
        </p:spPr>
        <p:txBody>
          <a:bodyPr wrap="square" anchor="t" lIns="0" tIns="0" rIns="0" bIns="0">
            <a:noAutofit/>
          </a:bodyPr>
          <a:lstStyle/>
          <a:p>
            <a:pPr algn="l">
              <a:lnSpc>
                <a:spcPct val="145000"/>
              </a:lnSpc>
              <a:spcBef>
                <a:spcPts val="0"/>
              </a:spcBef>
              <a:spcAft>
                <a:spcPts val="0"/>
              </a:spcAft>
            </a:pPr>
            <a:r>
              <a:rPr sz="1087" b="0" i="0">
                <a:solidFill>
                  <a:srgbClr val="53565A"/>
                </a:solidFill>
                <a:latin typeface="Open Sans"/>
              </a:rPr>
              <a:t>Token and compute spend sits in individual accounts and cannot be attributed to a project or a team.</a:t>
            </a:r>
          </a:p>
        </p:txBody>
      </p:sp>
      <p:sp>
        <p:nvSpPr>
          <p:cNvPr id="17" name="Rectangle 16"/>
          <p:cNvSpPr/>
          <p:nvPr/>
        </p:nvSpPr>
        <p:spPr>
          <a:xfrm>
            <a:off x="609600" y="4953000"/>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Rectangle 17"/>
          <p:cNvSpPr/>
          <p:nvPr/>
        </p:nvSpPr>
        <p:spPr>
          <a:xfrm>
            <a:off x="609600" y="5124450"/>
            <a:ext cx="38100" cy="628650"/>
          </a:xfrm>
          <a:prstGeom prst="rect">
            <a:avLst/>
          </a:prstGeom>
          <a:solidFill>
            <a:srgbClr val="BBB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TextBox 18"/>
          <p:cNvSpPr txBox="1"/>
          <p:nvPr/>
        </p:nvSpPr>
        <p:spPr>
          <a:xfrm>
            <a:off x="819150" y="5095875"/>
            <a:ext cx="3048000" cy="285750"/>
          </a:xfrm>
          <a:prstGeom prst="rect">
            <a:avLst/>
          </a:prstGeom>
          <a:noFill/>
        </p:spPr>
        <p:txBody>
          <a:bodyPr wrap="square" anchor="t" lIns="0" tIns="0" rIns="0" bIns="0">
            <a:noAutofit/>
          </a:bodyPr>
          <a:lstStyle/>
          <a:p>
            <a:pPr algn="l">
              <a:lnSpc>
                <a:spcPct val="120000"/>
              </a:lnSpc>
              <a:spcBef>
                <a:spcPts val="0"/>
              </a:spcBef>
              <a:spcAft>
                <a:spcPts val="0"/>
              </a:spcAft>
            </a:pPr>
            <a:r>
              <a:rPr sz="1425" b="1" i="0">
                <a:solidFill>
                  <a:srgbClr val="000000"/>
                </a:solidFill>
                <a:latin typeface="Open Sans"/>
              </a:rPr>
              <a:t>Know-how does not accumulate</a:t>
            </a:r>
          </a:p>
        </p:txBody>
      </p:sp>
      <p:sp>
        <p:nvSpPr>
          <p:cNvPr id="20" name="TextBox 19"/>
          <p:cNvSpPr txBox="1"/>
          <p:nvPr/>
        </p:nvSpPr>
        <p:spPr>
          <a:xfrm>
            <a:off x="4038600" y="5105400"/>
            <a:ext cx="7543800" cy="590550"/>
          </a:xfrm>
          <a:prstGeom prst="rect">
            <a:avLst/>
          </a:prstGeom>
          <a:noFill/>
        </p:spPr>
        <p:txBody>
          <a:bodyPr wrap="square" anchor="t" lIns="0" tIns="0" rIns="0" bIns="0">
            <a:noAutofit/>
          </a:bodyPr>
          <a:lstStyle/>
          <a:p>
            <a:pPr algn="l">
              <a:lnSpc>
                <a:spcPct val="145000"/>
              </a:lnSpc>
              <a:spcBef>
                <a:spcPts val="0"/>
              </a:spcBef>
              <a:spcAft>
                <a:spcPts val="0"/>
              </a:spcAft>
            </a:pPr>
            <a:r>
              <a:rPr sz="1087" b="0" i="0">
                <a:solidFill>
                  <a:srgbClr val="53565A"/>
                </a:solidFill>
                <a:latin typeface="Open Sans"/>
              </a:rPr>
              <a:t>What works lives in one person’s prompts. A new person, or a new project, starts over.</a:t>
            </a:r>
          </a:p>
        </p:txBody>
      </p:sp>
      <p:sp>
        <p:nvSpPr>
          <p:cNvPr id="21" name="TextBox 20"/>
          <p:cNvSpPr txBox="1"/>
          <p:nvPr/>
        </p:nvSpPr>
        <p:spPr>
          <a:xfrm>
            <a:off x="609600" y="6057900"/>
            <a:ext cx="10972800" cy="247650"/>
          </a:xfrm>
          <a:prstGeom prst="rect">
            <a:avLst/>
          </a:prstGeom>
          <a:noFill/>
        </p:spPr>
        <p:txBody>
          <a:bodyPr wrap="square" anchor="t" lIns="0" tIns="0" rIns="0" bIns="0">
            <a:noAutofit/>
          </a:bodyPr>
          <a:lstStyle/>
          <a:p>
            <a:pPr algn="l">
              <a:lnSpc>
                <a:spcPct val="130000"/>
              </a:lnSpc>
              <a:spcBef>
                <a:spcPts val="0"/>
              </a:spcBef>
              <a:spcAft>
                <a:spcPts val="0"/>
              </a:spcAft>
            </a:pPr>
            <a:r>
              <a:rPr sz="1087" b="0">
                <a:solidFill>
                  <a:srgbClr val="53565A"/>
                </a:solidFill>
                <a:latin typeface="Open Sans"/>
              </a:rPr>
              <a:t>None of these is a model capability problem. All four are a </a:t>
            </a:r>
            <a:r>
              <a:rPr sz="1087" b="1">
                <a:solidFill>
                  <a:srgbClr val="000000"/>
                </a:solidFill>
                <a:latin typeface="Open Sans"/>
              </a:rPr>
              <a:t>missing work system</a:t>
            </a:r>
            <a:r>
              <a:rPr sz="1087" b="0">
                <a:solidFill>
                  <a:srgbClr val="53565A"/>
                </a:solidFill>
                <a:latin typeface="Open Sans"/>
              </a:rPr>
              <a:t>.</a:t>
            </a:r>
          </a:p>
        </p:txBody>
      </p:sp>
      <p:sp>
        <p:nvSpPr>
          <p:cNvPr id="22" name="TextBox 21"/>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23" name="TextBox 22"/>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24" name="TextBox 23"/>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POSITIONING</a:t>
            </a:r>
          </a:p>
        </p:txBody>
      </p:sp>
      <p:sp>
        <p:nvSpPr>
          <p:cNvPr id="4" name="TextBox 3"/>
          <p:cNvSpPr txBox="1"/>
          <p:nvPr/>
        </p:nvSpPr>
        <p:spPr>
          <a:xfrm>
            <a:off x="609600" y="1028700"/>
            <a:ext cx="10972800" cy="434340"/>
          </a:xfrm>
          <a:prstGeom prst="rect">
            <a:avLst/>
          </a:prstGeom>
          <a:noFill/>
        </p:spPr>
        <p:txBody>
          <a:bodyPr wrap="square" anchor="t" lIns="0" tIns="0" rIns="0" bIns="0">
            <a:noAutofit/>
          </a:bodyPr>
          <a:lstStyle/>
          <a:p>
            <a:pPr algn="l">
              <a:lnSpc>
                <a:spcPct val="106000"/>
              </a:lnSpc>
              <a:spcBef>
                <a:spcPts val="0"/>
              </a:spcBef>
              <a:spcAft>
                <a:spcPts val="0"/>
              </a:spcAft>
            </a:pPr>
            <a:r>
              <a:rPr sz="2700" b="0" i="0">
                <a:solidFill>
                  <a:srgbClr val="000000"/>
                </a:solidFill>
                <a:latin typeface="Open Sans Light"/>
              </a:rPr>
              <a:t>What Enact is — and what it is not</a:t>
            </a:r>
          </a:p>
        </p:txBody>
      </p:sp>
      <p:sp>
        <p:nvSpPr>
          <p:cNvPr id="5" name="Rectangle 4"/>
          <p:cNvSpPr/>
          <p:nvPr/>
        </p:nvSpPr>
        <p:spPr>
          <a:xfrm>
            <a:off x="609600" y="1539240"/>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09600" y="2247900"/>
            <a:ext cx="8572500" cy="438150"/>
          </a:xfrm>
          <a:prstGeom prst="rect">
            <a:avLst/>
          </a:prstGeom>
          <a:noFill/>
        </p:spPr>
        <p:txBody>
          <a:bodyPr wrap="square" anchor="t" lIns="0" tIns="0" rIns="0" bIns="0">
            <a:noAutofit/>
          </a:bodyPr>
          <a:lstStyle/>
          <a:p>
            <a:pPr algn="l">
              <a:lnSpc>
                <a:spcPct val="145000"/>
              </a:lnSpc>
              <a:spcBef>
                <a:spcPts val="0"/>
              </a:spcBef>
              <a:spcAft>
                <a:spcPts val="0"/>
              </a:spcAft>
            </a:pPr>
            <a:r>
              <a:rPr sz="1200" b="0" i="0">
                <a:solidFill>
                  <a:srgbClr val="53565A"/>
                </a:solidFill>
                <a:latin typeface="Open Sans"/>
              </a:rPr>
              <a:t>Enact claims the layer between the model and the plan: the facts, accountability and evidence of enterprise work.</a:t>
            </a:r>
          </a:p>
        </p:txBody>
      </p:sp>
      <p:sp>
        <p:nvSpPr>
          <p:cNvPr id="7" name="Rectangle 6"/>
          <p:cNvSpPr/>
          <p:nvPr/>
        </p:nvSpPr>
        <p:spPr>
          <a:xfrm>
            <a:off x="609600" y="2914650"/>
            <a:ext cx="5295900" cy="38100"/>
          </a:xfrm>
          <a:prstGeom prst="rect">
            <a:avLst/>
          </a:prstGeom>
          <a:solidFill>
            <a:srgbClr val="979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Rectangle 7"/>
          <p:cNvSpPr/>
          <p:nvPr/>
        </p:nvSpPr>
        <p:spPr>
          <a:xfrm>
            <a:off x="609600" y="2952750"/>
            <a:ext cx="5295900" cy="27432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ectangle 8"/>
          <p:cNvSpPr/>
          <p:nvPr/>
        </p:nvSpPr>
        <p:spPr>
          <a:xfrm>
            <a:off x="857250" y="3143250"/>
            <a:ext cx="826770" cy="2286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5250" rIns="95250" tIns="0" bIns="0">
            <a:noAutofit/>
          </a:bodyPr>
          <a:lstStyle/>
          <a:p>
            <a:pPr algn="ctr">
              <a:lnSpc>
                <a:spcPct val="100000"/>
              </a:lnSpc>
              <a:spcBef>
                <a:spcPts val="0"/>
              </a:spcBef>
              <a:spcAft>
                <a:spcPts val="0"/>
              </a:spcAft>
            </a:pPr>
            <a:r>
              <a:rPr sz="750" b="1" i="0" spc="60">
                <a:solidFill>
                  <a:srgbClr val="53565A"/>
                </a:solidFill>
                <a:latin typeface="Open Sans"/>
              </a:rPr>
              <a:t>NOT THIS</a:t>
            </a:r>
          </a:p>
        </p:txBody>
      </p:sp>
      <p:sp>
        <p:nvSpPr>
          <p:cNvPr id="10" name="TextBox 9"/>
          <p:cNvSpPr txBox="1"/>
          <p:nvPr/>
        </p:nvSpPr>
        <p:spPr>
          <a:xfrm>
            <a:off x="857250" y="3486150"/>
            <a:ext cx="4800600" cy="457200"/>
          </a:xfrm>
          <a:prstGeom prst="rect">
            <a:avLst/>
          </a:prstGeom>
          <a:noFill/>
        </p:spPr>
        <p:txBody>
          <a:bodyPr wrap="square" anchor="t" lIns="0" tIns="0" rIns="0" bIns="0">
            <a:noAutofit/>
          </a:bodyPr>
          <a:lstStyle/>
          <a:p>
            <a:pPr algn="l">
              <a:lnSpc>
                <a:spcPct val="130000"/>
              </a:lnSpc>
              <a:spcBef>
                <a:spcPts val="0"/>
              </a:spcBef>
              <a:spcAft>
                <a:spcPts val="0"/>
              </a:spcAft>
            </a:pPr>
            <a:r>
              <a:rPr sz="1200" b="0" i="0">
                <a:solidFill>
                  <a:srgbClr val="000000"/>
                </a:solidFill>
                <a:latin typeface="Open Sans"/>
              </a:rPr>
              <a:t>Two adjacent categories Enact deliberately does not enter.</a:t>
            </a:r>
          </a:p>
        </p:txBody>
      </p:sp>
      <p:sp>
        <p:nvSpPr>
          <p:cNvPr id="11" name="Oval 10"/>
          <p:cNvSpPr/>
          <p:nvPr/>
        </p:nvSpPr>
        <p:spPr>
          <a:xfrm>
            <a:off x="866775" y="4035457"/>
            <a:ext cx="57150" cy="57150"/>
          </a:xfrm>
          <a:prstGeom prst="ellipse">
            <a:avLst/>
          </a:prstGeom>
          <a:solidFill>
            <a:srgbClr val="979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019175" y="3952875"/>
            <a:ext cx="4638675" cy="423386"/>
          </a:xfrm>
          <a:prstGeom prst="rect">
            <a:avLst/>
          </a:prstGeom>
          <a:noFill/>
        </p:spPr>
        <p:txBody>
          <a:bodyPr wrap="square" anchor="t" lIns="0" tIns="0" rIns="0" bIns="0">
            <a:noAutofit/>
          </a:bodyPr>
          <a:lstStyle/>
          <a:p>
            <a:pPr algn="l">
              <a:lnSpc>
                <a:spcPct val="135000"/>
              </a:lnSpc>
              <a:spcBef>
                <a:spcPts val="0"/>
              </a:spcBef>
              <a:spcAft>
                <a:spcPts val="0"/>
              </a:spcAft>
            </a:pPr>
            <a:r>
              <a:rPr sz="1012" b="0" i="0">
                <a:solidFill>
                  <a:srgbClr val="53565A"/>
                </a:solidFill>
                <a:latin typeface="Open Sans"/>
              </a:rPr>
              <a:t>No in-house model and no in-house coding agent — reasoning is rented from external runtimes</a:t>
            </a:r>
          </a:p>
        </p:txBody>
      </p:sp>
      <p:sp>
        <p:nvSpPr>
          <p:cNvPr id="13" name="Oval 12"/>
          <p:cNvSpPr/>
          <p:nvPr/>
        </p:nvSpPr>
        <p:spPr>
          <a:xfrm>
            <a:off x="866775" y="4477893"/>
            <a:ext cx="57150" cy="57150"/>
          </a:xfrm>
          <a:prstGeom prst="ellipse">
            <a:avLst/>
          </a:prstGeom>
          <a:solidFill>
            <a:srgbClr val="979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19175" y="4395311"/>
            <a:ext cx="4638675" cy="423386"/>
          </a:xfrm>
          <a:prstGeom prst="rect">
            <a:avLst/>
          </a:prstGeom>
          <a:noFill/>
        </p:spPr>
        <p:txBody>
          <a:bodyPr wrap="square" anchor="t" lIns="0" tIns="0" rIns="0" bIns="0">
            <a:noAutofit/>
          </a:bodyPr>
          <a:lstStyle/>
          <a:p>
            <a:pPr algn="l">
              <a:lnSpc>
                <a:spcPct val="135000"/>
              </a:lnSpc>
              <a:spcBef>
                <a:spcPts val="0"/>
              </a:spcBef>
              <a:spcAft>
                <a:spcPts val="0"/>
              </a:spcAft>
            </a:pPr>
            <a:r>
              <a:rPr sz="1012" b="0" i="0">
                <a:solidFill>
                  <a:srgbClr val="53565A"/>
                </a:solidFill>
                <a:latin typeface="Open Sans"/>
              </a:rPr>
              <a:t>Not another plan-of-record tool — the board is one projection, not the only entry point</a:t>
            </a:r>
          </a:p>
        </p:txBody>
      </p:sp>
      <p:sp>
        <p:nvSpPr>
          <p:cNvPr id="15" name="Oval 14"/>
          <p:cNvSpPr/>
          <p:nvPr/>
        </p:nvSpPr>
        <p:spPr>
          <a:xfrm>
            <a:off x="866775" y="4920329"/>
            <a:ext cx="57150" cy="57150"/>
          </a:xfrm>
          <a:prstGeom prst="ellipse">
            <a:avLst/>
          </a:prstGeom>
          <a:solidFill>
            <a:srgbClr val="979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019175" y="4837747"/>
            <a:ext cx="4638675" cy="249793"/>
          </a:xfrm>
          <a:prstGeom prst="rect">
            <a:avLst/>
          </a:prstGeom>
          <a:noFill/>
        </p:spPr>
        <p:txBody>
          <a:bodyPr wrap="square" anchor="t" lIns="0" tIns="0" rIns="0" bIns="0">
            <a:noAutofit/>
          </a:bodyPr>
          <a:lstStyle/>
          <a:p>
            <a:pPr algn="l">
              <a:lnSpc>
                <a:spcPct val="135000"/>
              </a:lnSpc>
              <a:spcBef>
                <a:spcPts val="0"/>
              </a:spcBef>
              <a:spcAft>
                <a:spcPts val="0"/>
              </a:spcAft>
            </a:pPr>
            <a:r>
              <a:rPr sz="1012" b="0" i="0">
                <a:solidFill>
                  <a:srgbClr val="53565A"/>
                </a:solidFill>
                <a:latin typeface="Open Sans"/>
              </a:rPr>
              <a:t>No promise of a filesystem sandbox it cannot actually enforce</a:t>
            </a:r>
          </a:p>
        </p:txBody>
      </p:sp>
      <p:sp>
        <p:nvSpPr>
          <p:cNvPr id="17" name="Rectangle 16"/>
          <p:cNvSpPr/>
          <p:nvPr/>
        </p:nvSpPr>
        <p:spPr>
          <a:xfrm>
            <a:off x="857250" y="5295900"/>
            <a:ext cx="48006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57250" y="5391150"/>
            <a:ext cx="4800600" cy="209550"/>
          </a:xfrm>
          <a:prstGeom prst="rect">
            <a:avLst/>
          </a:prstGeom>
          <a:noFill/>
        </p:spPr>
        <p:txBody>
          <a:bodyPr wrap="square" anchor="t" lIns="0" tIns="0" rIns="0" bIns="0">
            <a:noAutofit/>
          </a:bodyPr>
          <a:lstStyle/>
          <a:p>
            <a:pPr algn="l">
              <a:lnSpc>
                <a:spcPct val="120000"/>
              </a:lnSpc>
              <a:spcBef>
                <a:spcPts val="0"/>
              </a:spcBef>
              <a:spcAft>
                <a:spcPts val="0"/>
              </a:spcAft>
            </a:pPr>
            <a:r>
              <a:rPr sz="937" b="0" i="0">
                <a:solidFill>
                  <a:srgbClr val="75787B"/>
                </a:solidFill>
                <a:latin typeface="Open Sans"/>
              </a:rPr>
              <a:t>The model layer is commoditising fast.</a:t>
            </a:r>
          </a:p>
        </p:txBody>
      </p:sp>
      <p:sp>
        <p:nvSpPr>
          <p:cNvPr id="19" name="Rectangle 18"/>
          <p:cNvSpPr/>
          <p:nvPr/>
        </p:nvSpPr>
        <p:spPr>
          <a:xfrm>
            <a:off x="6286500" y="2914650"/>
            <a:ext cx="52959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6286500" y="2952750"/>
            <a:ext cx="5295900" cy="27432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ectangle 20"/>
          <p:cNvSpPr/>
          <p:nvPr/>
        </p:nvSpPr>
        <p:spPr>
          <a:xfrm>
            <a:off x="6534150" y="3143250"/>
            <a:ext cx="537210" cy="228600"/>
          </a:xfrm>
          <a:prstGeom prst="rect">
            <a:avLst/>
          </a:prstGeom>
          <a:solidFill>
            <a:srgbClr val="E3F0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5250" rIns="95250" tIns="0" bIns="0">
            <a:noAutofit/>
          </a:bodyPr>
          <a:lstStyle/>
          <a:p>
            <a:pPr algn="ctr">
              <a:lnSpc>
                <a:spcPct val="100000"/>
              </a:lnSpc>
              <a:spcBef>
                <a:spcPts val="0"/>
              </a:spcBef>
              <a:spcAft>
                <a:spcPts val="0"/>
              </a:spcAft>
            </a:pPr>
            <a:r>
              <a:rPr sz="750" b="1" i="0" spc="60">
                <a:solidFill>
                  <a:srgbClr val="046A38"/>
                </a:solidFill>
                <a:latin typeface="Open Sans"/>
              </a:rPr>
              <a:t>THIS</a:t>
            </a:r>
          </a:p>
        </p:txBody>
      </p:sp>
      <p:sp>
        <p:nvSpPr>
          <p:cNvPr id="22" name="TextBox 21"/>
          <p:cNvSpPr txBox="1"/>
          <p:nvPr/>
        </p:nvSpPr>
        <p:spPr>
          <a:xfrm>
            <a:off x="6534150" y="3486150"/>
            <a:ext cx="4800600" cy="457200"/>
          </a:xfrm>
          <a:prstGeom prst="rect">
            <a:avLst/>
          </a:prstGeom>
          <a:noFill/>
        </p:spPr>
        <p:txBody>
          <a:bodyPr wrap="square" anchor="t" lIns="0" tIns="0" rIns="0" bIns="0">
            <a:noAutofit/>
          </a:bodyPr>
          <a:lstStyle/>
          <a:p>
            <a:pPr algn="l">
              <a:lnSpc>
                <a:spcPct val="130000"/>
              </a:lnSpc>
              <a:spcBef>
                <a:spcPts val="0"/>
              </a:spcBef>
              <a:spcAft>
                <a:spcPts val="0"/>
              </a:spcAft>
            </a:pPr>
            <a:r>
              <a:rPr sz="1200" b="0" i="0">
                <a:solidFill>
                  <a:srgbClr val="000000"/>
                </a:solidFill>
                <a:latin typeface="Open Sans"/>
              </a:rPr>
              <a:t>The layer that gets more valuable as general agents get stronger.</a:t>
            </a:r>
          </a:p>
        </p:txBody>
      </p:sp>
      <p:sp>
        <p:nvSpPr>
          <p:cNvPr id="23" name="Oval 22"/>
          <p:cNvSpPr/>
          <p:nvPr/>
        </p:nvSpPr>
        <p:spPr>
          <a:xfrm>
            <a:off x="6543675" y="4035457"/>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696075" y="3952875"/>
            <a:ext cx="4638675" cy="249793"/>
          </a:xfrm>
          <a:prstGeom prst="rect">
            <a:avLst/>
          </a:prstGeom>
          <a:noFill/>
        </p:spPr>
        <p:txBody>
          <a:bodyPr wrap="square" anchor="t" lIns="0" tIns="0" rIns="0" bIns="0">
            <a:noAutofit/>
          </a:bodyPr>
          <a:lstStyle/>
          <a:p>
            <a:pPr algn="l">
              <a:lnSpc>
                <a:spcPct val="135000"/>
              </a:lnSpc>
              <a:spcBef>
                <a:spcPts val="0"/>
              </a:spcBef>
              <a:spcAft>
                <a:spcPts val="0"/>
              </a:spcAft>
            </a:pPr>
            <a:r>
              <a:rPr sz="1012" b="0" i="0">
                <a:solidFill>
                  <a:srgbClr val="53565A"/>
                </a:solidFill>
                <a:latin typeface="Open Sans"/>
              </a:rPr>
              <a:t>Agents as first-class assignees with identity, charter and visibility scope</a:t>
            </a:r>
          </a:p>
        </p:txBody>
      </p:sp>
      <p:sp>
        <p:nvSpPr>
          <p:cNvPr id="25" name="Oval 24"/>
          <p:cNvSpPr/>
          <p:nvPr/>
        </p:nvSpPr>
        <p:spPr>
          <a:xfrm>
            <a:off x="6543675" y="4304300"/>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696075" y="4221718"/>
            <a:ext cx="4638675" cy="249793"/>
          </a:xfrm>
          <a:prstGeom prst="rect">
            <a:avLst/>
          </a:prstGeom>
          <a:noFill/>
        </p:spPr>
        <p:txBody>
          <a:bodyPr wrap="square" anchor="t" lIns="0" tIns="0" rIns="0" bIns="0">
            <a:noAutofit/>
          </a:bodyPr>
          <a:lstStyle/>
          <a:p>
            <a:pPr algn="l">
              <a:lnSpc>
                <a:spcPct val="135000"/>
              </a:lnSpc>
              <a:spcBef>
                <a:spcPts val="0"/>
              </a:spcBef>
              <a:spcAft>
                <a:spcPts val="0"/>
              </a:spcAft>
            </a:pPr>
            <a:r>
              <a:rPr sz="1012" b="0" i="0">
                <a:solidFill>
                  <a:srgbClr val="53565A"/>
                </a:solidFill>
                <a:latin typeface="Open Sans"/>
              </a:rPr>
              <a:t>One record, one timeline and one audit trail shared by people and agents</a:t>
            </a:r>
          </a:p>
        </p:txBody>
      </p:sp>
      <p:sp>
        <p:nvSpPr>
          <p:cNvPr id="27" name="Oval 26"/>
          <p:cNvSpPr/>
          <p:nvPr/>
        </p:nvSpPr>
        <p:spPr>
          <a:xfrm>
            <a:off x="6543675" y="4573143"/>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6696075" y="4490561"/>
            <a:ext cx="4638675" cy="249793"/>
          </a:xfrm>
          <a:prstGeom prst="rect">
            <a:avLst/>
          </a:prstGeom>
          <a:noFill/>
        </p:spPr>
        <p:txBody>
          <a:bodyPr wrap="square" anchor="t" lIns="0" tIns="0" rIns="0" bIns="0">
            <a:noAutofit/>
          </a:bodyPr>
          <a:lstStyle/>
          <a:p>
            <a:pPr algn="l">
              <a:lnSpc>
                <a:spcPct val="135000"/>
              </a:lnSpc>
              <a:spcBef>
                <a:spcPts val="0"/>
              </a:spcBef>
              <a:spcAft>
                <a:spcPts val="0"/>
              </a:spcAft>
            </a:pPr>
            <a:r>
              <a:rPr sz="1012" b="0" i="0">
                <a:solidFill>
                  <a:srgbClr val="53565A"/>
                </a:solidFill>
                <a:latin typeface="Open Sans"/>
              </a:rPr>
              <a:t>Capability captured as reusable assets rather than individual prompts</a:t>
            </a:r>
          </a:p>
        </p:txBody>
      </p:sp>
      <p:sp>
        <p:nvSpPr>
          <p:cNvPr id="29" name="Rectangle 28"/>
          <p:cNvSpPr/>
          <p:nvPr/>
        </p:nvSpPr>
        <p:spPr>
          <a:xfrm>
            <a:off x="6534150" y="5295900"/>
            <a:ext cx="48006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6534150" y="5391150"/>
            <a:ext cx="4800600" cy="209550"/>
          </a:xfrm>
          <a:prstGeom prst="rect">
            <a:avLst/>
          </a:prstGeom>
          <a:noFill/>
        </p:spPr>
        <p:txBody>
          <a:bodyPr wrap="square" anchor="t" lIns="0" tIns="0" rIns="0" bIns="0">
            <a:noAutofit/>
          </a:bodyPr>
          <a:lstStyle/>
          <a:p>
            <a:pPr algn="l">
              <a:lnSpc>
                <a:spcPct val="120000"/>
              </a:lnSpc>
              <a:spcBef>
                <a:spcPts val="0"/>
              </a:spcBef>
              <a:spcAft>
                <a:spcPts val="0"/>
              </a:spcAft>
            </a:pPr>
            <a:r>
              <a:rPr sz="937" b="0" i="0">
                <a:solidFill>
                  <a:srgbClr val="75787B"/>
                </a:solidFill>
                <a:latin typeface="Open Sans"/>
              </a:rPr>
              <a:t>23 supported agent CLI protocol families.</a:t>
            </a:r>
          </a:p>
        </p:txBody>
      </p:sp>
      <p:sp>
        <p:nvSpPr>
          <p:cNvPr id="31" name="TextBox 30"/>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32" name="TextBox 31"/>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33" name="TextBox 32"/>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DESIGN CONSTRAINTS</a:t>
            </a:r>
          </a:p>
        </p:txBody>
      </p:sp>
      <p:sp>
        <p:nvSpPr>
          <p:cNvPr id="4" name="TextBox 3"/>
          <p:cNvSpPr txBox="1"/>
          <p:nvPr/>
        </p:nvSpPr>
        <p:spPr>
          <a:xfrm>
            <a:off x="609600" y="1028700"/>
            <a:ext cx="10972800" cy="434340"/>
          </a:xfrm>
          <a:prstGeom prst="rect">
            <a:avLst/>
          </a:prstGeom>
          <a:noFill/>
        </p:spPr>
        <p:txBody>
          <a:bodyPr wrap="square" anchor="t" lIns="0" tIns="0" rIns="0" bIns="0">
            <a:noAutofit/>
          </a:bodyPr>
          <a:lstStyle/>
          <a:p>
            <a:pPr algn="l">
              <a:lnSpc>
                <a:spcPct val="106000"/>
              </a:lnSpc>
              <a:spcBef>
                <a:spcPts val="0"/>
              </a:spcBef>
              <a:spcAft>
                <a:spcPts val="0"/>
              </a:spcAft>
            </a:pPr>
            <a:r>
              <a:rPr sz="2700" b="0" i="0">
                <a:solidFill>
                  <a:srgbClr val="000000"/>
                </a:solidFill>
                <a:latin typeface="Open Sans Light"/>
              </a:rPr>
              <a:t>Eight architecture principles</a:t>
            </a:r>
          </a:p>
        </p:txBody>
      </p:sp>
      <p:sp>
        <p:nvSpPr>
          <p:cNvPr id="5" name="Rectangle 4"/>
          <p:cNvSpPr/>
          <p:nvPr/>
        </p:nvSpPr>
        <p:spPr>
          <a:xfrm>
            <a:off x="609600" y="1539240"/>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Rectangle 5"/>
          <p:cNvSpPr/>
          <p:nvPr/>
        </p:nvSpPr>
        <p:spPr>
          <a:xfrm>
            <a:off x="609600" y="2286000"/>
            <a:ext cx="25527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Rectangle 6"/>
          <p:cNvSpPr/>
          <p:nvPr/>
        </p:nvSpPr>
        <p:spPr>
          <a:xfrm>
            <a:off x="609600" y="2324100"/>
            <a:ext cx="2552700" cy="14097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800100" y="2476500"/>
            <a:ext cx="381000" cy="24765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01</a:t>
            </a:r>
          </a:p>
        </p:txBody>
      </p:sp>
      <p:sp>
        <p:nvSpPr>
          <p:cNvPr id="9" name="TextBox 8"/>
          <p:cNvSpPr txBox="1"/>
          <p:nvPr/>
        </p:nvSpPr>
        <p:spPr>
          <a:xfrm>
            <a:off x="800100" y="2743200"/>
            <a:ext cx="2171700" cy="533400"/>
          </a:xfrm>
          <a:prstGeom prst="rect">
            <a:avLst/>
          </a:prstGeom>
          <a:noFill/>
        </p:spPr>
        <p:txBody>
          <a:bodyPr wrap="square" anchor="t" lIns="0" tIns="0" rIns="0" bIns="0">
            <a:noAutofit/>
          </a:bodyPr>
          <a:lstStyle/>
          <a:p>
            <a:pPr algn="l">
              <a:lnSpc>
                <a:spcPct val="125000"/>
              </a:lnSpc>
              <a:spcBef>
                <a:spcPts val="0"/>
              </a:spcBef>
              <a:spcAft>
                <a:spcPts val="0"/>
              </a:spcAft>
            </a:pPr>
            <a:r>
              <a:rPr sz="1162" b="1" i="0">
                <a:solidFill>
                  <a:srgbClr val="000000"/>
                </a:solidFill>
                <a:latin typeface="Open Sans"/>
              </a:rPr>
              <a:t>Agents are first-class assignees</a:t>
            </a:r>
          </a:p>
        </p:txBody>
      </p:sp>
      <p:sp>
        <p:nvSpPr>
          <p:cNvPr id="10" name="TextBox 9"/>
          <p:cNvSpPr txBox="1"/>
          <p:nvPr/>
        </p:nvSpPr>
        <p:spPr>
          <a:xfrm>
            <a:off x="800100" y="3276600"/>
            <a:ext cx="2171700" cy="381000"/>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Assignable, accountable, able to move status.</a:t>
            </a:r>
          </a:p>
        </p:txBody>
      </p:sp>
      <p:sp>
        <p:nvSpPr>
          <p:cNvPr id="11" name="Rectangle 10"/>
          <p:cNvSpPr/>
          <p:nvPr/>
        </p:nvSpPr>
        <p:spPr>
          <a:xfrm>
            <a:off x="3314700" y="2286000"/>
            <a:ext cx="25527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ectangle 11"/>
          <p:cNvSpPr/>
          <p:nvPr/>
        </p:nvSpPr>
        <p:spPr>
          <a:xfrm>
            <a:off x="3314700" y="2324100"/>
            <a:ext cx="2552700" cy="14097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3505200" y="2476500"/>
            <a:ext cx="381000" cy="24765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02</a:t>
            </a:r>
          </a:p>
        </p:txBody>
      </p:sp>
      <p:sp>
        <p:nvSpPr>
          <p:cNvPr id="14" name="TextBox 13"/>
          <p:cNvSpPr txBox="1"/>
          <p:nvPr/>
        </p:nvSpPr>
        <p:spPr>
          <a:xfrm>
            <a:off x="3505200" y="2743200"/>
            <a:ext cx="2171700" cy="533400"/>
          </a:xfrm>
          <a:prstGeom prst="rect">
            <a:avLst/>
          </a:prstGeom>
          <a:noFill/>
        </p:spPr>
        <p:txBody>
          <a:bodyPr wrap="square" anchor="t" lIns="0" tIns="0" rIns="0" bIns="0">
            <a:noAutofit/>
          </a:bodyPr>
          <a:lstStyle/>
          <a:p>
            <a:pPr algn="l">
              <a:lnSpc>
                <a:spcPct val="125000"/>
              </a:lnSpc>
              <a:spcBef>
                <a:spcPts val="0"/>
              </a:spcBef>
              <a:spcAft>
                <a:spcPts val="0"/>
              </a:spcAft>
            </a:pPr>
            <a:r>
              <a:rPr sz="1162" b="1" i="0">
                <a:solidFill>
                  <a:srgbClr val="000000"/>
                </a:solidFill>
                <a:latin typeface="Open Sans"/>
              </a:rPr>
              <a:t>Identity is separate from compute</a:t>
            </a:r>
          </a:p>
        </p:txBody>
      </p:sp>
      <p:sp>
        <p:nvSpPr>
          <p:cNvPr id="15" name="TextBox 14"/>
          <p:cNvSpPr txBox="1"/>
          <p:nvPr/>
        </p:nvSpPr>
        <p:spPr>
          <a:xfrm>
            <a:off x="3505200" y="3276600"/>
            <a:ext cx="2171700" cy="381000"/>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The agent is who; the runtime is where.</a:t>
            </a:r>
          </a:p>
        </p:txBody>
      </p:sp>
      <p:sp>
        <p:nvSpPr>
          <p:cNvPr id="16" name="Rectangle 15"/>
          <p:cNvSpPr/>
          <p:nvPr/>
        </p:nvSpPr>
        <p:spPr>
          <a:xfrm>
            <a:off x="6019800" y="2286000"/>
            <a:ext cx="25527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ectangle 16"/>
          <p:cNvSpPr/>
          <p:nvPr/>
        </p:nvSpPr>
        <p:spPr>
          <a:xfrm>
            <a:off x="6019800" y="2324100"/>
            <a:ext cx="2552700" cy="14097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210300" y="2476500"/>
            <a:ext cx="381000" cy="24765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03</a:t>
            </a:r>
          </a:p>
        </p:txBody>
      </p:sp>
      <p:sp>
        <p:nvSpPr>
          <p:cNvPr id="19" name="TextBox 18"/>
          <p:cNvSpPr txBox="1"/>
          <p:nvPr/>
        </p:nvSpPr>
        <p:spPr>
          <a:xfrm>
            <a:off x="6210300" y="2743200"/>
            <a:ext cx="2171700" cy="533400"/>
          </a:xfrm>
          <a:prstGeom prst="rect">
            <a:avLst/>
          </a:prstGeom>
          <a:noFill/>
        </p:spPr>
        <p:txBody>
          <a:bodyPr wrap="square" anchor="t" lIns="0" tIns="0" rIns="0" bIns="0">
            <a:noAutofit/>
          </a:bodyPr>
          <a:lstStyle/>
          <a:p>
            <a:pPr algn="l">
              <a:lnSpc>
                <a:spcPct val="125000"/>
              </a:lnSpc>
              <a:spcBef>
                <a:spcPts val="0"/>
              </a:spcBef>
              <a:spcAft>
                <a:spcPts val="0"/>
              </a:spcAft>
            </a:pPr>
            <a:r>
              <a:rPr sz="1162" b="1" i="0">
                <a:solidFill>
                  <a:srgbClr val="000000"/>
                </a:solidFill>
                <a:latin typeface="Open Sans"/>
              </a:rPr>
              <a:t>The data boundary is fixed</a:t>
            </a:r>
          </a:p>
        </p:txBody>
      </p:sp>
      <p:sp>
        <p:nvSpPr>
          <p:cNvPr id="20" name="TextBox 19"/>
          <p:cNvSpPr txBox="1"/>
          <p:nvPr/>
        </p:nvSpPr>
        <p:spPr>
          <a:xfrm>
            <a:off x="6210300" y="3276600"/>
            <a:ext cx="2171700" cy="381000"/>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Identical on cloud and self-hosted.</a:t>
            </a:r>
          </a:p>
        </p:txBody>
      </p:sp>
      <p:sp>
        <p:nvSpPr>
          <p:cNvPr id="21" name="Rectangle 20"/>
          <p:cNvSpPr/>
          <p:nvPr/>
        </p:nvSpPr>
        <p:spPr>
          <a:xfrm>
            <a:off x="8724900" y="2286000"/>
            <a:ext cx="25527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Rectangle 21"/>
          <p:cNvSpPr/>
          <p:nvPr/>
        </p:nvSpPr>
        <p:spPr>
          <a:xfrm>
            <a:off x="8724900" y="2324100"/>
            <a:ext cx="2552700" cy="14097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8915400" y="2476500"/>
            <a:ext cx="381000" cy="24765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04</a:t>
            </a:r>
          </a:p>
        </p:txBody>
      </p:sp>
      <p:sp>
        <p:nvSpPr>
          <p:cNvPr id="24" name="TextBox 23"/>
          <p:cNvSpPr txBox="1"/>
          <p:nvPr/>
        </p:nvSpPr>
        <p:spPr>
          <a:xfrm>
            <a:off x="8915400" y="2743200"/>
            <a:ext cx="2171700" cy="533400"/>
          </a:xfrm>
          <a:prstGeom prst="rect">
            <a:avLst/>
          </a:prstGeom>
          <a:noFill/>
        </p:spPr>
        <p:txBody>
          <a:bodyPr wrap="square" anchor="t" lIns="0" tIns="0" rIns="0" bIns="0">
            <a:noAutofit/>
          </a:bodyPr>
          <a:lstStyle/>
          <a:p>
            <a:pPr algn="l">
              <a:lnSpc>
                <a:spcPct val="125000"/>
              </a:lnSpc>
              <a:spcBef>
                <a:spcPts val="0"/>
              </a:spcBef>
              <a:spcAft>
                <a:spcPts val="0"/>
              </a:spcAft>
            </a:pPr>
            <a:r>
              <a:rPr sz="1162" b="1" i="0">
                <a:solidFill>
                  <a:srgbClr val="000000"/>
                </a:solidFill>
                <a:latin typeface="Open Sans"/>
              </a:rPr>
              <a:t>Humans authorise the gates</a:t>
            </a:r>
          </a:p>
        </p:txBody>
      </p:sp>
      <p:sp>
        <p:nvSpPr>
          <p:cNvPr id="25" name="TextBox 24"/>
          <p:cNvSpPr txBox="1"/>
          <p:nvPr/>
        </p:nvSpPr>
        <p:spPr>
          <a:xfrm>
            <a:off x="8915400" y="3276600"/>
            <a:ext cx="2171700" cy="381000"/>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A model may never declare a gate passed.</a:t>
            </a:r>
          </a:p>
        </p:txBody>
      </p:sp>
      <p:sp>
        <p:nvSpPr>
          <p:cNvPr id="26" name="Rectangle 25"/>
          <p:cNvSpPr/>
          <p:nvPr/>
        </p:nvSpPr>
        <p:spPr>
          <a:xfrm>
            <a:off x="609600" y="3924300"/>
            <a:ext cx="2552700" cy="3810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609600" y="3962400"/>
            <a:ext cx="2552700" cy="14097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800100" y="4114800"/>
            <a:ext cx="381000" cy="24765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05</a:t>
            </a:r>
          </a:p>
        </p:txBody>
      </p:sp>
      <p:sp>
        <p:nvSpPr>
          <p:cNvPr id="29" name="TextBox 28"/>
          <p:cNvSpPr txBox="1"/>
          <p:nvPr/>
        </p:nvSpPr>
        <p:spPr>
          <a:xfrm>
            <a:off x="800100" y="4381500"/>
            <a:ext cx="2171700" cy="533400"/>
          </a:xfrm>
          <a:prstGeom prst="rect">
            <a:avLst/>
          </a:prstGeom>
          <a:noFill/>
        </p:spPr>
        <p:txBody>
          <a:bodyPr wrap="square" anchor="t" lIns="0" tIns="0" rIns="0" bIns="0">
            <a:noAutofit/>
          </a:bodyPr>
          <a:lstStyle/>
          <a:p>
            <a:pPr algn="l">
              <a:lnSpc>
                <a:spcPct val="125000"/>
              </a:lnSpc>
              <a:spcBef>
                <a:spcPts val="0"/>
              </a:spcBef>
              <a:spcAft>
                <a:spcPts val="0"/>
              </a:spcAft>
            </a:pPr>
            <a:r>
              <a:rPr sz="1162" b="1" i="0">
                <a:solidFill>
                  <a:srgbClr val="000000"/>
                </a:solidFill>
                <a:latin typeface="Open Sans"/>
              </a:rPr>
              <a:t>Server and client state stay apart</a:t>
            </a:r>
          </a:p>
        </p:txBody>
      </p:sp>
      <p:sp>
        <p:nvSpPr>
          <p:cNvPr id="30" name="TextBox 29"/>
          <p:cNvSpPr txBox="1"/>
          <p:nvPr/>
        </p:nvSpPr>
        <p:spPr>
          <a:xfrm>
            <a:off x="800100" y="4914900"/>
            <a:ext cx="2171700" cy="381000"/>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One source of truth per class of state.</a:t>
            </a:r>
          </a:p>
        </p:txBody>
      </p:sp>
      <p:sp>
        <p:nvSpPr>
          <p:cNvPr id="31" name="Rectangle 30"/>
          <p:cNvSpPr/>
          <p:nvPr/>
        </p:nvSpPr>
        <p:spPr>
          <a:xfrm>
            <a:off x="3314700" y="3924300"/>
            <a:ext cx="2552700" cy="3810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ectangle 31"/>
          <p:cNvSpPr/>
          <p:nvPr/>
        </p:nvSpPr>
        <p:spPr>
          <a:xfrm>
            <a:off x="3314700" y="3962400"/>
            <a:ext cx="2552700" cy="14097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TextBox 32"/>
          <p:cNvSpPr txBox="1"/>
          <p:nvPr/>
        </p:nvSpPr>
        <p:spPr>
          <a:xfrm>
            <a:off x="3505200" y="4114800"/>
            <a:ext cx="381000" cy="24765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06</a:t>
            </a:r>
          </a:p>
        </p:txBody>
      </p:sp>
      <p:sp>
        <p:nvSpPr>
          <p:cNvPr id="34" name="TextBox 33"/>
          <p:cNvSpPr txBox="1"/>
          <p:nvPr/>
        </p:nvSpPr>
        <p:spPr>
          <a:xfrm>
            <a:off x="3505200" y="4381500"/>
            <a:ext cx="2171700" cy="533400"/>
          </a:xfrm>
          <a:prstGeom prst="rect">
            <a:avLst/>
          </a:prstGeom>
          <a:noFill/>
        </p:spPr>
        <p:txBody>
          <a:bodyPr wrap="square" anchor="t" lIns="0" tIns="0" rIns="0" bIns="0">
            <a:noAutofit/>
          </a:bodyPr>
          <a:lstStyle/>
          <a:p>
            <a:pPr algn="l">
              <a:lnSpc>
                <a:spcPct val="125000"/>
              </a:lnSpc>
              <a:spcBef>
                <a:spcPts val="0"/>
              </a:spcBef>
              <a:spcAft>
                <a:spcPts val="0"/>
              </a:spcAft>
            </a:pPr>
            <a:r>
              <a:rPr sz="1162" b="1" i="0">
                <a:solidFill>
                  <a:srgbClr val="000000"/>
                </a:solidFill>
                <a:latin typeface="Open Sans"/>
              </a:rPr>
              <a:t>Every run leaves evidence</a:t>
            </a:r>
          </a:p>
        </p:txBody>
      </p:sp>
      <p:sp>
        <p:nvSpPr>
          <p:cNvPr id="35" name="TextBox 34"/>
          <p:cNvSpPr txBox="1"/>
          <p:nvPr/>
        </p:nvSpPr>
        <p:spPr>
          <a:xfrm>
            <a:off x="3505200" y="4914900"/>
            <a:ext cx="2171700" cy="381000"/>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An accountable person and a full record.</a:t>
            </a:r>
          </a:p>
        </p:txBody>
      </p:sp>
      <p:sp>
        <p:nvSpPr>
          <p:cNvPr id="36" name="Rectangle 35"/>
          <p:cNvSpPr/>
          <p:nvPr/>
        </p:nvSpPr>
        <p:spPr>
          <a:xfrm>
            <a:off x="6019800" y="3924300"/>
            <a:ext cx="2552700" cy="3810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7" name="Rectangle 36"/>
          <p:cNvSpPr/>
          <p:nvPr/>
        </p:nvSpPr>
        <p:spPr>
          <a:xfrm>
            <a:off x="6019800" y="3962400"/>
            <a:ext cx="2552700" cy="14097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TextBox 37"/>
          <p:cNvSpPr txBox="1"/>
          <p:nvPr/>
        </p:nvSpPr>
        <p:spPr>
          <a:xfrm>
            <a:off x="6210300" y="4114800"/>
            <a:ext cx="381000" cy="24765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07</a:t>
            </a:r>
          </a:p>
        </p:txBody>
      </p:sp>
      <p:sp>
        <p:nvSpPr>
          <p:cNvPr id="39" name="TextBox 38"/>
          <p:cNvSpPr txBox="1"/>
          <p:nvPr/>
        </p:nvSpPr>
        <p:spPr>
          <a:xfrm>
            <a:off x="6210300" y="4381500"/>
            <a:ext cx="2171700" cy="533400"/>
          </a:xfrm>
          <a:prstGeom prst="rect">
            <a:avLst/>
          </a:prstGeom>
          <a:noFill/>
        </p:spPr>
        <p:txBody>
          <a:bodyPr wrap="square" anchor="t" lIns="0" tIns="0" rIns="0" bIns="0">
            <a:noAutofit/>
          </a:bodyPr>
          <a:lstStyle/>
          <a:p>
            <a:pPr algn="l">
              <a:lnSpc>
                <a:spcPct val="125000"/>
              </a:lnSpc>
              <a:spcBef>
                <a:spcPts val="0"/>
              </a:spcBef>
              <a:spcAft>
                <a:spcPts val="0"/>
              </a:spcAft>
            </a:pPr>
            <a:r>
              <a:rPr sz="1162" b="1" i="0">
                <a:solidFill>
                  <a:srgbClr val="000000"/>
                </a:solidFill>
                <a:latin typeface="Open Sans"/>
              </a:rPr>
              <a:t>Extension before built-ins</a:t>
            </a:r>
          </a:p>
        </p:txBody>
      </p:sp>
      <p:sp>
        <p:nvSpPr>
          <p:cNvPr id="40" name="TextBox 39"/>
          <p:cNvSpPr txBox="1"/>
          <p:nvPr/>
        </p:nvSpPr>
        <p:spPr>
          <a:xfrm>
            <a:off x="6210300" y="4914900"/>
            <a:ext cx="2171700" cy="381000"/>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Five surfaces instead of welded-in logic.</a:t>
            </a:r>
          </a:p>
        </p:txBody>
      </p:sp>
      <p:sp>
        <p:nvSpPr>
          <p:cNvPr id="41" name="Rectangle 40"/>
          <p:cNvSpPr/>
          <p:nvPr/>
        </p:nvSpPr>
        <p:spPr>
          <a:xfrm>
            <a:off x="8724900" y="3924300"/>
            <a:ext cx="2552700" cy="3810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2" name="Rectangle 41"/>
          <p:cNvSpPr/>
          <p:nvPr/>
        </p:nvSpPr>
        <p:spPr>
          <a:xfrm>
            <a:off x="8724900" y="3962400"/>
            <a:ext cx="2552700" cy="14097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TextBox 42"/>
          <p:cNvSpPr txBox="1"/>
          <p:nvPr/>
        </p:nvSpPr>
        <p:spPr>
          <a:xfrm>
            <a:off x="8915400" y="4114800"/>
            <a:ext cx="381000" cy="24765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08</a:t>
            </a:r>
          </a:p>
        </p:txBody>
      </p:sp>
      <p:sp>
        <p:nvSpPr>
          <p:cNvPr id="44" name="TextBox 43"/>
          <p:cNvSpPr txBox="1"/>
          <p:nvPr/>
        </p:nvSpPr>
        <p:spPr>
          <a:xfrm>
            <a:off x="8915400" y="4381500"/>
            <a:ext cx="2171700" cy="533400"/>
          </a:xfrm>
          <a:prstGeom prst="rect">
            <a:avLst/>
          </a:prstGeom>
          <a:noFill/>
        </p:spPr>
        <p:txBody>
          <a:bodyPr wrap="square" anchor="t" lIns="0" tIns="0" rIns="0" bIns="0">
            <a:noAutofit/>
          </a:bodyPr>
          <a:lstStyle/>
          <a:p>
            <a:pPr algn="l">
              <a:lnSpc>
                <a:spcPct val="125000"/>
              </a:lnSpc>
              <a:spcBef>
                <a:spcPts val="0"/>
              </a:spcBef>
              <a:spcAft>
                <a:spcPts val="0"/>
              </a:spcAft>
            </a:pPr>
            <a:r>
              <a:rPr sz="1162" b="1" i="0">
                <a:solidFill>
                  <a:srgbClr val="000000"/>
                </a:solidFill>
                <a:latin typeface="Open Sans"/>
              </a:rPr>
              <a:t>Optional subsystems degrade</a:t>
            </a:r>
          </a:p>
        </p:txBody>
      </p:sp>
      <p:sp>
        <p:nvSpPr>
          <p:cNvPr id="45" name="TextBox 44"/>
          <p:cNvSpPr txBox="1"/>
          <p:nvPr/>
        </p:nvSpPr>
        <p:spPr>
          <a:xfrm>
            <a:off x="8915400" y="4914900"/>
            <a:ext cx="2171700" cy="381000"/>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Local faults never escalate to outages.</a:t>
            </a:r>
          </a:p>
        </p:txBody>
      </p:sp>
      <p:sp>
        <p:nvSpPr>
          <p:cNvPr id="46" name="TextBox 45"/>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47" name="TextBox 46"/>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48" name="TextBox 47"/>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lar-panels-blue.png"/>
          <p:cNvPicPr>
            <a:picLocks noChangeAspect="1"/>
          </p:cNvPicPr>
          <p:nvPr/>
        </p:nvPicPr>
        <p:blipFill>
          <a:blip r:embed="rId2"/>
          <a:srcRect/>
          <a:stretch>
            <a:fillRect/>
          </a:stretch>
        </p:blipFill>
        <p:spPr>
          <a:xfrm>
            <a:off x="0" y="0"/>
            <a:ext cx="12192000" cy="6858000"/>
          </a:xfrm>
          <a:prstGeom prst="rect">
            <a:avLst/>
          </a:prstGeom>
        </p:spPr>
      </p:pic>
      <p:sp>
        <p:nvSpPr>
          <p:cNvPr id="3" name="Rectangle 2"/>
          <p:cNvSpPr/>
          <p:nvPr/>
        </p:nvSpPr>
        <p:spPr>
          <a:xfrm>
            <a:off x="0" y="0"/>
            <a:ext cx="12192000" cy="6858000"/>
          </a:xfrm>
          <a:prstGeom prst="rect">
            <a:avLst/>
          </a:prstGeom>
          <a:gradFill rotWithShape="1">
            <a:gsLst>
              <a:gs pos="0">
                <a:srgbClr val="005076">
                  <a:alpha val="94000"/>
                </a:srgbClr>
              </a:gs>
              <a:gs pos="100000">
                <a:srgbClr val="007CB0">
                  <a:alpha val="8000"/>
                </a:srgbClr>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 name="TextBox 3"/>
          <p:cNvSpPr txBox="1"/>
          <p:nvPr/>
        </p:nvSpPr>
        <p:spPr>
          <a:xfrm>
            <a:off x="609600" y="495300"/>
            <a:ext cx="1905000" cy="291465"/>
          </a:xfrm>
          <a:prstGeom prst="rect">
            <a:avLst/>
          </a:prstGeom>
          <a:noFill/>
        </p:spPr>
        <p:txBody>
          <a:bodyPr wrap="square" anchor="t" lIns="0" tIns="0" rIns="0" bIns="0">
            <a:noAutofit/>
          </a:bodyPr>
          <a:lstStyle/>
          <a:p>
            <a:pPr algn="l">
              <a:lnSpc>
                <a:spcPct val="100000"/>
              </a:lnSpc>
              <a:spcBef>
                <a:spcPts val="0"/>
              </a:spcBef>
              <a:spcAft>
                <a:spcPts val="0"/>
              </a:spcAft>
            </a:pPr>
            <a:r>
              <a:rPr sz="1275" b="1">
                <a:solidFill>
                  <a:srgbClr val="FFFFFF"/>
                </a:solidFill>
                <a:latin typeface="Open Sans"/>
              </a:rPr>
              <a:t>Deloitte</a:t>
            </a:r>
            <a:r>
              <a:rPr sz="1275" b="1">
                <a:solidFill>
                  <a:srgbClr val="86BC25"/>
                </a:solidFill>
                <a:latin typeface="Open Sans"/>
              </a:rPr>
              <a:t>.</a:t>
            </a:r>
          </a:p>
        </p:txBody>
      </p:sp>
      <p:sp>
        <p:nvSpPr>
          <p:cNvPr id="5" name="TextBox 4"/>
          <p:cNvSpPr txBox="1"/>
          <p:nvPr/>
        </p:nvSpPr>
        <p:spPr>
          <a:xfrm>
            <a:off x="609600" y="4305300"/>
            <a:ext cx="2857500" cy="285750"/>
          </a:xfrm>
          <a:prstGeom prst="rect">
            <a:avLst/>
          </a:prstGeom>
          <a:noFill/>
        </p:spPr>
        <p:txBody>
          <a:bodyPr wrap="square" anchor="t" lIns="0" tIns="0" rIns="0" bIns="0">
            <a:noAutofit/>
          </a:bodyPr>
          <a:lstStyle/>
          <a:p>
            <a:pPr algn="l">
              <a:lnSpc>
                <a:spcPct val="100000"/>
              </a:lnSpc>
              <a:spcBef>
                <a:spcPts val="0"/>
              </a:spcBef>
              <a:spcAft>
                <a:spcPts val="0"/>
              </a:spcAft>
            </a:pPr>
            <a:r>
              <a:rPr sz="1275" b="1" i="0" spc="100">
                <a:solidFill>
                  <a:srgbClr val="DDE8D4"/>
                </a:solidFill>
                <a:latin typeface="Consolas"/>
              </a:rPr>
              <a:t>02 / 04</a:t>
            </a:r>
          </a:p>
        </p:txBody>
      </p:sp>
      <p:sp>
        <p:nvSpPr>
          <p:cNvPr id="6" name="TextBox 5"/>
          <p:cNvSpPr txBox="1"/>
          <p:nvPr/>
        </p:nvSpPr>
        <p:spPr>
          <a:xfrm>
            <a:off x="609600" y="4629150"/>
            <a:ext cx="3810000" cy="22860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FFFFFF"/>
                </a:solidFill>
                <a:latin typeface="Open Sans"/>
              </a:rPr>
              <a:t>BUSINESS ARCHITECTURE</a:t>
            </a:r>
          </a:p>
        </p:txBody>
      </p:sp>
      <p:sp>
        <p:nvSpPr>
          <p:cNvPr id="7" name="TextBox 6"/>
          <p:cNvSpPr txBox="1"/>
          <p:nvPr/>
        </p:nvSpPr>
        <p:spPr>
          <a:xfrm>
            <a:off x="609600" y="4895850"/>
            <a:ext cx="7620000" cy="1249680"/>
          </a:xfrm>
          <a:prstGeom prst="rect">
            <a:avLst/>
          </a:prstGeom>
          <a:noFill/>
        </p:spPr>
        <p:txBody>
          <a:bodyPr wrap="square" anchor="t" lIns="0" tIns="0" rIns="0" bIns="0">
            <a:noAutofit/>
          </a:bodyPr>
          <a:lstStyle/>
          <a:p>
            <a:pPr algn="l">
              <a:lnSpc>
                <a:spcPct val="105000"/>
              </a:lnSpc>
              <a:spcBef>
                <a:spcPts val="0"/>
              </a:spcBef>
              <a:spcAft>
                <a:spcPts val="0"/>
              </a:spcAft>
            </a:pPr>
            <a:r>
              <a:rPr sz="3900" b="0" i="0">
                <a:solidFill>
                  <a:srgbClr val="FFFFFF"/>
                </a:solidFill>
                <a:latin typeface="Open Sans Light"/>
              </a:rPr>
              <a:t>What the platform does,</a:t>
            </a:r>
          </a:p>
          <a:p>
            <a:pPr>
              <a:lnSpc>
                <a:spcPct val="105000"/>
              </a:lnSpc>
              <a:spcBef>
                <a:spcPts val="0"/>
              </a:spcBef>
              <a:spcAft>
                <a:spcPts val="0"/>
              </a:spcAft>
            </a:pPr>
            <a:r>
              <a:rPr sz="3900" b="0" i="0">
                <a:solidFill>
                  <a:srgbClr val="FFFFFF"/>
                </a:solidFill>
                <a:latin typeface="Open Sans Light"/>
              </a:rPr>
              <a:t>and who is accountable</a:t>
            </a:r>
          </a:p>
        </p:txBody>
      </p:sp>
      <p:sp>
        <p:nvSpPr>
          <p:cNvPr id="8" name="Rectangle 7"/>
          <p:cNvSpPr/>
          <p:nvPr/>
        </p:nvSpPr>
        <p:spPr>
          <a:xfrm>
            <a:off x="609600" y="6221730"/>
            <a:ext cx="685800" cy="47625"/>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9A9A9A"/>
                </a:solidFill>
                <a:latin typeface="Open Sans"/>
              </a:rPr>
              <a:t>Information Classification: Confidential</a:t>
            </a:r>
          </a:p>
        </p:txBody>
      </p:sp>
      <p:sp>
        <p:nvSpPr>
          <p:cNvPr id="10" name="TextBox 9"/>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9A9A9A"/>
                </a:solidFill>
                <a:latin typeface="Open Sans"/>
              </a:rPr>
              <a:t>© 2026 Deloitte. For internal use only.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Rectangle 2"/>
          <p:cNvSpPr/>
          <p:nvPr/>
        </p:nvSpPr>
        <p:spPr>
          <a:xfrm>
            <a:off x="457200" y="484822"/>
            <a:ext cx="119063" cy="119063"/>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 name="TextBox 3"/>
          <p:cNvSpPr txBox="1"/>
          <p:nvPr/>
        </p:nvSpPr>
        <p:spPr>
          <a:xfrm>
            <a:off x="695325" y="361950"/>
            <a:ext cx="7858125" cy="419100"/>
          </a:xfrm>
          <a:prstGeom prst="rect">
            <a:avLst/>
          </a:prstGeom>
          <a:noFill/>
        </p:spPr>
        <p:txBody>
          <a:bodyPr wrap="square" anchor="ctr" lIns="0" tIns="0" rIns="0" bIns="0">
            <a:noAutofit/>
          </a:bodyPr>
          <a:lstStyle/>
          <a:p>
            <a:pPr algn="l">
              <a:lnSpc>
                <a:spcPct val="110000"/>
              </a:lnSpc>
              <a:spcBef>
                <a:spcPts val="0"/>
              </a:spcBef>
              <a:spcAft>
                <a:spcPts val="0"/>
              </a:spcAft>
            </a:pPr>
            <a:r>
              <a:rPr sz="2400" b="1" i="0">
                <a:solidFill>
                  <a:srgbClr val="1A1A1A"/>
                </a:solidFill>
                <a:latin typeface="Arial"/>
              </a:rPr>
              <a:t>Business Architecture</a:t>
            </a:r>
          </a:p>
        </p:txBody>
      </p:sp>
      <p:sp>
        <p:nvSpPr>
          <p:cNvPr id="5" name="TextBox 4"/>
          <p:cNvSpPr txBox="1"/>
          <p:nvPr/>
        </p:nvSpPr>
        <p:spPr>
          <a:xfrm>
            <a:off x="7162800" y="361950"/>
            <a:ext cx="4572000" cy="419100"/>
          </a:xfrm>
          <a:prstGeom prst="rect">
            <a:avLst/>
          </a:prstGeom>
          <a:noFill/>
        </p:spPr>
        <p:txBody>
          <a:bodyPr wrap="square" anchor="ctr" lIns="0" tIns="0" rIns="0" bIns="0">
            <a:noAutofit/>
          </a:bodyPr>
          <a:lstStyle/>
          <a:p>
            <a:pPr algn="r">
              <a:lnSpc>
                <a:spcPct val="110000"/>
              </a:lnSpc>
              <a:spcBef>
                <a:spcPts val="0"/>
              </a:spcBef>
              <a:spcAft>
                <a:spcPts val="0"/>
              </a:spcAft>
            </a:pPr>
            <a:r>
              <a:rPr sz="1000" b="0" i="0">
                <a:solidFill>
                  <a:srgbClr val="63666A"/>
                </a:solidFill>
                <a:latin typeface="Arial"/>
              </a:rPr>
              <a:t>View 01 of 03</a:t>
            </a:r>
          </a:p>
        </p:txBody>
      </p:sp>
      <p:sp>
        <p:nvSpPr>
          <p:cNvPr id="6" name="Rectangle 5"/>
          <p:cNvSpPr/>
          <p:nvPr/>
        </p:nvSpPr>
        <p:spPr>
          <a:xfrm>
            <a:off x="457200" y="952500"/>
            <a:ext cx="9768840" cy="494348"/>
          </a:xfrm>
          <a:prstGeom prst="rect">
            <a:avLst/>
          </a:prstGeom>
          <a:solidFill>
            <a:srgbClr val="63666A">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TextBox 6"/>
          <p:cNvSpPr txBox="1"/>
          <p:nvPr/>
        </p:nvSpPr>
        <p:spPr>
          <a:xfrm>
            <a:off x="548640" y="952500"/>
            <a:ext cx="1133475" cy="49434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63666A"/>
                </a:solidFill>
                <a:latin typeface="Arial"/>
              </a:rPr>
              <a:t>Users &amp; Roles</a:t>
            </a:r>
          </a:p>
        </p:txBody>
      </p:sp>
      <p:sp>
        <p:nvSpPr>
          <p:cNvPr id="8" name="Rectangle 7"/>
          <p:cNvSpPr/>
          <p:nvPr/>
        </p:nvSpPr>
        <p:spPr>
          <a:xfrm>
            <a:off x="1773555" y="1034891"/>
            <a:ext cx="1000720"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Workspace Owner</a:t>
            </a:r>
          </a:p>
        </p:txBody>
      </p:sp>
      <p:sp>
        <p:nvSpPr>
          <p:cNvPr id="9" name="Rectangle 8"/>
          <p:cNvSpPr/>
          <p:nvPr/>
        </p:nvSpPr>
        <p:spPr>
          <a:xfrm>
            <a:off x="2838093" y="1034891"/>
            <a:ext cx="1000720"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Admin</a:t>
            </a:r>
          </a:p>
        </p:txBody>
      </p:sp>
      <p:sp>
        <p:nvSpPr>
          <p:cNvPr id="10" name="Rectangle 9"/>
          <p:cNvSpPr/>
          <p:nvPr/>
        </p:nvSpPr>
        <p:spPr>
          <a:xfrm>
            <a:off x="3902631" y="1034891"/>
            <a:ext cx="1000720"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Member</a:t>
            </a:r>
          </a:p>
        </p:txBody>
      </p:sp>
      <p:sp>
        <p:nvSpPr>
          <p:cNvPr id="11" name="Rectangle 10"/>
          <p:cNvSpPr/>
          <p:nvPr/>
        </p:nvSpPr>
        <p:spPr>
          <a:xfrm>
            <a:off x="4967168" y="1034891"/>
            <a:ext cx="1000720"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Delivery Owner</a:t>
            </a:r>
          </a:p>
        </p:txBody>
      </p:sp>
      <p:sp>
        <p:nvSpPr>
          <p:cNvPr id="12" name="Rectangle 11"/>
          <p:cNvSpPr/>
          <p:nvPr/>
        </p:nvSpPr>
        <p:spPr>
          <a:xfrm>
            <a:off x="6031706" y="1034891"/>
            <a:ext cx="1000720"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Domain Expert</a:t>
            </a:r>
          </a:p>
        </p:txBody>
      </p:sp>
      <p:sp>
        <p:nvSpPr>
          <p:cNvPr id="13" name="Rectangle 12"/>
          <p:cNvSpPr/>
          <p:nvPr/>
        </p:nvSpPr>
        <p:spPr>
          <a:xfrm>
            <a:off x="7096244" y="1034891"/>
            <a:ext cx="1000720"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Orchestration Engineer</a:t>
            </a:r>
          </a:p>
        </p:txBody>
      </p:sp>
      <p:sp>
        <p:nvSpPr>
          <p:cNvPr id="14" name="Rectangle 13"/>
          <p:cNvSpPr/>
          <p:nvPr/>
        </p:nvSpPr>
        <p:spPr>
          <a:xfrm>
            <a:off x="8160782" y="1034891"/>
            <a:ext cx="1000720"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Reviewer</a:t>
            </a:r>
          </a:p>
        </p:txBody>
      </p:sp>
      <p:sp>
        <p:nvSpPr>
          <p:cNvPr id="15" name="Rectangle 14"/>
          <p:cNvSpPr/>
          <p:nvPr/>
        </p:nvSpPr>
        <p:spPr>
          <a:xfrm>
            <a:off x="9225320" y="1034891"/>
            <a:ext cx="1000720"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Risk &amp; Audit</a:t>
            </a:r>
          </a:p>
        </p:txBody>
      </p:sp>
      <p:sp>
        <p:nvSpPr>
          <p:cNvPr id="16" name="Rectangle 15"/>
          <p:cNvSpPr/>
          <p:nvPr/>
        </p:nvSpPr>
        <p:spPr>
          <a:xfrm>
            <a:off x="457200" y="1515428"/>
            <a:ext cx="9768840" cy="566738"/>
          </a:xfrm>
          <a:prstGeom prst="rect">
            <a:avLst/>
          </a:prstGeom>
          <a:solidFill>
            <a:srgbClr val="043B2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548640" y="1515428"/>
            <a:ext cx="1133475" cy="56673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043B2C"/>
                </a:solidFill>
                <a:latin typeface="Arial"/>
              </a:rPr>
              <a:t>Non-human
Participants</a:t>
            </a:r>
          </a:p>
        </p:txBody>
      </p:sp>
      <p:sp>
        <p:nvSpPr>
          <p:cNvPr id="18" name="Rectangle 17"/>
          <p:cNvSpPr/>
          <p:nvPr/>
        </p:nvSpPr>
        <p:spPr>
          <a:xfrm>
            <a:off x="1773555" y="1597819"/>
            <a:ext cx="1639443" cy="401955"/>
          </a:xfrm>
          <a:prstGeom prst="rect">
            <a:avLst/>
          </a:prstGeom>
          <a:solidFill>
            <a:srgbClr val="043B2C">
              <a:alpha val="16000"/>
            </a:srgbClr>
          </a:solidFill>
          <a:ln w="6350">
            <a:solidFill>
              <a:srgbClr val="043B2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00" b="0" i="0">
                <a:solidFill>
                  <a:srgbClr val="1A1A1A"/>
                </a:solidFill>
                <a:latin typeface="Arial"/>
              </a:rPr>
              <a:t>Agent</a:t>
            </a:r>
          </a:p>
          <a:p>
            <a:pPr algn="ctr">
              <a:lnSpc>
                <a:spcPct val="110000"/>
              </a:lnSpc>
              <a:spcBef>
                <a:spcPts val="0"/>
              </a:spcBef>
              <a:spcAft>
                <a:spcPts val="0"/>
              </a:spcAft>
            </a:pPr>
            <a:r>
              <a:rPr sz="620" b="0" i="0">
                <a:solidFill>
                  <a:srgbClr val="63666A"/>
                </a:solidFill>
                <a:latin typeface="Arial"/>
              </a:rPr>
              <a:t>triggered, never resident</a:t>
            </a:r>
          </a:p>
        </p:txBody>
      </p:sp>
      <p:sp>
        <p:nvSpPr>
          <p:cNvPr id="19" name="Rectangle 18"/>
          <p:cNvSpPr/>
          <p:nvPr/>
        </p:nvSpPr>
        <p:spPr>
          <a:xfrm>
            <a:off x="3476816" y="1597819"/>
            <a:ext cx="1639443" cy="401955"/>
          </a:xfrm>
          <a:prstGeom prst="rect">
            <a:avLst/>
          </a:prstGeom>
          <a:solidFill>
            <a:srgbClr val="043B2C">
              <a:alpha val="16000"/>
            </a:srgbClr>
          </a:solidFill>
          <a:ln w="6350">
            <a:solidFill>
              <a:srgbClr val="043B2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00" b="0" i="0">
                <a:solidFill>
                  <a:srgbClr val="1A1A1A"/>
                </a:solidFill>
                <a:latin typeface="Arial"/>
              </a:rPr>
              <a:t>Squad</a:t>
            </a:r>
          </a:p>
          <a:p>
            <a:pPr algn="ctr">
              <a:lnSpc>
                <a:spcPct val="110000"/>
              </a:lnSpc>
              <a:spcBef>
                <a:spcPts val="0"/>
              </a:spcBef>
              <a:spcAft>
                <a:spcPts val="0"/>
              </a:spcAft>
            </a:pPr>
            <a:r>
              <a:rPr sz="620" b="0" i="0">
                <a:solidFill>
                  <a:srgbClr val="63666A"/>
                </a:solidFill>
                <a:latin typeface="Arial"/>
              </a:rPr>
              <a:t>agent-led coordination</a:t>
            </a:r>
          </a:p>
        </p:txBody>
      </p:sp>
      <p:sp>
        <p:nvSpPr>
          <p:cNvPr id="20" name="Rectangle 19"/>
          <p:cNvSpPr/>
          <p:nvPr/>
        </p:nvSpPr>
        <p:spPr>
          <a:xfrm>
            <a:off x="5180076" y="1597819"/>
            <a:ext cx="1639443" cy="401955"/>
          </a:xfrm>
          <a:prstGeom prst="rect">
            <a:avLst/>
          </a:prstGeom>
          <a:solidFill>
            <a:srgbClr val="043B2C">
              <a:alpha val="16000"/>
            </a:srgbClr>
          </a:solidFill>
          <a:ln w="6350">
            <a:solidFill>
              <a:srgbClr val="043B2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00" b="0" i="0">
                <a:solidFill>
                  <a:srgbClr val="1A1A1A"/>
                </a:solidFill>
                <a:latin typeface="Arial"/>
              </a:rPr>
              <a:t>Autopilot</a:t>
            </a:r>
          </a:p>
          <a:p>
            <a:pPr algn="ctr">
              <a:lnSpc>
                <a:spcPct val="110000"/>
              </a:lnSpc>
              <a:spcBef>
                <a:spcPts val="0"/>
              </a:spcBef>
              <a:spcAft>
                <a:spcPts val="0"/>
              </a:spcAft>
            </a:pPr>
            <a:r>
              <a:rPr sz="620" b="0" i="0">
                <a:solidFill>
                  <a:srgbClr val="63666A"/>
                </a:solidFill>
                <a:latin typeface="Arial"/>
              </a:rPr>
              <a:t>schedule · webhook · event</a:t>
            </a:r>
          </a:p>
        </p:txBody>
      </p:sp>
      <p:sp>
        <p:nvSpPr>
          <p:cNvPr id="21" name="Rectangle 20"/>
          <p:cNvSpPr/>
          <p:nvPr/>
        </p:nvSpPr>
        <p:spPr>
          <a:xfrm>
            <a:off x="6883337" y="1597819"/>
            <a:ext cx="1639443" cy="401955"/>
          </a:xfrm>
          <a:prstGeom prst="rect">
            <a:avLst/>
          </a:prstGeom>
          <a:solidFill>
            <a:srgbClr val="043B2C">
              <a:alpha val="16000"/>
            </a:srgbClr>
          </a:solidFill>
          <a:ln w="6350">
            <a:solidFill>
              <a:srgbClr val="043B2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00" b="0" i="0">
                <a:solidFill>
                  <a:srgbClr val="1A1A1A"/>
                </a:solidFill>
                <a:latin typeface="Arial"/>
              </a:rPr>
              <a:t>Skill</a:t>
            </a:r>
          </a:p>
          <a:p>
            <a:pPr algn="ctr">
              <a:lnSpc>
                <a:spcPct val="110000"/>
              </a:lnSpc>
              <a:spcBef>
                <a:spcPts val="0"/>
              </a:spcBef>
              <a:spcAft>
                <a:spcPts val="0"/>
              </a:spcAft>
            </a:pPr>
            <a:r>
              <a:rPr sz="620" b="0" i="0">
                <a:solidFill>
                  <a:srgbClr val="63666A"/>
                </a:solidFill>
                <a:latin typeface="Arial"/>
              </a:rPr>
              <a:t>how a kind of work is done</a:t>
            </a:r>
          </a:p>
        </p:txBody>
      </p:sp>
      <p:sp>
        <p:nvSpPr>
          <p:cNvPr id="22" name="Rectangle 21"/>
          <p:cNvSpPr/>
          <p:nvPr/>
        </p:nvSpPr>
        <p:spPr>
          <a:xfrm>
            <a:off x="8586597" y="1597819"/>
            <a:ext cx="1639443" cy="401955"/>
          </a:xfrm>
          <a:prstGeom prst="rect">
            <a:avLst/>
          </a:prstGeom>
          <a:solidFill>
            <a:srgbClr val="043B2C">
              <a:alpha val="16000"/>
            </a:srgbClr>
          </a:solidFill>
          <a:ln w="6350">
            <a:solidFill>
              <a:srgbClr val="043B2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00" b="0" i="0">
                <a:solidFill>
                  <a:srgbClr val="1A1A1A"/>
                </a:solidFill>
                <a:latin typeface="Arial"/>
              </a:rPr>
              <a:t>Ontology</a:t>
            </a:r>
          </a:p>
          <a:p>
            <a:pPr algn="ctr">
              <a:lnSpc>
                <a:spcPct val="110000"/>
              </a:lnSpc>
              <a:spcBef>
                <a:spcPts val="0"/>
              </a:spcBef>
              <a:spcAft>
                <a:spcPts val="0"/>
              </a:spcAft>
            </a:pPr>
            <a:r>
              <a:rPr sz="620" b="0" i="0">
                <a:solidFill>
                  <a:srgbClr val="63666A"/>
                </a:solidFill>
                <a:latin typeface="Arial"/>
              </a:rPr>
              <a:t>domain semantics</a:t>
            </a:r>
          </a:p>
        </p:txBody>
      </p:sp>
      <p:sp>
        <p:nvSpPr>
          <p:cNvPr id="23" name="Rectangle 22"/>
          <p:cNvSpPr/>
          <p:nvPr/>
        </p:nvSpPr>
        <p:spPr>
          <a:xfrm>
            <a:off x="457200" y="2150745"/>
            <a:ext cx="9768840" cy="1576388"/>
          </a:xfrm>
          <a:prstGeom prst="rect">
            <a:avLst/>
          </a:prstGeom>
          <a:solidFill>
            <a:srgbClr val="86BC25">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548640" y="2150745"/>
            <a:ext cx="1133475" cy="157638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86BC25"/>
                </a:solidFill>
                <a:latin typeface="Arial"/>
              </a:rPr>
              <a:t>Business
Capabilities</a:t>
            </a:r>
          </a:p>
        </p:txBody>
      </p:sp>
      <p:sp>
        <p:nvSpPr>
          <p:cNvPr id="25" name="Rectangle 24"/>
          <p:cNvSpPr/>
          <p:nvPr/>
        </p:nvSpPr>
        <p:spPr>
          <a:xfrm>
            <a:off x="1773555" y="2233136"/>
            <a:ext cx="1639443" cy="256222"/>
          </a:xfrm>
          <a:prstGeom prst="rect">
            <a:avLst/>
          </a:prstGeom>
          <a:solidFill>
            <a:srgbClr val="86BC25">
              <a:alpha val="20000"/>
            </a:srgbClr>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60" b="1" i="0">
                <a:solidFill>
                  <a:srgbClr val="1A1A1A"/>
                </a:solidFill>
                <a:latin typeface="Arial"/>
              </a:rPr>
              <a:t>Work Governance</a:t>
            </a:r>
          </a:p>
        </p:txBody>
      </p:sp>
      <p:sp>
        <p:nvSpPr>
          <p:cNvPr id="26" name="Rectangle 25"/>
          <p:cNvSpPr/>
          <p:nvPr/>
        </p:nvSpPr>
        <p:spPr>
          <a:xfrm>
            <a:off x="1773555" y="25350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Work Management</a:t>
            </a:r>
          </a:p>
        </p:txBody>
      </p:sp>
      <p:sp>
        <p:nvSpPr>
          <p:cNvPr id="27" name="Rectangle 26"/>
          <p:cNvSpPr/>
          <p:nvPr/>
        </p:nvSpPr>
        <p:spPr>
          <a:xfrm>
            <a:off x="1773555" y="27636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Projects &amp; Resources</a:t>
            </a:r>
          </a:p>
        </p:txBody>
      </p:sp>
      <p:sp>
        <p:nvSpPr>
          <p:cNvPr id="28" name="Rectangle 27"/>
          <p:cNvSpPr/>
          <p:nvPr/>
        </p:nvSpPr>
        <p:spPr>
          <a:xfrm>
            <a:off x="1773555" y="29922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Views &amp; Search</a:t>
            </a:r>
          </a:p>
        </p:txBody>
      </p:sp>
      <p:sp>
        <p:nvSpPr>
          <p:cNvPr id="29" name="Rectangle 28"/>
          <p:cNvSpPr/>
          <p:nvPr/>
        </p:nvSpPr>
        <p:spPr>
          <a:xfrm>
            <a:off x="1773555" y="32208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Statuses &amp; Labels</a:t>
            </a:r>
          </a:p>
        </p:txBody>
      </p:sp>
      <p:sp>
        <p:nvSpPr>
          <p:cNvPr id="30" name="Rectangle 29"/>
          <p:cNvSpPr/>
          <p:nvPr/>
        </p:nvSpPr>
        <p:spPr>
          <a:xfrm>
            <a:off x="1773555" y="34494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Workspace Governance</a:t>
            </a:r>
          </a:p>
        </p:txBody>
      </p:sp>
      <p:sp>
        <p:nvSpPr>
          <p:cNvPr id="31" name="Rectangle 30"/>
          <p:cNvSpPr/>
          <p:nvPr/>
        </p:nvSpPr>
        <p:spPr>
          <a:xfrm>
            <a:off x="3476816" y="2233136"/>
            <a:ext cx="1639443" cy="256222"/>
          </a:xfrm>
          <a:prstGeom prst="rect">
            <a:avLst/>
          </a:prstGeom>
          <a:solidFill>
            <a:srgbClr val="86BC25">
              <a:alpha val="20000"/>
            </a:srgbClr>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60" b="1" i="0">
                <a:solidFill>
                  <a:srgbClr val="1A1A1A"/>
                </a:solidFill>
                <a:latin typeface="Arial"/>
              </a:rPr>
              <a:t>Agent Operations</a:t>
            </a:r>
          </a:p>
        </p:txBody>
      </p:sp>
      <p:sp>
        <p:nvSpPr>
          <p:cNvPr id="32" name="Rectangle 31"/>
          <p:cNvSpPr/>
          <p:nvPr/>
        </p:nvSpPr>
        <p:spPr>
          <a:xfrm>
            <a:off x="3476816" y="25350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Agent Definition</a:t>
            </a:r>
          </a:p>
        </p:txBody>
      </p:sp>
      <p:sp>
        <p:nvSpPr>
          <p:cNvPr id="33" name="Rectangle 32"/>
          <p:cNvSpPr/>
          <p:nvPr/>
        </p:nvSpPr>
        <p:spPr>
          <a:xfrm>
            <a:off x="3476816" y="27636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Skill Authoring</a:t>
            </a:r>
          </a:p>
        </p:txBody>
      </p:sp>
      <p:sp>
        <p:nvSpPr>
          <p:cNvPr id="34" name="Rectangle 33"/>
          <p:cNvSpPr/>
          <p:nvPr/>
        </p:nvSpPr>
        <p:spPr>
          <a:xfrm>
            <a:off x="3476816" y="29922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Squad Composition</a:t>
            </a:r>
          </a:p>
        </p:txBody>
      </p:sp>
      <p:sp>
        <p:nvSpPr>
          <p:cNvPr id="35" name="Rectangle 34"/>
          <p:cNvSpPr/>
          <p:nvPr/>
        </p:nvSpPr>
        <p:spPr>
          <a:xfrm>
            <a:off x="3476816" y="32208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Delivery Families</a:t>
            </a:r>
          </a:p>
        </p:txBody>
      </p:sp>
      <p:sp>
        <p:nvSpPr>
          <p:cNvPr id="36" name="Rectangle 35"/>
          <p:cNvSpPr/>
          <p:nvPr/>
        </p:nvSpPr>
        <p:spPr>
          <a:xfrm>
            <a:off x="3476816" y="34494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Access &amp; Visibility</a:t>
            </a:r>
          </a:p>
        </p:txBody>
      </p:sp>
      <p:sp>
        <p:nvSpPr>
          <p:cNvPr id="37" name="Rectangle 36"/>
          <p:cNvSpPr/>
          <p:nvPr/>
        </p:nvSpPr>
        <p:spPr>
          <a:xfrm>
            <a:off x="5180076" y="2233136"/>
            <a:ext cx="1639443" cy="256222"/>
          </a:xfrm>
          <a:prstGeom prst="rect">
            <a:avLst/>
          </a:prstGeom>
          <a:solidFill>
            <a:srgbClr val="86BC25">
              <a:alpha val="20000"/>
            </a:srgbClr>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60" b="1" i="0">
                <a:solidFill>
                  <a:srgbClr val="1A1A1A"/>
                </a:solidFill>
                <a:latin typeface="Arial"/>
              </a:rPr>
              <a:t>Execution &amp; Runtime</a:t>
            </a:r>
          </a:p>
        </p:txBody>
      </p:sp>
      <p:sp>
        <p:nvSpPr>
          <p:cNvPr id="38" name="Rectangle 37"/>
          <p:cNvSpPr/>
          <p:nvPr/>
        </p:nvSpPr>
        <p:spPr>
          <a:xfrm>
            <a:off x="5180076" y="25350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Delegation</a:t>
            </a:r>
          </a:p>
        </p:txBody>
      </p:sp>
      <p:sp>
        <p:nvSpPr>
          <p:cNvPr id="39" name="Rectangle 38"/>
          <p:cNvSpPr/>
          <p:nvPr/>
        </p:nvSpPr>
        <p:spPr>
          <a:xfrm>
            <a:off x="5180076" y="27636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Task Lifecycle</a:t>
            </a:r>
          </a:p>
        </p:txBody>
      </p:sp>
      <p:sp>
        <p:nvSpPr>
          <p:cNvPr id="40" name="Rectangle 39"/>
          <p:cNvSpPr/>
          <p:nvPr/>
        </p:nvSpPr>
        <p:spPr>
          <a:xfrm>
            <a:off x="5180076" y="29922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Runtime Registry</a:t>
            </a:r>
          </a:p>
        </p:txBody>
      </p:sp>
      <p:sp>
        <p:nvSpPr>
          <p:cNvPr id="41" name="Rectangle 40"/>
          <p:cNvSpPr/>
          <p:nvPr/>
        </p:nvSpPr>
        <p:spPr>
          <a:xfrm>
            <a:off x="5180076" y="32208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Isolation &amp; Leases</a:t>
            </a:r>
          </a:p>
        </p:txBody>
      </p:sp>
      <p:sp>
        <p:nvSpPr>
          <p:cNvPr id="42" name="Rectangle 41"/>
          <p:cNvSpPr/>
          <p:nvPr/>
        </p:nvSpPr>
        <p:spPr>
          <a:xfrm>
            <a:off x="5180076" y="34494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Usage &amp; Cost</a:t>
            </a:r>
          </a:p>
        </p:txBody>
      </p:sp>
      <p:sp>
        <p:nvSpPr>
          <p:cNvPr id="43" name="Rectangle 42"/>
          <p:cNvSpPr/>
          <p:nvPr/>
        </p:nvSpPr>
        <p:spPr>
          <a:xfrm>
            <a:off x="6883337" y="2233136"/>
            <a:ext cx="1639443" cy="256222"/>
          </a:xfrm>
          <a:prstGeom prst="rect">
            <a:avLst/>
          </a:prstGeom>
          <a:solidFill>
            <a:srgbClr val="86BC25">
              <a:alpha val="20000"/>
            </a:srgbClr>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60" b="1" i="0">
                <a:solidFill>
                  <a:srgbClr val="1A1A1A"/>
                </a:solidFill>
                <a:latin typeface="Arial"/>
              </a:rPr>
              <a:t>Collaboration</a:t>
            </a:r>
          </a:p>
        </p:txBody>
      </p:sp>
      <p:sp>
        <p:nvSpPr>
          <p:cNvPr id="44" name="Rectangle 43"/>
          <p:cNvSpPr/>
          <p:nvPr/>
        </p:nvSpPr>
        <p:spPr>
          <a:xfrm>
            <a:off x="6883337" y="25350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Comments &amp; Mentions</a:t>
            </a:r>
          </a:p>
        </p:txBody>
      </p:sp>
      <p:sp>
        <p:nvSpPr>
          <p:cNvPr id="45" name="Rectangle 44"/>
          <p:cNvSpPr/>
          <p:nvPr/>
        </p:nvSpPr>
        <p:spPr>
          <a:xfrm>
            <a:off x="6883337" y="27636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Subscriptions</a:t>
            </a:r>
          </a:p>
        </p:txBody>
      </p:sp>
      <p:sp>
        <p:nvSpPr>
          <p:cNvPr id="46" name="Rectangle 45"/>
          <p:cNvSpPr/>
          <p:nvPr/>
        </p:nvSpPr>
        <p:spPr>
          <a:xfrm>
            <a:off x="6883337" y="29922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Inbox &amp; Notifications</a:t>
            </a:r>
          </a:p>
        </p:txBody>
      </p:sp>
      <p:sp>
        <p:nvSpPr>
          <p:cNvPr id="47" name="Rectangle 46"/>
          <p:cNvSpPr/>
          <p:nvPr/>
        </p:nvSpPr>
        <p:spPr>
          <a:xfrm>
            <a:off x="6883337" y="32208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Chat</a:t>
            </a:r>
          </a:p>
        </p:txBody>
      </p:sp>
      <p:sp>
        <p:nvSpPr>
          <p:cNvPr id="48" name="Rectangle 47"/>
          <p:cNvSpPr/>
          <p:nvPr/>
        </p:nvSpPr>
        <p:spPr>
          <a:xfrm>
            <a:off x="6883337" y="34494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Messaging Channels</a:t>
            </a:r>
          </a:p>
        </p:txBody>
      </p:sp>
      <p:sp>
        <p:nvSpPr>
          <p:cNvPr id="49" name="Rectangle 48"/>
          <p:cNvSpPr/>
          <p:nvPr/>
        </p:nvSpPr>
        <p:spPr>
          <a:xfrm>
            <a:off x="8586597" y="2233136"/>
            <a:ext cx="1639443" cy="256222"/>
          </a:xfrm>
          <a:prstGeom prst="rect">
            <a:avLst/>
          </a:prstGeom>
          <a:solidFill>
            <a:srgbClr val="86BC25">
              <a:alpha val="20000"/>
            </a:srgbClr>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60" b="1" i="0">
                <a:solidFill>
                  <a:srgbClr val="1A1A1A"/>
                </a:solidFill>
                <a:latin typeface="Arial"/>
              </a:rPr>
              <a:t>Trust &amp; Evidence</a:t>
            </a:r>
          </a:p>
        </p:txBody>
      </p:sp>
      <p:sp>
        <p:nvSpPr>
          <p:cNvPr id="50" name="Rectangle 49"/>
          <p:cNvSpPr/>
          <p:nvPr/>
        </p:nvSpPr>
        <p:spPr>
          <a:xfrm>
            <a:off x="8586597" y="25350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Identity &amp; Access</a:t>
            </a:r>
          </a:p>
        </p:txBody>
      </p:sp>
      <p:sp>
        <p:nvSpPr>
          <p:cNvPr id="51" name="Rectangle 50"/>
          <p:cNvSpPr/>
          <p:nvPr/>
        </p:nvSpPr>
        <p:spPr>
          <a:xfrm>
            <a:off x="8586597" y="27636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Audit Trail</a:t>
            </a:r>
          </a:p>
        </p:txBody>
      </p:sp>
      <p:sp>
        <p:nvSpPr>
          <p:cNvPr id="52" name="Rectangle 51"/>
          <p:cNvSpPr/>
          <p:nvPr/>
        </p:nvSpPr>
        <p:spPr>
          <a:xfrm>
            <a:off x="8586597" y="29922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Run Evidence</a:t>
            </a:r>
          </a:p>
        </p:txBody>
      </p:sp>
      <p:sp>
        <p:nvSpPr>
          <p:cNvPr id="53" name="Rectangle 52"/>
          <p:cNvSpPr/>
          <p:nvPr/>
        </p:nvSpPr>
        <p:spPr>
          <a:xfrm>
            <a:off x="8586597" y="32208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Attribution</a:t>
            </a:r>
          </a:p>
        </p:txBody>
      </p:sp>
      <p:sp>
        <p:nvSpPr>
          <p:cNvPr id="54" name="Rectangle 53"/>
          <p:cNvSpPr/>
          <p:nvPr/>
        </p:nvSpPr>
        <p:spPr>
          <a:xfrm>
            <a:off x="8586597" y="34494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Entitlements</a:t>
            </a:r>
          </a:p>
        </p:txBody>
      </p:sp>
      <p:sp>
        <p:nvSpPr>
          <p:cNvPr id="55" name="Rectangle 54"/>
          <p:cNvSpPr/>
          <p:nvPr/>
        </p:nvSpPr>
        <p:spPr>
          <a:xfrm>
            <a:off x="457200" y="3795712"/>
            <a:ext cx="9768840" cy="494348"/>
          </a:xfrm>
          <a:prstGeom prst="rect">
            <a:avLst/>
          </a:prstGeom>
          <a:solidFill>
            <a:srgbClr val="0097A9">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6" name="TextBox 55"/>
          <p:cNvSpPr txBox="1"/>
          <p:nvPr/>
        </p:nvSpPr>
        <p:spPr>
          <a:xfrm>
            <a:off x="548640" y="3795712"/>
            <a:ext cx="1133475" cy="49434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0097A9"/>
                </a:solidFill>
                <a:latin typeface="Arial"/>
              </a:rPr>
              <a:t>Delegation &amp;
Contract</a:t>
            </a:r>
          </a:p>
        </p:txBody>
      </p:sp>
      <p:sp>
        <p:nvSpPr>
          <p:cNvPr id="57" name="Rectangle 56"/>
          <p:cNvSpPr/>
          <p:nvPr/>
        </p:nvSpPr>
        <p:spPr>
          <a:xfrm>
            <a:off x="1773555" y="3878104"/>
            <a:ext cx="1639443" cy="329565"/>
          </a:xfrm>
          <a:prstGeom prst="rect">
            <a:avLst/>
          </a:prstGeom>
          <a:solidFill>
            <a:srgbClr val="0097A9">
              <a:alpha val="16000"/>
            </a:srgbClr>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Assignment</a:t>
            </a:r>
          </a:p>
        </p:txBody>
      </p:sp>
      <p:sp>
        <p:nvSpPr>
          <p:cNvPr id="58" name="Rectangle 57"/>
          <p:cNvSpPr/>
          <p:nvPr/>
        </p:nvSpPr>
        <p:spPr>
          <a:xfrm>
            <a:off x="3476816" y="3878104"/>
            <a:ext cx="1639443" cy="329565"/>
          </a:xfrm>
          <a:prstGeom prst="rect">
            <a:avLst/>
          </a:prstGeom>
          <a:solidFill>
            <a:srgbClr val="0097A9">
              <a:alpha val="16000"/>
            </a:srgbClr>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@-Mention</a:t>
            </a:r>
          </a:p>
        </p:txBody>
      </p:sp>
      <p:sp>
        <p:nvSpPr>
          <p:cNvPr id="59" name="Rectangle 58"/>
          <p:cNvSpPr/>
          <p:nvPr/>
        </p:nvSpPr>
        <p:spPr>
          <a:xfrm>
            <a:off x="5180076" y="3878104"/>
            <a:ext cx="1639443" cy="329565"/>
          </a:xfrm>
          <a:prstGeom prst="rect">
            <a:avLst/>
          </a:prstGeom>
          <a:solidFill>
            <a:srgbClr val="0097A9">
              <a:alpha val="16000"/>
            </a:srgbClr>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Chat Turn</a:t>
            </a:r>
          </a:p>
        </p:txBody>
      </p:sp>
      <p:sp>
        <p:nvSpPr>
          <p:cNvPr id="60" name="Rectangle 59"/>
          <p:cNvSpPr/>
          <p:nvPr/>
        </p:nvSpPr>
        <p:spPr>
          <a:xfrm>
            <a:off x="6883337" y="3878104"/>
            <a:ext cx="1639443" cy="329565"/>
          </a:xfrm>
          <a:prstGeom prst="rect">
            <a:avLst/>
          </a:prstGeom>
          <a:solidFill>
            <a:srgbClr val="0097A9">
              <a:alpha val="16000"/>
            </a:srgbClr>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Autopilot Trigger</a:t>
            </a:r>
          </a:p>
        </p:txBody>
      </p:sp>
      <p:sp>
        <p:nvSpPr>
          <p:cNvPr id="61" name="Rectangle 60"/>
          <p:cNvSpPr/>
          <p:nvPr/>
        </p:nvSpPr>
        <p:spPr>
          <a:xfrm>
            <a:off x="8586597" y="3878104"/>
            <a:ext cx="1639443" cy="329565"/>
          </a:xfrm>
          <a:prstGeom prst="rect">
            <a:avLst/>
          </a:prstGeom>
          <a:solidFill>
            <a:srgbClr val="0097A9">
              <a:alpha val="16000"/>
            </a:srgbClr>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Human Gate</a:t>
            </a:r>
          </a:p>
        </p:txBody>
      </p:sp>
      <p:sp>
        <p:nvSpPr>
          <p:cNvPr id="62" name="Rectangle 61"/>
          <p:cNvSpPr/>
          <p:nvPr/>
        </p:nvSpPr>
        <p:spPr>
          <a:xfrm>
            <a:off x="457200" y="4358640"/>
            <a:ext cx="9768840" cy="494348"/>
          </a:xfrm>
          <a:prstGeom prst="rect">
            <a:avLst/>
          </a:prstGeom>
          <a:solidFill>
            <a:srgbClr val="0097A9">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3" name="TextBox 62"/>
          <p:cNvSpPr txBox="1"/>
          <p:nvPr/>
        </p:nvSpPr>
        <p:spPr>
          <a:xfrm>
            <a:off x="548640" y="4358640"/>
            <a:ext cx="1133475" cy="49434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0097A9"/>
                </a:solidFill>
                <a:latin typeface="Arial"/>
              </a:rPr>
              <a:t>Quality &amp;
Release</a:t>
            </a:r>
          </a:p>
        </p:txBody>
      </p:sp>
      <p:sp>
        <p:nvSpPr>
          <p:cNvPr id="64" name="Rectangle 63"/>
          <p:cNvSpPr/>
          <p:nvPr/>
        </p:nvSpPr>
        <p:spPr>
          <a:xfrm>
            <a:off x="1773555" y="4441031"/>
            <a:ext cx="1639443" cy="329565"/>
          </a:xfrm>
          <a:prstGeom prst="rect">
            <a:avLst/>
          </a:prstGeom>
          <a:solidFill>
            <a:srgbClr val="FFFFFF"/>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Review Gate</a:t>
            </a:r>
          </a:p>
        </p:txBody>
      </p:sp>
      <p:sp>
        <p:nvSpPr>
          <p:cNvPr id="65" name="Rectangle 64"/>
          <p:cNvSpPr/>
          <p:nvPr/>
        </p:nvSpPr>
        <p:spPr>
          <a:xfrm>
            <a:off x="3476816" y="4441031"/>
            <a:ext cx="1639443" cy="329565"/>
          </a:xfrm>
          <a:prstGeom prst="rect">
            <a:avLst/>
          </a:prstGeom>
          <a:solidFill>
            <a:srgbClr val="FFFFFF"/>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Evidence Assembly</a:t>
            </a:r>
          </a:p>
        </p:txBody>
      </p:sp>
      <p:sp>
        <p:nvSpPr>
          <p:cNvPr id="66" name="Rectangle 65"/>
          <p:cNvSpPr/>
          <p:nvPr/>
        </p:nvSpPr>
        <p:spPr>
          <a:xfrm>
            <a:off x="5180076" y="4441031"/>
            <a:ext cx="1639443" cy="329565"/>
          </a:xfrm>
          <a:prstGeom prst="rect">
            <a:avLst/>
          </a:prstGeom>
          <a:solidFill>
            <a:srgbClr val="FFFFFF"/>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Pull Request Link</a:t>
            </a:r>
          </a:p>
        </p:txBody>
      </p:sp>
      <p:sp>
        <p:nvSpPr>
          <p:cNvPr id="67" name="Rectangle 66"/>
          <p:cNvSpPr/>
          <p:nvPr/>
        </p:nvSpPr>
        <p:spPr>
          <a:xfrm>
            <a:off x="6883337" y="4441031"/>
            <a:ext cx="1639443" cy="329565"/>
          </a:xfrm>
          <a:prstGeom prst="rect">
            <a:avLst/>
          </a:prstGeom>
          <a:solidFill>
            <a:srgbClr val="FFFFFF"/>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Retry &amp; Recovery</a:t>
            </a:r>
          </a:p>
        </p:txBody>
      </p:sp>
      <p:sp>
        <p:nvSpPr>
          <p:cNvPr id="68" name="Rectangle 67"/>
          <p:cNvSpPr/>
          <p:nvPr/>
        </p:nvSpPr>
        <p:spPr>
          <a:xfrm>
            <a:off x="8586597" y="4441031"/>
            <a:ext cx="1639443" cy="329565"/>
          </a:xfrm>
          <a:prstGeom prst="rect">
            <a:avLst/>
          </a:prstGeom>
          <a:solidFill>
            <a:srgbClr val="FFFFFF"/>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Release Decision</a:t>
            </a:r>
          </a:p>
        </p:txBody>
      </p:sp>
      <p:sp>
        <p:nvSpPr>
          <p:cNvPr id="69" name="Rectangle 68"/>
          <p:cNvSpPr/>
          <p:nvPr/>
        </p:nvSpPr>
        <p:spPr>
          <a:xfrm>
            <a:off x="457200" y="4921568"/>
            <a:ext cx="9768840" cy="777240"/>
          </a:xfrm>
          <a:prstGeom prst="rect">
            <a:avLst/>
          </a:prstGeom>
          <a:solidFill>
            <a:srgbClr val="63666A">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0" name="TextBox 69"/>
          <p:cNvSpPr txBox="1"/>
          <p:nvPr/>
        </p:nvSpPr>
        <p:spPr>
          <a:xfrm>
            <a:off x="548640" y="4921568"/>
            <a:ext cx="1133475" cy="777240"/>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63666A"/>
                </a:solidFill>
                <a:latin typeface="Arial"/>
              </a:rPr>
              <a:t>Business Objects</a:t>
            </a:r>
          </a:p>
        </p:txBody>
      </p:sp>
      <p:sp>
        <p:nvSpPr>
          <p:cNvPr id="71" name="Rectangle 70"/>
          <p:cNvSpPr/>
          <p:nvPr/>
        </p:nvSpPr>
        <p:spPr>
          <a:xfrm>
            <a:off x="1773555" y="5003959"/>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Workspace</a:t>
            </a:r>
          </a:p>
        </p:txBody>
      </p:sp>
      <p:sp>
        <p:nvSpPr>
          <p:cNvPr id="72" name="Rectangle 71"/>
          <p:cNvSpPr/>
          <p:nvPr/>
        </p:nvSpPr>
        <p:spPr>
          <a:xfrm>
            <a:off x="3192939" y="5003959"/>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Issue</a:t>
            </a:r>
          </a:p>
        </p:txBody>
      </p:sp>
      <p:sp>
        <p:nvSpPr>
          <p:cNvPr id="73" name="Rectangle 72"/>
          <p:cNvSpPr/>
          <p:nvPr/>
        </p:nvSpPr>
        <p:spPr>
          <a:xfrm>
            <a:off x="4612322" y="5003959"/>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Project</a:t>
            </a:r>
          </a:p>
        </p:txBody>
      </p:sp>
      <p:sp>
        <p:nvSpPr>
          <p:cNvPr id="74" name="Rectangle 73"/>
          <p:cNvSpPr/>
          <p:nvPr/>
        </p:nvSpPr>
        <p:spPr>
          <a:xfrm>
            <a:off x="6031706" y="5003959"/>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Comment</a:t>
            </a:r>
          </a:p>
        </p:txBody>
      </p:sp>
      <p:sp>
        <p:nvSpPr>
          <p:cNvPr id="75" name="Rectangle 74"/>
          <p:cNvSpPr/>
          <p:nvPr/>
        </p:nvSpPr>
        <p:spPr>
          <a:xfrm>
            <a:off x="7451090" y="5003959"/>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Agent</a:t>
            </a:r>
          </a:p>
        </p:txBody>
      </p:sp>
      <p:sp>
        <p:nvSpPr>
          <p:cNvPr id="76" name="Rectangle 75"/>
          <p:cNvSpPr/>
          <p:nvPr/>
        </p:nvSpPr>
        <p:spPr>
          <a:xfrm>
            <a:off x="8870474" y="5003959"/>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Squad</a:t>
            </a:r>
          </a:p>
        </p:txBody>
      </p:sp>
      <p:sp>
        <p:nvSpPr>
          <p:cNvPr id="77" name="Rectangle 76"/>
          <p:cNvSpPr/>
          <p:nvPr/>
        </p:nvSpPr>
        <p:spPr>
          <a:xfrm>
            <a:off x="1773555" y="5342096"/>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Skill</a:t>
            </a:r>
          </a:p>
        </p:txBody>
      </p:sp>
      <p:sp>
        <p:nvSpPr>
          <p:cNvPr id="78" name="Rectangle 77"/>
          <p:cNvSpPr/>
          <p:nvPr/>
        </p:nvSpPr>
        <p:spPr>
          <a:xfrm>
            <a:off x="3192939" y="5342096"/>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Runtime</a:t>
            </a:r>
          </a:p>
        </p:txBody>
      </p:sp>
      <p:sp>
        <p:nvSpPr>
          <p:cNvPr id="79" name="Rectangle 78"/>
          <p:cNvSpPr/>
          <p:nvPr/>
        </p:nvSpPr>
        <p:spPr>
          <a:xfrm>
            <a:off x="4612322" y="5342096"/>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Task</a:t>
            </a:r>
          </a:p>
        </p:txBody>
      </p:sp>
      <p:sp>
        <p:nvSpPr>
          <p:cNvPr id="80" name="Rectangle 79"/>
          <p:cNvSpPr/>
          <p:nvPr/>
        </p:nvSpPr>
        <p:spPr>
          <a:xfrm>
            <a:off x="6031706" y="5342096"/>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Autopilot</a:t>
            </a:r>
          </a:p>
        </p:txBody>
      </p:sp>
      <p:sp>
        <p:nvSpPr>
          <p:cNvPr id="81" name="Rectangle 80"/>
          <p:cNvSpPr/>
          <p:nvPr/>
        </p:nvSpPr>
        <p:spPr>
          <a:xfrm>
            <a:off x="7451090" y="5342096"/>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Inbox Item</a:t>
            </a:r>
          </a:p>
        </p:txBody>
      </p:sp>
      <p:sp>
        <p:nvSpPr>
          <p:cNvPr id="82" name="Rectangle 81"/>
          <p:cNvSpPr/>
          <p:nvPr/>
        </p:nvSpPr>
        <p:spPr>
          <a:xfrm>
            <a:off x="8870474" y="5342096"/>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Evidence</a:t>
            </a:r>
          </a:p>
        </p:txBody>
      </p:sp>
      <p:sp>
        <p:nvSpPr>
          <p:cNvPr id="83" name="Rectangle 82"/>
          <p:cNvSpPr/>
          <p:nvPr/>
        </p:nvSpPr>
        <p:spPr>
          <a:xfrm>
            <a:off x="457200" y="5767388"/>
            <a:ext cx="9768840" cy="494348"/>
          </a:xfrm>
          <a:prstGeom prst="rect">
            <a:avLst/>
          </a:prstGeom>
          <a:solidFill>
            <a:srgbClr val="97999B">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4" name="TextBox 83"/>
          <p:cNvSpPr txBox="1"/>
          <p:nvPr/>
        </p:nvSpPr>
        <p:spPr>
          <a:xfrm>
            <a:off x="548640" y="5767388"/>
            <a:ext cx="1133475" cy="49434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63666A"/>
                </a:solidFill>
                <a:latin typeface="Arial"/>
              </a:rPr>
              <a:t>Value Stream</a:t>
            </a:r>
          </a:p>
        </p:txBody>
      </p:sp>
      <p:sp>
        <p:nvSpPr>
          <p:cNvPr id="85" name="Rectangle 84"/>
          <p:cNvSpPr/>
          <p:nvPr/>
        </p:nvSpPr>
        <p:spPr>
          <a:xfrm>
            <a:off x="1773555" y="5849779"/>
            <a:ext cx="2065258" cy="329565"/>
          </a:xfrm>
          <a:prstGeom prst="rect">
            <a:avLst/>
          </a:prstGeom>
          <a:solidFill>
            <a:srgbClr val="97999B">
              <a:alpha val="16000"/>
            </a:srgbClr>
          </a:solidFill>
          <a:ln w="6350">
            <a:solidFill>
              <a:srgbClr val="97999B"/>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Capability Supply</a:t>
            </a:r>
          </a:p>
        </p:txBody>
      </p:sp>
      <p:sp>
        <p:nvSpPr>
          <p:cNvPr id="86" name="Rectangle 85"/>
          <p:cNvSpPr/>
          <p:nvPr/>
        </p:nvSpPr>
        <p:spPr>
          <a:xfrm>
            <a:off x="3902631" y="5849779"/>
            <a:ext cx="2065258" cy="329565"/>
          </a:xfrm>
          <a:prstGeom prst="rect">
            <a:avLst/>
          </a:prstGeom>
          <a:solidFill>
            <a:srgbClr val="97999B">
              <a:alpha val="16000"/>
            </a:srgbClr>
          </a:solidFill>
          <a:ln w="6350">
            <a:solidFill>
              <a:srgbClr val="97999B"/>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Delegation &amp; Execution</a:t>
            </a:r>
          </a:p>
        </p:txBody>
      </p:sp>
      <p:sp>
        <p:nvSpPr>
          <p:cNvPr id="87" name="Rectangle 86"/>
          <p:cNvSpPr/>
          <p:nvPr/>
        </p:nvSpPr>
        <p:spPr>
          <a:xfrm>
            <a:off x="6031706" y="5849779"/>
            <a:ext cx="2065258" cy="329565"/>
          </a:xfrm>
          <a:prstGeom prst="rect">
            <a:avLst/>
          </a:prstGeom>
          <a:solidFill>
            <a:srgbClr val="97999B">
              <a:alpha val="16000"/>
            </a:srgbClr>
          </a:solidFill>
          <a:ln w="6350">
            <a:solidFill>
              <a:srgbClr val="97999B"/>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Review &amp; Decision</a:t>
            </a:r>
          </a:p>
        </p:txBody>
      </p:sp>
      <p:sp>
        <p:nvSpPr>
          <p:cNvPr id="88" name="Rectangle 87"/>
          <p:cNvSpPr/>
          <p:nvPr/>
        </p:nvSpPr>
        <p:spPr>
          <a:xfrm>
            <a:off x="8160782" y="5849779"/>
            <a:ext cx="2065258" cy="329565"/>
          </a:xfrm>
          <a:prstGeom prst="rect">
            <a:avLst/>
          </a:prstGeom>
          <a:solidFill>
            <a:srgbClr val="97999B">
              <a:alpha val="16000"/>
            </a:srgbClr>
          </a:solidFill>
          <a:ln w="6350">
            <a:solidFill>
              <a:srgbClr val="97999B"/>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Capture &amp; Reuse</a:t>
            </a:r>
          </a:p>
        </p:txBody>
      </p:sp>
      <p:sp>
        <p:nvSpPr>
          <p:cNvPr id="89" name="Rectangle 88"/>
          <p:cNvSpPr/>
          <p:nvPr/>
        </p:nvSpPr>
        <p:spPr>
          <a:xfrm>
            <a:off x="10344150" y="952500"/>
            <a:ext cx="1389698" cy="5309235"/>
          </a:xfrm>
          <a:prstGeom prst="rect">
            <a:avLst/>
          </a:prstGeom>
          <a:solidFill>
            <a:srgbClr val="86BC25">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0" name="Rectangle 89"/>
          <p:cNvSpPr/>
          <p:nvPr/>
        </p:nvSpPr>
        <p:spPr>
          <a:xfrm>
            <a:off x="10344150" y="952500"/>
            <a:ext cx="1389698" cy="310515"/>
          </a:xfrm>
          <a:prstGeom prst="rect">
            <a:avLst/>
          </a:prstGeom>
          <a:solidFill>
            <a:srgbClr val="86BC25">
              <a:alpha val="2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1" name="TextBox 90"/>
          <p:cNvSpPr txBox="1"/>
          <p:nvPr/>
        </p:nvSpPr>
        <p:spPr>
          <a:xfrm>
            <a:off x="10344150" y="952500"/>
            <a:ext cx="1389698" cy="310515"/>
          </a:xfrm>
          <a:prstGeom prst="rect">
            <a:avLst/>
          </a:prstGeom>
          <a:noFill/>
        </p:spPr>
        <p:txBody>
          <a:bodyPr wrap="square" anchor="ctr" lIns="0" tIns="0" rIns="0" bIns="0">
            <a:noAutofit/>
          </a:bodyPr>
          <a:lstStyle/>
          <a:p>
            <a:pPr algn="ctr">
              <a:lnSpc>
                <a:spcPct val="110000"/>
              </a:lnSpc>
              <a:spcBef>
                <a:spcPts val="0"/>
              </a:spcBef>
              <a:spcAft>
                <a:spcPts val="0"/>
              </a:spcAft>
            </a:pPr>
            <a:r>
              <a:rPr sz="840" b="1" i="0">
                <a:solidFill>
                  <a:srgbClr val="1A1A1A"/>
                </a:solidFill>
                <a:latin typeface="Arial"/>
              </a:rPr>
              <a:t>Value Metrics</a:t>
            </a:r>
          </a:p>
        </p:txBody>
      </p:sp>
      <p:sp>
        <p:nvSpPr>
          <p:cNvPr id="92" name="Rectangle 91"/>
          <p:cNvSpPr/>
          <p:nvPr/>
        </p:nvSpPr>
        <p:spPr>
          <a:xfrm>
            <a:off x="10427018" y="1434465"/>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Lead Time to Outcome</a:t>
            </a:r>
          </a:p>
        </p:txBody>
      </p:sp>
      <p:sp>
        <p:nvSpPr>
          <p:cNvPr id="93" name="Rectangle 92"/>
          <p:cNvSpPr/>
          <p:nvPr/>
        </p:nvSpPr>
        <p:spPr>
          <a:xfrm>
            <a:off x="10427018" y="2056447"/>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First-pass Review Rate</a:t>
            </a:r>
          </a:p>
        </p:txBody>
      </p:sp>
      <p:sp>
        <p:nvSpPr>
          <p:cNvPr id="94" name="Rectangle 93"/>
          <p:cNvSpPr/>
          <p:nvPr/>
        </p:nvSpPr>
        <p:spPr>
          <a:xfrm>
            <a:off x="10427018" y="2678430"/>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Rework Rate</a:t>
            </a:r>
          </a:p>
        </p:txBody>
      </p:sp>
      <p:sp>
        <p:nvSpPr>
          <p:cNvPr id="95" name="Rectangle 94"/>
          <p:cNvSpPr/>
          <p:nvPr/>
        </p:nvSpPr>
        <p:spPr>
          <a:xfrm>
            <a:off x="10427018" y="3300412"/>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Gate Wait Time</a:t>
            </a:r>
          </a:p>
        </p:txBody>
      </p:sp>
      <p:sp>
        <p:nvSpPr>
          <p:cNvPr id="96" name="Rectangle 95"/>
          <p:cNvSpPr/>
          <p:nvPr/>
        </p:nvSpPr>
        <p:spPr>
          <a:xfrm>
            <a:off x="10427018" y="3922395"/>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Skill Reuse Rate</a:t>
            </a:r>
          </a:p>
        </p:txBody>
      </p:sp>
      <p:sp>
        <p:nvSpPr>
          <p:cNvPr id="97" name="Rectangle 96"/>
          <p:cNvSpPr/>
          <p:nvPr/>
        </p:nvSpPr>
        <p:spPr>
          <a:xfrm>
            <a:off x="10427018" y="4544378"/>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Run Cost per Outcome</a:t>
            </a:r>
          </a:p>
        </p:txBody>
      </p:sp>
      <p:sp>
        <p:nvSpPr>
          <p:cNvPr id="98" name="Rectangle 97"/>
          <p:cNvSpPr/>
          <p:nvPr/>
        </p:nvSpPr>
        <p:spPr>
          <a:xfrm>
            <a:off x="609600" y="6391275"/>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9" name="TextBox 98"/>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100" name="TextBox 99"/>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101" name="TextBox 100"/>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ROLES</a:t>
            </a:r>
          </a:p>
        </p:txBody>
      </p:sp>
      <p:sp>
        <p:nvSpPr>
          <p:cNvPr id="4" name="TextBox 3"/>
          <p:cNvSpPr txBox="1"/>
          <p:nvPr/>
        </p:nvSpPr>
        <p:spPr>
          <a:xfrm>
            <a:off x="609600" y="1028700"/>
            <a:ext cx="10972800" cy="434340"/>
          </a:xfrm>
          <a:prstGeom prst="rect">
            <a:avLst/>
          </a:prstGeom>
          <a:noFill/>
        </p:spPr>
        <p:txBody>
          <a:bodyPr wrap="square" anchor="t" lIns="0" tIns="0" rIns="0" bIns="0">
            <a:noAutofit/>
          </a:bodyPr>
          <a:lstStyle/>
          <a:p>
            <a:pPr algn="l">
              <a:lnSpc>
                <a:spcPct val="106000"/>
              </a:lnSpc>
              <a:spcBef>
                <a:spcPts val="0"/>
              </a:spcBef>
              <a:spcAft>
                <a:spcPts val="0"/>
              </a:spcAft>
            </a:pPr>
            <a:r>
              <a:rPr sz="2700" b="0" i="0">
                <a:solidFill>
                  <a:srgbClr val="000000"/>
                </a:solidFill>
                <a:latin typeface="Open Sans Light"/>
              </a:rPr>
              <a:t>Who is accountable, and who may execute</a:t>
            </a:r>
          </a:p>
        </p:txBody>
      </p:sp>
      <p:sp>
        <p:nvSpPr>
          <p:cNvPr id="5" name="Rectangle 4"/>
          <p:cNvSpPr/>
          <p:nvPr/>
        </p:nvSpPr>
        <p:spPr>
          <a:xfrm>
            <a:off x="609600" y="1539240"/>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09600" y="2286000"/>
            <a:ext cx="4762500" cy="228600"/>
          </a:xfrm>
          <a:prstGeom prst="rect">
            <a:avLst/>
          </a:prstGeom>
          <a:noFill/>
        </p:spPr>
        <p:txBody>
          <a:bodyPr wrap="square" anchor="t" lIns="0" tIns="0" rIns="0" bIns="0">
            <a:noAutofit/>
          </a:bodyPr>
          <a:lstStyle/>
          <a:p>
            <a:pPr algn="l">
              <a:lnSpc>
                <a:spcPct val="100000"/>
              </a:lnSpc>
              <a:spcBef>
                <a:spcPts val="0"/>
              </a:spcBef>
              <a:spcAft>
                <a:spcPts val="0"/>
              </a:spcAft>
            </a:pPr>
            <a:r>
              <a:rPr sz="975" b="1" i="0" spc="90">
                <a:solidFill>
                  <a:srgbClr val="000000"/>
                </a:solidFill>
                <a:latin typeface="Open Sans"/>
              </a:rPr>
              <a:t>ORGANISATION ROLES</a:t>
            </a:r>
          </a:p>
        </p:txBody>
      </p:sp>
      <p:sp>
        <p:nvSpPr>
          <p:cNvPr id="7" name="TextBox 6"/>
          <p:cNvSpPr txBox="1"/>
          <p:nvPr/>
        </p:nvSpPr>
        <p:spPr>
          <a:xfrm>
            <a:off x="609600" y="2590800"/>
            <a:ext cx="1047750" cy="22860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46A38"/>
                </a:solidFill>
                <a:latin typeface="Consolas"/>
              </a:rPr>
              <a:t>owner</a:t>
            </a:r>
          </a:p>
        </p:txBody>
      </p:sp>
      <p:sp>
        <p:nvSpPr>
          <p:cNvPr id="8" name="TextBox 7"/>
          <p:cNvSpPr txBox="1"/>
          <p:nvPr/>
        </p:nvSpPr>
        <p:spPr>
          <a:xfrm>
            <a:off x="1733550" y="2581275"/>
            <a:ext cx="4076700" cy="381000"/>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Ownership, billing and subscription, irreversible actions</a:t>
            </a:r>
          </a:p>
        </p:txBody>
      </p:sp>
      <p:sp>
        <p:nvSpPr>
          <p:cNvPr id="9" name="TextBox 8"/>
          <p:cNvSpPr txBox="1"/>
          <p:nvPr/>
        </p:nvSpPr>
        <p:spPr>
          <a:xfrm>
            <a:off x="609600" y="3028950"/>
            <a:ext cx="1047750" cy="22860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46A38"/>
                </a:solidFill>
                <a:latin typeface="Consolas"/>
              </a:rPr>
              <a:t>admin</a:t>
            </a:r>
          </a:p>
        </p:txBody>
      </p:sp>
      <p:sp>
        <p:nvSpPr>
          <p:cNvPr id="10" name="TextBox 9"/>
          <p:cNvSpPr txBox="1"/>
          <p:nvPr/>
        </p:nvSpPr>
        <p:spPr>
          <a:xfrm>
            <a:off x="1733550" y="3019425"/>
            <a:ext cx="4076700" cy="381000"/>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Members and invitations, integrations, settings, plugin enablement</a:t>
            </a:r>
          </a:p>
        </p:txBody>
      </p:sp>
      <p:sp>
        <p:nvSpPr>
          <p:cNvPr id="11" name="TextBox 10"/>
          <p:cNvSpPr txBox="1"/>
          <p:nvPr/>
        </p:nvSpPr>
        <p:spPr>
          <a:xfrm>
            <a:off x="609600" y="3467100"/>
            <a:ext cx="1047750" cy="22860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46A38"/>
                </a:solidFill>
                <a:latin typeface="Consolas"/>
              </a:rPr>
              <a:t>member</a:t>
            </a:r>
          </a:p>
        </p:txBody>
      </p:sp>
      <p:sp>
        <p:nvSpPr>
          <p:cNvPr id="12" name="TextBox 11"/>
          <p:cNvSpPr txBox="1"/>
          <p:nvPr/>
        </p:nvSpPr>
        <p:spPr>
          <a:xfrm>
            <a:off x="1733550" y="3457575"/>
            <a:ext cx="4076700" cy="381000"/>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Everyday work: creating and advancing work, configuring agents</a:t>
            </a:r>
          </a:p>
        </p:txBody>
      </p:sp>
      <p:sp>
        <p:nvSpPr>
          <p:cNvPr id="13" name="Rectangle 12"/>
          <p:cNvSpPr/>
          <p:nvPr/>
        </p:nvSpPr>
        <p:spPr>
          <a:xfrm>
            <a:off x="609600" y="3981450"/>
            <a:ext cx="520065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09600" y="4133850"/>
            <a:ext cx="5200650" cy="419100"/>
          </a:xfrm>
          <a:prstGeom prst="rect">
            <a:avLst/>
          </a:prstGeom>
          <a:noFill/>
        </p:spPr>
        <p:txBody>
          <a:bodyPr wrap="square" anchor="t" lIns="0" tIns="0" rIns="0" bIns="0">
            <a:noAutofit/>
          </a:bodyPr>
          <a:lstStyle/>
          <a:p>
            <a:pPr algn="l">
              <a:lnSpc>
                <a:spcPct val="140000"/>
              </a:lnSpc>
              <a:spcBef>
                <a:spcPts val="0"/>
              </a:spcBef>
              <a:spcAft>
                <a:spcPts val="0"/>
              </a:spcAft>
            </a:pPr>
            <a:r>
              <a:rPr sz="975" b="0">
                <a:solidFill>
                  <a:srgbClr val="53565A"/>
                </a:solidFill>
                <a:latin typeface="Open Sans"/>
              </a:rPr>
              <a:t>Organisation roles govern settings and team management only — they are </a:t>
            </a:r>
            <a:r>
              <a:rPr sz="975" b="1">
                <a:solidFill>
                  <a:srgbClr val="000000"/>
                </a:solidFill>
                <a:latin typeface="Open Sans"/>
              </a:rPr>
              <a:t>not</a:t>
            </a:r>
            <a:r>
              <a:rPr sz="975" b="0">
                <a:solidFill>
                  <a:srgbClr val="53565A"/>
                </a:solidFill>
                <a:latin typeface="Open Sans"/>
              </a:rPr>
              <a:t> the same thing as resource visibility.</a:t>
            </a:r>
          </a:p>
        </p:txBody>
      </p:sp>
      <p:sp>
        <p:nvSpPr>
          <p:cNvPr id="15" name="Rectangle 14"/>
          <p:cNvSpPr/>
          <p:nvPr/>
        </p:nvSpPr>
        <p:spPr>
          <a:xfrm>
            <a:off x="6362700" y="2247900"/>
            <a:ext cx="9525" cy="3486150"/>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6819900" y="2286000"/>
            <a:ext cx="4762500" cy="228600"/>
          </a:xfrm>
          <a:prstGeom prst="rect">
            <a:avLst/>
          </a:prstGeom>
          <a:noFill/>
        </p:spPr>
        <p:txBody>
          <a:bodyPr wrap="square" anchor="t" lIns="0" tIns="0" rIns="0" bIns="0">
            <a:noAutofit/>
          </a:bodyPr>
          <a:lstStyle/>
          <a:p>
            <a:pPr algn="l">
              <a:lnSpc>
                <a:spcPct val="100000"/>
              </a:lnSpc>
              <a:spcBef>
                <a:spcPts val="0"/>
              </a:spcBef>
              <a:spcAft>
                <a:spcPts val="0"/>
              </a:spcAft>
            </a:pPr>
            <a:r>
              <a:rPr sz="975" b="1" i="0" spc="90">
                <a:solidFill>
                  <a:srgbClr val="000000"/>
                </a:solidFill>
                <a:latin typeface="Open Sans"/>
              </a:rPr>
              <a:t>NON-HUMAN PARTICIPANTS</a:t>
            </a:r>
          </a:p>
        </p:txBody>
      </p:sp>
      <p:sp>
        <p:nvSpPr>
          <p:cNvPr id="17" name="TextBox 16"/>
          <p:cNvSpPr txBox="1"/>
          <p:nvPr/>
        </p:nvSpPr>
        <p:spPr>
          <a:xfrm>
            <a:off x="6819900" y="2590800"/>
            <a:ext cx="1047750" cy="22860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00000"/>
                </a:solidFill>
                <a:latin typeface="Open Sans"/>
              </a:rPr>
              <a:t>Agent</a:t>
            </a:r>
          </a:p>
        </p:txBody>
      </p:sp>
      <p:sp>
        <p:nvSpPr>
          <p:cNvPr id="18" name="TextBox 17"/>
          <p:cNvSpPr txBox="1"/>
          <p:nvPr/>
        </p:nvSpPr>
        <p:spPr>
          <a:xfrm>
            <a:off x="7867650" y="2581275"/>
            <a:ext cx="3714750" cy="419100"/>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A reusable configuration — not a long-running process. Executes only when triggered.</a:t>
            </a:r>
          </a:p>
        </p:txBody>
      </p:sp>
      <p:sp>
        <p:nvSpPr>
          <p:cNvPr id="19" name="TextBox 18"/>
          <p:cNvSpPr txBox="1"/>
          <p:nvPr/>
        </p:nvSpPr>
        <p:spPr>
          <a:xfrm>
            <a:off x="6819900" y="3028950"/>
            <a:ext cx="1047750" cy="22860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00000"/>
                </a:solidFill>
                <a:latin typeface="Open Sans"/>
              </a:rPr>
              <a:t>Squad</a:t>
            </a:r>
          </a:p>
        </p:txBody>
      </p:sp>
      <p:sp>
        <p:nvSpPr>
          <p:cNvPr id="20" name="TextBox 19"/>
          <p:cNvSpPr txBox="1"/>
          <p:nvPr/>
        </p:nvSpPr>
        <p:spPr>
          <a:xfrm>
            <a:off x="7867650" y="3019425"/>
            <a:ext cx="3714750" cy="419100"/>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Agents and members led by an agent leader, which coordinates the work.</a:t>
            </a:r>
          </a:p>
        </p:txBody>
      </p:sp>
      <p:sp>
        <p:nvSpPr>
          <p:cNvPr id="21" name="TextBox 20"/>
          <p:cNvSpPr txBox="1"/>
          <p:nvPr/>
        </p:nvSpPr>
        <p:spPr>
          <a:xfrm>
            <a:off x="6819900" y="3467100"/>
            <a:ext cx="1047750" cy="22860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00000"/>
                </a:solidFill>
                <a:latin typeface="Open Sans"/>
              </a:rPr>
              <a:t>Autopilot</a:t>
            </a:r>
          </a:p>
        </p:txBody>
      </p:sp>
      <p:sp>
        <p:nvSpPr>
          <p:cNvPr id="22" name="TextBox 21"/>
          <p:cNvSpPr txBox="1"/>
          <p:nvPr/>
        </p:nvSpPr>
        <p:spPr>
          <a:xfrm>
            <a:off x="7867650" y="3457575"/>
            <a:ext cx="3714750" cy="419100"/>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Triggers runs on a schedule or from an external event.</a:t>
            </a:r>
          </a:p>
        </p:txBody>
      </p:sp>
      <p:sp>
        <p:nvSpPr>
          <p:cNvPr id="23" name="Rectangle 22"/>
          <p:cNvSpPr/>
          <p:nvPr/>
        </p:nvSpPr>
        <p:spPr>
          <a:xfrm>
            <a:off x="6819900" y="3981450"/>
            <a:ext cx="47625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819900" y="4114800"/>
            <a:ext cx="4762500" cy="228600"/>
          </a:xfrm>
          <a:prstGeom prst="rect">
            <a:avLst/>
          </a:prstGeom>
          <a:noFill/>
        </p:spPr>
        <p:txBody>
          <a:bodyPr wrap="square" anchor="t" lIns="0" tIns="0" rIns="0" bIns="0">
            <a:noAutofit/>
          </a:bodyPr>
          <a:lstStyle/>
          <a:p>
            <a:pPr algn="l">
              <a:lnSpc>
                <a:spcPct val="100000"/>
              </a:lnSpc>
              <a:spcBef>
                <a:spcPts val="0"/>
              </a:spcBef>
              <a:spcAft>
                <a:spcPts val="0"/>
              </a:spcAft>
            </a:pPr>
            <a:r>
              <a:rPr sz="975" b="1" i="0" spc="90">
                <a:solidFill>
                  <a:srgbClr val="000000"/>
                </a:solidFill>
                <a:latin typeface="Open Sans"/>
              </a:rPr>
              <a:t>ACCESS — PER-RESOURCE VISIBILITY</a:t>
            </a:r>
          </a:p>
        </p:txBody>
      </p:sp>
      <p:sp>
        <p:nvSpPr>
          <p:cNvPr id="25" name="Rectangle 24"/>
          <p:cNvSpPr/>
          <p:nvPr/>
        </p:nvSpPr>
        <p:spPr>
          <a:xfrm>
            <a:off x="6819900" y="4400550"/>
            <a:ext cx="1447800" cy="514350"/>
          </a:xfrm>
          <a:prstGeom prst="rect">
            <a:avLst/>
          </a:prstGeom>
          <a:solidFill>
            <a:srgbClr val="E3F0D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953250" y="4476750"/>
            <a:ext cx="1200150" cy="209550"/>
          </a:xfrm>
          <a:prstGeom prst="rect">
            <a:avLst/>
          </a:prstGeom>
          <a:noFill/>
        </p:spPr>
        <p:txBody>
          <a:bodyPr wrap="square" anchor="t" lIns="0" tIns="0" rIns="0" bIns="0">
            <a:noAutofit/>
          </a:bodyPr>
          <a:lstStyle/>
          <a:p>
            <a:pPr algn="l">
              <a:lnSpc>
                <a:spcPct val="115000"/>
              </a:lnSpc>
              <a:spcBef>
                <a:spcPts val="0"/>
              </a:spcBef>
              <a:spcAft>
                <a:spcPts val="0"/>
              </a:spcAft>
            </a:pPr>
            <a:r>
              <a:rPr sz="975" b="1" i="0">
                <a:solidFill>
                  <a:srgbClr val="046A38"/>
                </a:solidFill>
                <a:latin typeface="Open Sans"/>
              </a:rPr>
              <a:t>Only me</a:t>
            </a:r>
          </a:p>
        </p:txBody>
      </p:sp>
      <p:sp>
        <p:nvSpPr>
          <p:cNvPr id="27" name="TextBox 26"/>
          <p:cNvSpPr txBox="1"/>
          <p:nvPr/>
        </p:nvSpPr>
        <p:spPr>
          <a:xfrm>
            <a:off x="6953250" y="4667250"/>
            <a:ext cx="1200150" cy="190500"/>
          </a:xfrm>
          <a:prstGeom prst="rect">
            <a:avLst/>
          </a:prstGeom>
          <a:noFill/>
        </p:spPr>
        <p:txBody>
          <a:bodyPr wrap="square" anchor="t" lIns="0" tIns="0" rIns="0" bIns="0">
            <a:noAutofit/>
          </a:bodyPr>
          <a:lstStyle/>
          <a:p>
            <a:pPr algn="l">
              <a:lnSpc>
                <a:spcPct val="110000"/>
              </a:lnSpc>
              <a:spcBef>
                <a:spcPts val="0"/>
              </a:spcBef>
              <a:spcAft>
                <a:spcPts val="0"/>
              </a:spcAft>
            </a:pPr>
            <a:r>
              <a:rPr sz="862" b="0" i="0">
                <a:solidFill>
                  <a:srgbClr val="75787B"/>
                </a:solidFill>
                <a:latin typeface="Open Sans"/>
              </a:rPr>
              <a:t>default</a:t>
            </a:r>
          </a:p>
        </p:txBody>
      </p:sp>
      <p:sp>
        <p:nvSpPr>
          <p:cNvPr id="28" name="Rectangle 27"/>
          <p:cNvSpPr/>
          <p:nvPr/>
        </p:nvSpPr>
        <p:spPr>
          <a:xfrm>
            <a:off x="8420100" y="4400550"/>
            <a:ext cx="1447800" cy="514350"/>
          </a:xfrm>
          <a:prstGeom prst="rect">
            <a:avLst/>
          </a:prstGeom>
          <a:solidFill>
            <a:srgbClr val="F4F4F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553450" y="4476750"/>
            <a:ext cx="1200150" cy="209550"/>
          </a:xfrm>
          <a:prstGeom prst="rect">
            <a:avLst/>
          </a:prstGeom>
          <a:noFill/>
        </p:spPr>
        <p:txBody>
          <a:bodyPr wrap="square" anchor="t" lIns="0" tIns="0" rIns="0" bIns="0">
            <a:noAutofit/>
          </a:bodyPr>
          <a:lstStyle/>
          <a:p>
            <a:pPr algn="l">
              <a:lnSpc>
                <a:spcPct val="115000"/>
              </a:lnSpc>
              <a:spcBef>
                <a:spcPts val="0"/>
              </a:spcBef>
              <a:spcAft>
                <a:spcPts val="0"/>
              </a:spcAft>
            </a:pPr>
            <a:r>
              <a:rPr sz="975" b="1" i="0">
                <a:solidFill>
                  <a:srgbClr val="000000"/>
                </a:solidFill>
                <a:latin typeface="Open Sans"/>
              </a:rPr>
              <a:t>Entire workspace</a:t>
            </a:r>
          </a:p>
        </p:txBody>
      </p:sp>
      <p:sp>
        <p:nvSpPr>
          <p:cNvPr id="30" name="Rectangle 29"/>
          <p:cNvSpPr/>
          <p:nvPr/>
        </p:nvSpPr>
        <p:spPr>
          <a:xfrm>
            <a:off x="10020300" y="4400550"/>
            <a:ext cx="1447800" cy="514350"/>
          </a:xfrm>
          <a:prstGeom prst="rect">
            <a:avLst/>
          </a:prstGeom>
          <a:solidFill>
            <a:srgbClr val="F4F4F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10153650" y="4476750"/>
            <a:ext cx="1200150" cy="209550"/>
          </a:xfrm>
          <a:prstGeom prst="rect">
            <a:avLst/>
          </a:prstGeom>
          <a:noFill/>
        </p:spPr>
        <p:txBody>
          <a:bodyPr wrap="square" anchor="t" lIns="0" tIns="0" rIns="0" bIns="0">
            <a:noAutofit/>
          </a:bodyPr>
          <a:lstStyle/>
          <a:p>
            <a:pPr algn="l">
              <a:lnSpc>
                <a:spcPct val="115000"/>
              </a:lnSpc>
              <a:spcBef>
                <a:spcPts val="0"/>
              </a:spcBef>
              <a:spcAft>
                <a:spcPts val="0"/>
              </a:spcAft>
            </a:pPr>
            <a:r>
              <a:rPr sz="975" b="1" i="0">
                <a:solidFill>
                  <a:srgbClr val="000000"/>
                </a:solidFill>
                <a:latin typeface="Open Sans"/>
              </a:rPr>
              <a:t>Specific people</a:t>
            </a:r>
          </a:p>
        </p:txBody>
      </p:sp>
      <p:sp>
        <p:nvSpPr>
          <p:cNvPr id="32" name="TextBox 31"/>
          <p:cNvSpPr txBox="1"/>
          <p:nvPr/>
        </p:nvSpPr>
        <p:spPr>
          <a:xfrm>
            <a:off x="10153650" y="4667250"/>
            <a:ext cx="1200150" cy="190500"/>
          </a:xfrm>
          <a:prstGeom prst="rect">
            <a:avLst/>
          </a:prstGeom>
          <a:noFill/>
        </p:spPr>
        <p:txBody>
          <a:bodyPr wrap="square" anchor="t" lIns="0" tIns="0" rIns="0" bIns="0">
            <a:noAutofit/>
          </a:bodyPr>
          <a:lstStyle/>
          <a:p>
            <a:pPr algn="l">
              <a:lnSpc>
                <a:spcPct val="110000"/>
              </a:lnSpc>
              <a:spcBef>
                <a:spcPts val="0"/>
              </a:spcBef>
              <a:spcAft>
                <a:spcPts val="0"/>
              </a:spcAft>
            </a:pPr>
            <a:r>
              <a:rPr sz="862" b="0" i="0">
                <a:solidFill>
                  <a:srgbClr val="75787B"/>
                </a:solidFill>
                <a:latin typeface="Open Sans"/>
              </a:rPr>
              <a:t>allowlist</a:t>
            </a:r>
          </a:p>
        </p:txBody>
      </p:sp>
      <p:sp>
        <p:nvSpPr>
          <p:cNvPr id="33" name="TextBox 32"/>
          <p:cNvSpPr txBox="1"/>
          <p:nvPr/>
        </p:nvSpPr>
        <p:spPr>
          <a:xfrm>
            <a:off x="6819900" y="5048250"/>
            <a:ext cx="4762500" cy="419100"/>
          </a:xfrm>
          <a:prstGeom prst="rect">
            <a:avLst/>
          </a:prstGeom>
          <a:noFill/>
        </p:spPr>
        <p:txBody>
          <a:bodyPr wrap="square" anchor="t" lIns="0" tIns="0" rIns="0" bIns="0">
            <a:noAutofit/>
          </a:bodyPr>
          <a:lstStyle/>
          <a:p>
            <a:pPr algn="l">
              <a:lnSpc>
                <a:spcPct val="140000"/>
              </a:lnSpc>
              <a:spcBef>
                <a:spcPts val="0"/>
              </a:spcBef>
              <a:spcAft>
                <a:spcPts val="0"/>
              </a:spcAft>
            </a:pPr>
            <a:r>
              <a:rPr sz="975" b="0">
                <a:solidFill>
                  <a:srgbClr val="53565A"/>
                </a:solidFill>
                <a:latin typeface="Open Sans"/>
              </a:rPr>
              <a:t>Admins can </a:t>
            </a:r>
            <a:r>
              <a:rPr sz="975" b="1">
                <a:solidFill>
                  <a:srgbClr val="000000"/>
                </a:solidFill>
                <a:latin typeface="Open Sans"/>
              </a:rPr>
              <a:t>manage</a:t>
            </a:r>
            <a:r>
              <a:rPr sz="975" b="0">
                <a:solidFill>
                  <a:srgbClr val="53565A"/>
                </a:solidFill>
                <a:latin typeface="Open Sans"/>
              </a:rPr>
              <a:t> a resource but </a:t>
            </a:r>
            <a:r>
              <a:rPr sz="975" b="1">
                <a:solidFill>
                  <a:srgbClr val="000000"/>
                </a:solidFill>
                <a:latin typeface="Open Sans"/>
              </a:rPr>
              <a:t>cannot bypass</a:t>
            </a:r>
            <a:r>
              <a:rPr sz="975" b="0">
                <a:solidFill>
                  <a:srgbClr val="53565A"/>
                </a:solidFill>
                <a:latin typeface="Open Sans"/>
              </a:rPr>
              <a:t> Access to use it. Management rights and usage rights are separate.</a:t>
            </a:r>
          </a:p>
        </p:txBody>
      </p:sp>
      <p:sp>
        <p:nvSpPr>
          <p:cNvPr id="34" name="TextBox 33"/>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35" name="TextBox 34"/>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36" name="TextBox 35"/>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VALUE CHAIN</a:t>
            </a:r>
          </a:p>
        </p:txBody>
      </p:sp>
      <p:sp>
        <p:nvSpPr>
          <p:cNvPr id="4" name="TextBox 3"/>
          <p:cNvSpPr txBox="1"/>
          <p:nvPr/>
        </p:nvSpPr>
        <p:spPr>
          <a:xfrm>
            <a:off x="609600" y="1028700"/>
            <a:ext cx="10972800" cy="434340"/>
          </a:xfrm>
          <a:prstGeom prst="rect">
            <a:avLst/>
          </a:prstGeom>
          <a:noFill/>
        </p:spPr>
        <p:txBody>
          <a:bodyPr wrap="square" anchor="t" lIns="0" tIns="0" rIns="0" bIns="0">
            <a:noAutofit/>
          </a:bodyPr>
          <a:lstStyle/>
          <a:p>
            <a:pPr algn="l">
              <a:lnSpc>
                <a:spcPct val="106000"/>
              </a:lnSpc>
              <a:spcBef>
                <a:spcPts val="0"/>
              </a:spcBef>
              <a:spcAft>
                <a:spcPts val="0"/>
              </a:spcAft>
            </a:pPr>
            <a:r>
              <a:rPr sz="2700" b="0" i="0">
                <a:solidFill>
                  <a:srgbClr val="000000"/>
                </a:solidFill>
                <a:latin typeface="Open Sans Light"/>
              </a:rPr>
              <a:t>From intent to captured capability</a:t>
            </a:r>
          </a:p>
        </p:txBody>
      </p:sp>
      <p:sp>
        <p:nvSpPr>
          <p:cNvPr id="5" name="Rectangle 4"/>
          <p:cNvSpPr/>
          <p:nvPr/>
        </p:nvSpPr>
        <p:spPr>
          <a:xfrm>
            <a:off x="609600" y="1539240"/>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Pentagon 5"/>
          <p:cNvSpPr/>
          <p:nvPr/>
        </p:nvSpPr>
        <p:spPr>
          <a:xfrm>
            <a:off x="609600" y="2324100"/>
            <a:ext cx="1461407" cy="571500"/>
          </a:xfrm>
          <a:prstGeom prst="homePlate">
            <a:avLst/>
          </a:prstGeom>
          <a:solidFill>
            <a:srgbClr val="F4F4F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lIns="95250" rIns="57150">
            <a:noAutofit/>
          </a:bodyPr>
          <a:lstStyle/>
          <a:p>
            <a:pPr algn="ctr">
              <a:lnSpc>
                <a:spcPct val="115000"/>
              </a:lnSpc>
              <a:spcBef>
                <a:spcPts val="0"/>
              </a:spcBef>
              <a:spcAft>
                <a:spcPts val="0"/>
              </a:spcAft>
            </a:pPr>
            <a:r>
              <a:rPr sz="1050" b="1" i="0">
                <a:solidFill>
                  <a:srgbClr val="000000"/>
                </a:solidFill>
                <a:latin typeface="Open Sans"/>
              </a:rPr>
              <a:t>Intent</a:t>
            </a:r>
          </a:p>
        </p:txBody>
      </p:sp>
      <p:sp>
        <p:nvSpPr>
          <p:cNvPr id="7" name="Chevron 6"/>
          <p:cNvSpPr/>
          <p:nvPr/>
        </p:nvSpPr>
        <p:spPr>
          <a:xfrm>
            <a:off x="2061482" y="2324100"/>
            <a:ext cx="1594757" cy="571500"/>
          </a:xfrm>
          <a:prstGeom prst="chevron">
            <a:avLst/>
          </a:prstGeom>
          <a:solidFill>
            <a:srgbClr val="F4F4F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lIns="171450" rIns="57150">
            <a:noAutofit/>
          </a:bodyPr>
          <a:lstStyle/>
          <a:p>
            <a:pPr algn="ctr">
              <a:lnSpc>
                <a:spcPct val="115000"/>
              </a:lnSpc>
              <a:spcBef>
                <a:spcPts val="0"/>
              </a:spcBef>
              <a:spcAft>
                <a:spcPts val="0"/>
              </a:spcAft>
            </a:pPr>
            <a:r>
              <a:rPr sz="1050" b="1" i="0">
                <a:solidFill>
                  <a:srgbClr val="000000"/>
                </a:solidFill>
                <a:latin typeface="Open Sans"/>
              </a:rPr>
              <a:t>Frame</a:t>
            </a:r>
          </a:p>
        </p:txBody>
      </p:sp>
      <p:sp>
        <p:nvSpPr>
          <p:cNvPr id="8" name="Chevron 7"/>
          <p:cNvSpPr/>
          <p:nvPr/>
        </p:nvSpPr>
        <p:spPr>
          <a:xfrm>
            <a:off x="3646714" y="2324100"/>
            <a:ext cx="1594757" cy="571500"/>
          </a:xfrm>
          <a:prstGeom prst="chevron">
            <a:avLst/>
          </a:prstGeom>
          <a:solidFill>
            <a:srgbClr val="F4F4F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lIns="171450" rIns="57150">
            <a:noAutofit/>
          </a:bodyPr>
          <a:lstStyle/>
          <a:p>
            <a:pPr algn="ctr">
              <a:lnSpc>
                <a:spcPct val="115000"/>
              </a:lnSpc>
              <a:spcBef>
                <a:spcPts val="0"/>
              </a:spcBef>
              <a:spcAft>
                <a:spcPts val="0"/>
              </a:spcAft>
            </a:pPr>
            <a:r>
              <a:rPr sz="1050" b="1" i="0">
                <a:solidFill>
                  <a:srgbClr val="000000"/>
                </a:solidFill>
                <a:latin typeface="Open Sans"/>
              </a:rPr>
              <a:t>Delegate</a:t>
            </a:r>
          </a:p>
        </p:txBody>
      </p:sp>
      <p:sp>
        <p:nvSpPr>
          <p:cNvPr id="9" name="Chevron 8"/>
          <p:cNvSpPr/>
          <p:nvPr/>
        </p:nvSpPr>
        <p:spPr>
          <a:xfrm>
            <a:off x="5231946" y="2324100"/>
            <a:ext cx="1594757" cy="571500"/>
          </a:xfrm>
          <a:prstGeom prst="chevron">
            <a:avLst/>
          </a:prstGeom>
          <a:solidFill>
            <a:srgbClr val="F4F4F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lIns="171450" rIns="57150">
            <a:noAutofit/>
          </a:bodyPr>
          <a:lstStyle/>
          <a:p>
            <a:pPr algn="ctr">
              <a:lnSpc>
                <a:spcPct val="115000"/>
              </a:lnSpc>
              <a:spcBef>
                <a:spcPts val="0"/>
              </a:spcBef>
              <a:spcAft>
                <a:spcPts val="0"/>
              </a:spcAft>
            </a:pPr>
            <a:r>
              <a:rPr sz="1050" b="1" i="0">
                <a:solidFill>
                  <a:srgbClr val="000000"/>
                </a:solidFill>
                <a:latin typeface="Open Sans"/>
              </a:rPr>
              <a:t>Execute</a:t>
            </a:r>
          </a:p>
        </p:txBody>
      </p:sp>
      <p:sp>
        <p:nvSpPr>
          <p:cNvPr id="10" name="Chevron 9"/>
          <p:cNvSpPr/>
          <p:nvPr/>
        </p:nvSpPr>
        <p:spPr>
          <a:xfrm>
            <a:off x="6817179" y="2324100"/>
            <a:ext cx="1594757" cy="571500"/>
          </a:xfrm>
          <a:prstGeom prst="chevron">
            <a:avLst/>
          </a:prstGeom>
          <a:solidFill>
            <a:srgbClr val="86BC25"/>
          </a:solidFill>
          <a:ln w="1270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171450" rIns="57150">
            <a:noAutofit/>
          </a:bodyPr>
          <a:lstStyle/>
          <a:p>
            <a:pPr algn="ctr">
              <a:lnSpc>
                <a:spcPct val="115000"/>
              </a:lnSpc>
              <a:spcBef>
                <a:spcPts val="0"/>
              </a:spcBef>
              <a:spcAft>
                <a:spcPts val="0"/>
              </a:spcAft>
            </a:pPr>
            <a:r>
              <a:rPr sz="1050" b="1" i="0">
                <a:solidFill>
                  <a:srgbClr val="FFFFFF"/>
                </a:solidFill>
                <a:latin typeface="Open Sans"/>
              </a:rPr>
              <a:t>Review</a:t>
            </a:r>
          </a:p>
        </p:txBody>
      </p:sp>
      <p:sp>
        <p:nvSpPr>
          <p:cNvPr id="11" name="Chevron 10"/>
          <p:cNvSpPr/>
          <p:nvPr/>
        </p:nvSpPr>
        <p:spPr>
          <a:xfrm>
            <a:off x="8402411" y="2324100"/>
            <a:ext cx="1594757" cy="571500"/>
          </a:xfrm>
          <a:prstGeom prst="chevron">
            <a:avLst/>
          </a:prstGeom>
          <a:solidFill>
            <a:srgbClr val="F4F4F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lIns="171450" rIns="57150">
            <a:noAutofit/>
          </a:bodyPr>
          <a:lstStyle/>
          <a:p>
            <a:pPr algn="ctr">
              <a:lnSpc>
                <a:spcPct val="115000"/>
              </a:lnSpc>
              <a:spcBef>
                <a:spcPts val="0"/>
              </a:spcBef>
              <a:spcAft>
                <a:spcPts val="0"/>
              </a:spcAft>
            </a:pPr>
            <a:r>
              <a:rPr sz="1050" b="1" i="0">
                <a:solidFill>
                  <a:srgbClr val="000000"/>
                </a:solidFill>
                <a:latin typeface="Open Sans"/>
              </a:rPr>
              <a:t>Deliver</a:t>
            </a:r>
          </a:p>
        </p:txBody>
      </p:sp>
      <p:sp>
        <p:nvSpPr>
          <p:cNvPr id="12" name="Chevron 11"/>
          <p:cNvSpPr/>
          <p:nvPr/>
        </p:nvSpPr>
        <p:spPr>
          <a:xfrm>
            <a:off x="9987643" y="2324100"/>
            <a:ext cx="1594757" cy="571500"/>
          </a:xfrm>
          <a:prstGeom prst="chevron">
            <a:avLst/>
          </a:prstGeom>
          <a:solidFill>
            <a:srgbClr val="F4F4F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lIns="171450" rIns="57150">
            <a:noAutofit/>
          </a:bodyPr>
          <a:lstStyle/>
          <a:p>
            <a:pPr algn="ctr">
              <a:lnSpc>
                <a:spcPct val="115000"/>
              </a:lnSpc>
              <a:spcBef>
                <a:spcPts val="0"/>
              </a:spcBef>
              <a:spcAft>
                <a:spcPts val="0"/>
              </a:spcAft>
            </a:pPr>
            <a:r>
              <a:rPr sz="1050" b="1" i="0">
                <a:solidFill>
                  <a:srgbClr val="000000"/>
                </a:solidFill>
                <a:latin typeface="Open Sans"/>
              </a:rPr>
              <a:t>Learn</a:t>
            </a:r>
          </a:p>
        </p:txBody>
      </p:sp>
      <p:sp>
        <p:nvSpPr>
          <p:cNvPr id="13" name="TextBox 12"/>
          <p:cNvSpPr txBox="1"/>
          <p:nvPr/>
        </p:nvSpPr>
        <p:spPr>
          <a:xfrm>
            <a:off x="609600" y="3028950"/>
            <a:ext cx="10972800" cy="247650"/>
          </a:xfrm>
          <a:prstGeom prst="rect">
            <a:avLst/>
          </a:prstGeom>
          <a:noFill/>
        </p:spPr>
        <p:txBody>
          <a:bodyPr wrap="square" anchor="t" lIns="0" tIns="0" rIns="0" bIns="0">
            <a:noAutofit/>
          </a:bodyPr>
          <a:lstStyle/>
          <a:p>
            <a:pPr algn="l">
              <a:lnSpc>
                <a:spcPct val="140000"/>
              </a:lnSpc>
              <a:spcBef>
                <a:spcPts val="0"/>
              </a:spcBef>
              <a:spcAft>
                <a:spcPts val="0"/>
              </a:spcAft>
            </a:pPr>
            <a:r>
              <a:rPr sz="1050" b="0">
                <a:solidFill>
                  <a:srgbClr val="53565A"/>
                </a:solidFill>
                <a:latin typeface="Open Sans"/>
              </a:rPr>
              <a:t>Two links carry the weight: </a:t>
            </a:r>
            <a:r>
              <a:rPr sz="1050" b="1">
                <a:solidFill>
                  <a:srgbClr val="000000"/>
                </a:solidFill>
                <a:latin typeface="Open Sans"/>
              </a:rPr>
              <a:t>review is a human judgment</a:t>
            </a:r>
            <a:r>
              <a:rPr sz="1050" b="0">
                <a:solidFill>
                  <a:srgbClr val="53565A"/>
                </a:solidFill>
                <a:latin typeface="Open Sans"/>
              </a:rPr>
              <a:t> — the model only gets the evidence in order — and </a:t>
            </a:r>
            <a:r>
              <a:rPr sz="1050" b="1">
                <a:solidFill>
                  <a:srgbClr val="000000"/>
                </a:solidFill>
                <a:latin typeface="Open Sans"/>
              </a:rPr>
              <a:t>learning flows back</a:t>
            </a:r>
            <a:r>
              <a:rPr sz="1050" b="0">
                <a:solidFill>
                  <a:srgbClr val="53565A"/>
                </a:solidFill>
                <a:latin typeface="Open Sans"/>
              </a:rPr>
              <a:t> into the next delegation.</a:t>
            </a:r>
          </a:p>
        </p:txBody>
      </p:sp>
      <p:sp>
        <p:nvSpPr>
          <p:cNvPr id="14" name="Rectangle 13"/>
          <p:cNvSpPr/>
          <p:nvPr/>
        </p:nvSpPr>
        <p:spPr>
          <a:xfrm>
            <a:off x="609600" y="3448050"/>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09600" y="3619500"/>
            <a:ext cx="5715000" cy="228600"/>
          </a:xfrm>
          <a:prstGeom prst="rect">
            <a:avLst/>
          </a:prstGeom>
          <a:noFill/>
        </p:spPr>
        <p:txBody>
          <a:bodyPr wrap="square" anchor="t" lIns="0" tIns="0" rIns="0" bIns="0">
            <a:noAutofit/>
          </a:bodyPr>
          <a:lstStyle/>
          <a:p>
            <a:pPr algn="l">
              <a:lnSpc>
                <a:spcPct val="100000"/>
              </a:lnSpc>
              <a:spcBef>
                <a:spcPts val="0"/>
              </a:spcBef>
              <a:spcAft>
                <a:spcPts val="0"/>
              </a:spcAft>
            </a:pPr>
            <a:r>
              <a:rPr sz="975" b="1" i="0" spc="90">
                <a:solidFill>
                  <a:srgbClr val="000000"/>
                </a:solidFill>
                <a:latin typeface="Open Sans"/>
              </a:rPr>
              <a:t>FOUR PEER WAYS TO DELEGATE</a:t>
            </a:r>
          </a:p>
        </p:txBody>
      </p:sp>
      <p:sp>
        <p:nvSpPr>
          <p:cNvPr id="16" name="Rectangle 15"/>
          <p:cNvSpPr/>
          <p:nvPr/>
        </p:nvSpPr>
        <p:spPr>
          <a:xfrm>
            <a:off x="609600" y="3943350"/>
            <a:ext cx="25527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ectangle 16"/>
          <p:cNvSpPr/>
          <p:nvPr/>
        </p:nvSpPr>
        <p:spPr>
          <a:xfrm>
            <a:off x="609600" y="3981450"/>
            <a:ext cx="2552700" cy="146685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00100" y="4133850"/>
            <a:ext cx="2171700" cy="247650"/>
          </a:xfrm>
          <a:prstGeom prst="rect">
            <a:avLst/>
          </a:prstGeom>
          <a:noFill/>
        </p:spPr>
        <p:txBody>
          <a:bodyPr wrap="square" anchor="t" lIns="0" tIns="0" rIns="0" bIns="0">
            <a:noAutofit/>
          </a:bodyPr>
          <a:lstStyle/>
          <a:p>
            <a:pPr algn="l">
              <a:lnSpc>
                <a:spcPct val="120000"/>
              </a:lnSpc>
              <a:spcBef>
                <a:spcPts val="0"/>
              </a:spcBef>
              <a:spcAft>
                <a:spcPts val="0"/>
              </a:spcAft>
            </a:pPr>
            <a:r>
              <a:rPr sz="1237" b="1" i="0">
                <a:solidFill>
                  <a:srgbClr val="000000"/>
                </a:solidFill>
                <a:latin typeface="Open Sans"/>
              </a:rPr>
              <a:t>Assign work</a:t>
            </a:r>
          </a:p>
        </p:txBody>
      </p:sp>
      <p:sp>
        <p:nvSpPr>
          <p:cNvPr id="19" name="TextBox 18"/>
          <p:cNvSpPr txBox="1"/>
          <p:nvPr/>
        </p:nvSpPr>
        <p:spPr>
          <a:xfrm>
            <a:off x="800100" y="4400550"/>
            <a:ext cx="2171700" cy="590550"/>
          </a:xfrm>
          <a:prstGeom prst="rect">
            <a:avLst/>
          </a:prstGeom>
          <a:noFill/>
        </p:spPr>
        <p:txBody>
          <a:bodyPr wrap="square" anchor="t" lIns="0" tIns="0" rIns="0" bIns="0">
            <a:noAutofit/>
          </a:bodyPr>
          <a:lstStyle/>
          <a:p>
            <a:pPr algn="l">
              <a:lnSpc>
                <a:spcPct val="140000"/>
              </a:lnSpc>
              <a:spcBef>
                <a:spcPts val="0"/>
              </a:spcBef>
              <a:spcAft>
                <a:spcPts val="0"/>
              </a:spcAft>
            </a:pPr>
            <a:r>
              <a:rPr sz="975" b="0" i="0">
                <a:solidFill>
                  <a:srgbClr val="53565A"/>
                </a:solidFill>
                <a:latin typeface="Open Sans"/>
              </a:rPr>
              <a:t>Formal work with a defined deliverable that needs a record</a:t>
            </a:r>
          </a:p>
        </p:txBody>
      </p:sp>
      <p:sp>
        <p:nvSpPr>
          <p:cNvPr id="20" name="Rectangle 19"/>
          <p:cNvSpPr/>
          <p:nvPr/>
        </p:nvSpPr>
        <p:spPr>
          <a:xfrm>
            <a:off x="800100" y="5048250"/>
            <a:ext cx="21717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00100" y="5143500"/>
            <a:ext cx="2171700" cy="228600"/>
          </a:xfrm>
          <a:prstGeom prst="rect">
            <a:avLst/>
          </a:prstGeom>
          <a:noFill/>
        </p:spPr>
        <p:txBody>
          <a:bodyPr wrap="square" anchor="t" lIns="0" tIns="0" rIns="0" bIns="0">
            <a:noAutofit/>
          </a:bodyPr>
          <a:lstStyle/>
          <a:p>
            <a:pPr algn="l">
              <a:lnSpc>
                <a:spcPct val="120000"/>
              </a:lnSpc>
              <a:spcBef>
                <a:spcPts val="0"/>
              </a:spcBef>
              <a:spcAft>
                <a:spcPts val="0"/>
              </a:spcAft>
            </a:pPr>
            <a:r>
              <a:rPr sz="862" b="0" i="0">
                <a:solidFill>
                  <a:srgbClr val="75787B"/>
                </a:solidFill>
                <a:latin typeface="Open Sans"/>
              </a:rPr>
              <a:t>Set the assignee to an agent or squad</a:t>
            </a:r>
          </a:p>
        </p:txBody>
      </p:sp>
      <p:sp>
        <p:nvSpPr>
          <p:cNvPr id="22" name="Rectangle 21"/>
          <p:cNvSpPr/>
          <p:nvPr/>
        </p:nvSpPr>
        <p:spPr>
          <a:xfrm>
            <a:off x="3314700" y="3943350"/>
            <a:ext cx="25527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ectangle 22"/>
          <p:cNvSpPr/>
          <p:nvPr/>
        </p:nvSpPr>
        <p:spPr>
          <a:xfrm>
            <a:off x="3314700" y="3981450"/>
            <a:ext cx="2552700" cy="146685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3505200" y="4133850"/>
            <a:ext cx="2171700" cy="247650"/>
          </a:xfrm>
          <a:prstGeom prst="rect">
            <a:avLst/>
          </a:prstGeom>
          <a:noFill/>
        </p:spPr>
        <p:txBody>
          <a:bodyPr wrap="square" anchor="t" lIns="0" tIns="0" rIns="0" bIns="0">
            <a:noAutofit/>
          </a:bodyPr>
          <a:lstStyle/>
          <a:p>
            <a:pPr algn="l">
              <a:lnSpc>
                <a:spcPct val="120000"/>
              </a:lnSpc>
              <a:spcBef>
                <a:spcPts val="0"/>
              </a:spcBef>
              <a:spcAft>
                <a:spcPts val="0"/>
              </a:spcAft>
            </a:pPr>
            <a:r>
              <a:rPr sz="1237" b="1" i="0">
                <a:solidFill>
                  <a:srgbClr val="000000"/>
                </a:solidFill>
                <a:latin typeface="Open Sans"/>
              </a:rPr>
              <a:t>@-mention</a:t>
            </a:r>
          </a:p>
        </p:txBody>
      </p:sp>
      <p:sp>
        <p:nvSpPr>
          <p:cNvPr id="25" name="TextBox 24"/>
          <p:cNvSpPr txBox="1"/>
          <p:nvPr/>
        </p:nvSpPr>
        <p:spPr>
          <a:xfrm>
            <a:off x="3505200" y="4400550"/>
            <a:ext cx="2171700" cy="590550"/>
          </a:xfrm>
          <a:prstGeom prst="rect">
            <a:avLst/>
          </a:prstGeom>
          <a:noFill/>
        </p:spPr>
        <p:txBody>
          <a:bodyPr wrap="square" anchor="t" lIns="0" tIns="0" rIns="0" bIns="0">
            <a:noAutofit/>
          </a:bodyPr>
          <a:lstStyle/>
          <a:p>
            <a:pPr algn="l">
              <a:lnSpc>
                <a:spcPct val="140000"/>
              </a:lnSpc>
              <a:spcBef>
                <a:spcPts val="0"/>
              </a:spcBef>
              <a:spcAft>
                <a:spcPts val="0"/>
              </a:spcAft>
            </a:pPr>
            <a:r>
              <a:rPr sz="975" b="0" i="0">
                <a:solidFill>
                  <a:srgbClr val="53565A"/>
                </a:solidFill>
                <a:latin typeface="Open Sans"/>
              </a:rPr>
              <a:t>Pull an agent into an ongoing discussion for one specific point</a:t>
            </a:r>
          </a:p>
        </p:txBody>
      </p:sp>
      <p:sp>
        <p:nvSpPr>
          <p:cNvPr id="26" name="Rectangle 25"/>
          <p:cNvSpPr/>
          <p:nvPr/>
        </p:nvSpPr>
        <p:spPr>
          <a:xfrm>
            <a:off x="3505200" y="5048250"/>
            <a:ext cx="21717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3505200" y="5143500"/>
            <a:ext cx="2171700" cy="228600"/>
          </a:xfrm>
          <a:prstGeom prst="rect">
            <a:avLst/>
          </a:prstGeom>
          <a:noFill/>
        </p:spPr>
        <p:txBody>
          <a:bodyPr wrap="square" anchor="t" lIns="0" tIns="0" rIns="0" bIns="0">
            <a:noAutofit/>
          </a:bodyPr>
          <a:lstStyle/>
          <a:p>
            <a:pPr algn="l">
              <a:lnSpc>
                <a:spcPct val="120000"/>
              </a:lnSpc>
              <a:spcBef>
                <a:spcPts val="0"/>
              </a:spcBef>
              <a:spcAft>
                <a:spcPts val="0"/>
              </a:spcAft>
            </a:pPr>
            <a:r>
              <a:rPr sz="862" b="0" i="0">
                <a:solidFill>
                  <a:srgbClr val="75787B"/>
                </a:solidFill>
                <a:latin typeface="Open Sans"/>
              </a:rPr>
              <a:t>Mention the agent in a comment</a:t>
            </a:r>
          </a:p>
        </p:txBody>
      </p:sp>
      <p:sp>
        <p:nvSpPr>
          <p:cNvPr id="28" name="Rectangle 27"/>
          <p:cNvSpPr/>
          <p:nvPr/>
        </p:nvSpPr>
        <p:spPr>
          <a:xfrm>
            <a:off x="6019800" y="3943350"/>
            <a:ext cx="25527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ectangle 28"/>
          <p:cNvSpPr/>
          <p:nvPr/>
        </p:nvSpPr>
        <p:spPr>
          <a:xfrm>
            <a:off x="6019800" y="3981450"/>
            <a:ext cx="2552700" cy="146685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6210300" y="4133850"/>
            <a:ext cx="2171700" cy="247650"/>
          </a:xfrm>
          <a:prstGeom prst="rect">
            <a:avLst/>
          </a:prstGeom>
          <a:noFill/>
        </p:spPr>
        <p:txBody>
          <a:bodyPr wrap="square" anchor="t" lIns="0" tIns="0" rIns="0" bIns="0">
            <a:noAutofit/>
          </a:bodyPr>
          <a:lstStyle/>
          <a:p>
            <a:pPr algn="l">
              <a:lnSpc>
                <a:spcPct val="120000"/>
              </a:lnSpc>
              <a:spcBef>
                <a:spcPts val="0"/>
              </a:spcBef>
              <a:spcAft>
                <a:spcPts val="0"/>
              </a:spcAft>
            </a:pPr>
            <a:r>
              <a:rPr sz="1237" b="1" i="0">
                <a:solidFill>
                  <a:srgbClr val="000000"/>
                </a:solidFill>
                <a:latin typeface="Open Sans"/>
              </a:rPr>
              <a:t>Chat</a:t>
            </a:r>
          </a:p>
        </p:txBody>
      </p:sp>
      <p:sp>
        <p:nvSpPr>
          <p:cNvPr id="31" name="TextBox 30"/>
          <p:cNvSpPr txBox="1"/>
          <p:nvPr/>
        </p:nvSpPr>
        <p:spPr>
          <a:xfrm>
            <a:off x="6210300" y="4400550"/>
            <a:ext cx="2171700" cy="590550"/>
          </a:xfrm>
          <a:prstGeom prst="rect">
            <a:avLst/>
          </a:prstGeom>
          <a:noFill/>
        </p:spPr>
        <p:txBody>
          <a:bodyPr wrap="square" anchor="t" lIns="0" tIns="0" rIns="0" bIns="0">
            <a:noAutofit/>
          </a:bodyPr>
          <a:lstStyle/>
          <a:p>
            <a:pPr algn="l">
              <a:lnSpc>
                <a:spcPct val="140000"/>
              </a:lnSpc>
              <a:spcBef>
                <a:spcPts val="0"/>
              </a:spcBef>
              <a:spcAft>
                <a:spcPts val="0"/>
              </a:spcAft>
            </a:pPr>
            <a:r>
              <a:rPr sz="975" b="0" i="0">
                <a:solidFill>
                  <a:srgbClr val="53565A"/>
                </a:solidFill>
                <a:latin typeface="Open Sans"/>
              </a:rPr>
              <a:t>Questions, exploration and quick experiments</a:t>
            </a:r>
          </a:p>
        </p:txBody>
      </p:sp>
      <p:sp>
        <p:nvSpPr>
          <p:cNvPr id="32" name="Rectangle 31"/>
          <p:cNvSpPr/>
          <p:nvPr/>
        </p:nvSpPr>
        <p:spPr>
          <a:xfrm>
            <a:off x="6210300" y="5048250"/>
            <a:ext cx="21717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TextBox 32"/>
          <p:cNvSpPr txBox="1"/>
          <p:nvPr/>
        </p:nvSpPr>
        <p:spPr>
          <a:xfrm>
            <a:off x="6210300" y="5143500"/>
            <a:ext cx="2171700" cy="228600"/>
          </a:xfrm>
          <a:prstGeom prst="rect">
            <a:avLst/>
          </a:prstGeom>
          <a:noFill/>
        </p:spPr>
        <p:txBody>
          <a:bodyPr wrap="square" anchor="t" lIns="0" tIns="0" rIns="0" bIns="0">
            <a:noAutofit/>
          </a:bodyPr>
          <a:lstStyle/>
          <a:p>
            <a:pPr algn="l">
              <a:lnSpc>
                <a:spcPct val="120000"/>
              </a:lnSpc>
              <a:spcBef>
                <a:spcPts val="0"/>
              </a:spcBef>
              <a:spcAft>
                <a:spcPts val="0"/>
              </a:spcAft>
            </a:pPr>
            <a:r>
              <a:rPr sz="862" b="0" i="0">
                <a:solidFill>
                  <a:srgbClr val="75787B"/>
                </a:solidFill>
                <a:latin typeface="Open Sans"/>
              </a:rPr>
              <a:t>Each message triggers one run</a:t>
            </a:r>
          </a:p>
        </p:txBody>
      </p:sp>
      <p:sp>
        <p:nvSpPr>
          <p:cNvPr id="34" name="Rectangle 33"/>
          <p:cNvSpPr/>
          <p:nvPr/>
        </p:nvSpPr>
        <p:spPr>
          <a:xfrm>
            <a:off x="8724900" y="3943350"/>
            <a:ext cx="25527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ectangle 34"/>
          <p:cNvSpPr/>
          <p:nvPr/>
        </p:nvSpPr>
        <p:spPr>
          <a:xfrm>
            <a:off x="8724900" y="3981450"/>
            <a:ext cx="2552700" cy="146685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TextBox 35"/>
          <p:cNvSpPr txBox="1"/>
          <p:nvPr/>
        </p:nvSpPr>
        <p:spPr>
          <a:xfrm>
            <a:off x="8915400" y="4133850"/>
            <a:ext cx="2171700" cy="247650"/>
          </a:xfrm>
          <a:prstGeom prst="rect">
            <a:avLst/>
          </a:prstGeom>
          <a:noFill/>
        </p:spPr>
        <p:txBody>
          <a:bodyPr wrap="square" anchor="t" lIns="0" tIns="0" rIns="0" bIns="0">
            <a:noAutofit/>
          </a:bodyPr>
          <a:lstStyle/>
          <a:p>
            <a:pPr algn="l">
              <a:lnSpc>
                <a:spcPct val="120000"/>
              </a:lnSpc>
              <a:spcBef>
                <a:spcPts val="0"/>
              </a:spcBef>
              <a:spcAft>
                <a:spcPts val="0"/>
              </a:spcAft>
            </a:pPr>
            <a:r>
              <a:rPr sz="1237" b="1" i="0">
                <a:solidFill>
                  <a:srgbClr val="000000"/>
                </a:solidFill>
                <a:latin typeface="Open Sans"/>
              </a:rPr>
              <a:t>Autopilot</a:t>
            </a:r>
          </a:p>
        </p:txBody>
      </p:sp>
      <p:sp>
        <p:nvSpPr>
          <p:cNvPr id="37" name="TextBox 36"/>
          <p:cNvSpPr txBox="1"/>
          <p:nvPr/>
        </p:nvSpPr>
        <p:spPr>
          <a:xfrm>
            <a:off x="8915400" y="4400550"/>
            <a:ext cx="2171700" cy="590550"/>
          </a:xfrm>
          <a:prstGeom prst="rect">
            <a:avLst/>
          </a:prstGeom>
          <a:noFill/>
        </p:spPr>
        <p:txBody>
          <a:bodyPr wrap="square" anchor="t" lIns="0" tIns="0" rIns="0" bIns="0">
            <a:noAutofit/>
          </a:bodyPr>
          <a:lstStyle/>
          <a:p>
            <a:pPr algn="l">
              <a:lnSpc>
                <a:spcPct val="140000"/>
              </a:lnSpc>
              <a:spcBef>
                <a:spcPts val="0"/>
              </a:spcBef>
              <a:spcAft>
                <a:spcPts val="0"/>
              </a:spcAft>
            </a:pPr>
            <a:r>
              <a:rPr sz="975" b="0" i="0">
                <a:solidFill>
                  <a:srgbClr val="53565A"/>
                </a:solidFill>
                <a:latin typeface="Open Sans"/>
              </a:rPr>
              <a:t>Recurring work, or work driven by external events</a:t>
            </a:r>
          </a:p>
        </p:txBody>
      </p:sp>
      <p:sp>
        <p:nvSpPr>
          <p:cNvPr id="38" name="Rectangle 37"/>
          <p:cNvSpPr/>
          <p:nvPr/>
        </p:nvSpPr>
        <p:spPr>
          <a:xfrm>
            <a:off x="8915400" y="5048250"/>
            <a:ext cx="21717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9" name="TextBox 38"/>
          <p:cNvSpPr txBox="1"/>
          <p:nvPr/>
        </p:nvSpPr>
        <p:spPr>
          <a:xfrm>
            <a:off x="8915400" y="5143500"/>
            <a:ext cx="2171700" cy="228600"/>
          </a:xfrm>
          <a:prstGeom prst="rect">
            <a:avLst/>
          </a:prstGeom>
          <a:noFill/>
        </p:spPr>
        <p:txBody>
          <a:bodyPr wrap="square" anchor="t" lIns="0" tIns="0" rIns="0" bIns="0">
            <a:noAutofit/>
          </a:bodyPr>
          <a:lstStyle/>
          <a:p>
            <a:pPr algn="l">
              <a:lnSpc>
                <a:spcPct val="120000"/>
              </a:lnSpc>
              <a:spcBef>
                <a:spcPts val="0"/>
              </a:spcBef>
              <a:spcAft>
                <a:spcPts val="0"/>
              </a:spcAft>
            </a:pPr>
            <a:r>
              <a:rPr sz="862" b="0" i="0">
                <a:solidFill>
                  <a:srgbClr val="75787B"/>
                </a:solidFill>
                <a:latin typeface="Open Sans"/>
              </a:rPr>
              <a:t>Schedule, webhook or system event</a:t>
            </a:r>
          </a:p>
        </p:txBody>
      </p:sp>
      <p:sp>
        <p:nvSpPr>
          <p:cNvPr id="40" name="TextBox 39"/>
          <p:cNvSpPr txBox="1"/>
          <p:nvPr/>
        </p:nvSpPr>
        <p:spPr>
          <a:xfrm>
            <a:off x="609600" y="5619750"/>
            <a:ext cx="10972800" cy="247650"/>
          </a:xfrm>
          <a:prstGeom prst="rect">
            <a:avLst/>
          </a:prstGeom>
          <a:noFill/>
        </p:spPr>
        <p:txBody>
          <a:bodyPr wrap="square" anchor="t" lIns="0" tIns="0" rIns="0" bIns="0">
            <a:noAutofit/>
          </a:bodyPr>
          <a:lstStyle/>
          <a:p>
            <a:pPr algn="l">
              <a:lnSpc>
                <a:spcPct val="135000"/>
              </a:lnSpc>
              <a:spcBef>
                <a:spcPts val="0"/>
              </a:spcBef>
              <a:spcAft>
                <a:spcPts val="0"/>
              </a:spcAft>
            </a:pPr>
            <a:r>
              <a:rPr sz="1050" b="0">
                <a:solidFill>
                  <a:srgbClr val="53565A"/>
                </a:solidFill>
                <a:latin typeface="Open Sans"/>
              </a:rPr>
              <a:t>One rule spans all four: </a:t>
            </a:r>
            <a:r>
              <a:rPr sz="1050" b="1">
                <a:solidFill>
                  <a:srgbClr val="000000"/>
                </a:solidFill>
                <a:latin typeface="Open Sans"/>
              </a:rPr>
              <a:t>agents never start work on their own</a:t>
            </a:r>
            <a:r>
              <a:rPr sz="1050" b="0">
                <a:solidFill>
                  <a:srgbClr val="53565A"/>
                </a:solidFill>
                <a:latin typeface="Open Sans"/>
              </a:rPr>
              <a:t>. Every run originates in an explicit action.</a:t>
            </a:r>
          </a:p>
        </p:txBody>
      </p:sp>
      <p:sp>
        <p:nvSpPr>
          <p:cNvPr id="41" name="TextBox 40"/>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42" name="TextBox 41"/>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43" name="TextBox 42"/>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DELIVERY FAMILY</a:t>
            </a:r>
          </a:p>
        </p:txBody>
      </p:sp>
      <p:sp>
        <p:nvSpPr>
          <p:cNvPr id="4" name="TextBox 3"/>
          <p:cNvSpPr txBox="1"/>
          <p:nvPr/>
        </p:nvSpPr>
        <p:spPr>
          <a:xfrm>
            <a:off x="609600" y="1028700"/>
            <a:ext cx="10972800" cy="434340"/>
          </a:xfrm>
          <a:prstGeom prst="rect">
            <a:avLst/>
          </a:prstGeom>
          <a:noFill/>
        </p:spPr>
        <p:txBody>
          <a:bodyPr wrap="square" anchor="t" lIns="0" tIns="0" rIns="0" bIns="0">
            <a:noAutofit/>
          </a:bodyPr>
          <a:lstStyle/>
          <a:p>
            <a:pPr algn="l">
              <a:lnSpc>
                <a:spcPct val="106000"/>
              </a:lnSpc>
              <a:spcBef>
                <a:spcPts val="0"/>
              </a:spcBef>
              <a:spcAft>
                <a:spcPts val="0"/>
              </a:spcAft>
            </a:pPr>
            <a:r>
              <a:rPr sz="2700" b="0" i="0">
                <a:solidFill>
                  <a:srgbClr val="000000"/>
                </a:solidFill>
                <a:latin typeface="Open Sans Light"/>
              </a:rPr>
              <a:t>AI-SDLC: a governed delivery lifecycle</a:t>
            </a:r>
          </a:p>
        </p:txBody>
      </p:sp>
      <p:sp>
        <p:nvSpPr>
          <p:cNvPr id="5" name="Rectangle 4"/>
          <p:cNvSpPr/>
          <p:nvPr/>
        </p:nvSpPr>
        <p:spPr>
          <a:xfrm>
            <a:off x="609600" y="1539240"/>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09600" y="2247900"/>
            <a:ext cx="8953500" cy="419100"/>
          </a:xfrm>
          <a:prstGeom prst="rect">
            <a:avLst/>
          </a:prstGeom>
          <a:noFill/>
        </p:spPr>
        <p:txBody>
          <a:bodyPr wrap="square" anchor="t" lIns="0" tIns="0" rIns="0" bIns="0">
            <a:noAutofit/>
          </a:bodyPr>
          <a:lstStyle/>
          <a:p>
            <a:pPr algn="l">
              <a:lnSpc>
                <a:spcPct val="140000"/>
              </a:lnSpc>
              <a:spcBef>
                <a:spcPts val="0"/>
              </a:spcBef>
              <a:spcAft>
                <a:spcPts val="0"/>
              </a:spcAft>
            </a:pPr>
            <a:r>
              <a:rPr sz="1200" b="0" i="0">
                <a:solidFill>
                  <a:srgbClr val="53565A"/>
                </a:solidFill>
                <a:latin typeface="Open Sans"/>
              </a:rPr>
              <a:t>Every new workspace is provisioned with nine system agents and a delivery squad led by an orchestrator.</a:t>
            </a:r>
          </a:p>
        </p:txBody>
      </p:sp>
      <p:sp>
        <p:nvSpPr>
          <p:cNvPr id="7" name="Rectangle 6"/>
          <p:cNvSpPr/>
          <p:nvPr/>
        </p:nvSpPr>
        <p:spPr>
          <a:xfrm>
            <a:off x="609600" y="2857500"/>
            <a:ext cx="1288256" cy="6096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Rectangle 7"/>
          <p:cNvSpPr/>
          <p:nvPr/>
        </p:nvSpPr>
        <p:spPr>
          <a:xfrm>
            <a:off x="609600" y="2857500"/>
            <a:ext cx="1288256" cy="38100"/>
          </a:xfrm>
          <a:prstGeom prst="rect">
            <a:avLst/>
          </a:prstGeom>
          <a:solidFill>
            <a:srgbClr val="BBB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85800" y="2857500"/>
            <a:ext cx="1135856" cy="609600"/>
          </a:xfrm>
          <a:prstGeom prst="rect">
            <a:avLst/>
          </a:prstGeom>
          <a:noFill/>
        </p:spPr>
        <p:txBody>
          <a:bodyPr wrap="square" anchor="ctr" lIns="0" tIns="0" rIns="0" bIns="0">
            <a:noAutofit/>
          </a:bodyPr>
          <a:lstStyle/>
          <a:p>
            <a:pPr algn="ctr">
              <a:lnSpc>
                <a:spcPct val="115000"/>
              </a:lnSpc>
              <a:spcBef>
                <a:spcPts val="0"/>
              </a:spcBef>
              <a:spcAft>
                <a:spcPts val="0"/>
              </a:spcAft>
            </a:pPr>
            <a:r>
              <a:rPr sz="1087" b="1" i="0">
                <a:solidFill>
                  <a:srgbClr val="000000"/>
                </a:solidFill>
                <a:latin typeface="Open Sans"/>
              </a:rPr>
              <a:t>Intake</a:t>
            </a:r>
          </a:p>
        </p:txBody>
      </p:sp>
      <p:sp>
        <p:nvSpPr>
          <p:cNvPr id="10" name="Rectangle 9"/>
          <p:cNvSpPr/>
          <p:nvPr/>
        </p:nvSpPr>
        <p:spPr>
          <a:xfrm>
            <a:off x="1993106" y="2857500"/>
            <a:ext cx="1288256" cy="6096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Rectangle 10"/>
          <p:cNvSpPr/>
          <p:nvPr/>
        </p:nvSpPr>
        <p:spPr>
          <a:xfrm>
            <a:off x="1993106" y="2857500"/>
            <a:ext cx="1288256" cy="38100"/>
          </a:xfrm>
          <a:prstGeom prst="rect">
            <a:avLst/>
          </a:prstGeom>
          <a:solidFill>
            <a:srgbClr val="BBB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2069306" y="2857500"/>
            <a:ext cx="1135856" cy="609600"/>
          </a:xfrm>
          <a:prstGeom prst="rect">
            <a:avLst/>
          </a:prstGeom>
          <a:noFill/>
        </p:spPr>
        <p:txBody>
          <a:bodyPr wrap="square" anchor="ctr" lIns="0" tIns="0" rIns="0" bIns="0">
            <a:noAutofit/>
          </a:bodyPr>
          <a:lstStyle/>
          <a:p>
            <a:pPr algn="ctr">
              <a:lnSpc>
                <a:spcPct val="115000"/>
              </a:lnSpc>
              <a:spcBef>
                <a:spcPts val="0"/>
              </a:spcBef>
              <a:spcAft>
                <a:spcPts val="0"/>
              </a:spcAft>
            </a:pPr>
            <a:r>
              <a:rPr sz="1087" b="1" i="0">
                <a:solidFill>
                  <a:srgbClr val="000000"/>
                </a:solidFill>
                <a:latin typeface="Open Sans"/>
              </a:rPr>
              <a:t>Explore</a:t>
            </a:r>
          </a:p>
        </p:txBody>
      </p:sp>
      <p:sp>
        <p:nvSpPr>
          <p:cNvPr id="13" name="Rectangle 12"/>
          <p:cNvSpPr/>
          <p:nvPr/>
        </p:nvSpPr>
        <p:spPr>
          <a:xfrm>
            <a:off x="3376612" y="2857500"/>
            <a:ext cx="1288256" cy="6096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ectangle 13"/>
          <p:cNvSpPr/>
          <p:nvPr/>
        </p:nvSpPr>
        <p:spPr>
          <a:xfrm>
            <a:off x="3376612" y="2857500"/>
            <a:ext cx="1288256" cy="38100"/>
          </a:xfrm>
          <a:prstGeom prst="rect">
            <a:avLst/>
          </a:prstGeom>
          <a:solidFill>
            <a:srgbClr val="BBB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3452812" y="2857500"/>
            <a:ext cx="1135856" cy="609600"/>
          </a:xfrm>
          <a:prstGeom prst="rect">
            <a:avLst/>
          </a:prstGeom>
          <a:noFill/>
        </p:spPr>
        <p:txBody>
          <a:bodyPr wrap="square" anchor="ctr" lIns="0" tIns="0" rIns="0" bIns="0">
            <a:noAutofit/>
          </a:bodyPr>
          <a:lstStyle/>
          <a:p>
            <a:pPr algn="ctr">
              <a:lnSpc>
                <a:spcPct val="115000"/>
              </a:lnSpc>
              <a:spcBef>
                <a:spcPts val="0"/>
              </a:spcBef>
              <a:spcAft>
                <a:spcPts val="0"/>
              </a:spcAft>
            </a:pPr>
            <a:r>
              <a:rPr sz="1087" b="1" i="0">
                <a:solidFill>
                  <a:srgbClr val="000000"/>
                </a:solidFill>
                <a:latin typeface="Open Sans"/>
              </a:rPr>
              <a:t>Contract</a:t>
            </a:r>
          </a:p>
        </p:txBody>
      </p:sp>
      <p:sp>
        <p:nvSpPr>
          <p:cNvPr id="16" name="Rectangle 15"/>
          <p:cNvSpPr/>
          <p:nvPr/>
        </p:nvSpPr>
        <p:spPr>
          <a:xfrm>
            <a:off x="4760119" y="2857500"/>
            <a:ext cx="1288256" cy="609600"/>
          </a:xfrm>
          <a:prstGeom prst="rect">
            <a:avLst/>
          </a:prstGeom>
          <a:solidFill>
            <a:srgbClr val="FFFFFF"/>
          </a:solidFill>
          <a:ln w="1270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ectangle 16"/>
          <p:cNvSpPr/>
          <p:nvPr/>
        </p:nvSpPr>
        <p:spPr>
          <a:xfrm>
            <a:off x="4760119" y="2857500"/>
            <a:ext cx="1288256"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836319" y="2857500"/>
            <a:ext cx="1135856" cy="609600"/>
          </a:xfrm>
          <a:prstGeom prst="rect">
            <a:avLst/>
          </a:prstGeom>
          <a:noFill/>
        </p:spPr>
        <p:txBody>
          <a:bodyPr wrap="square" anchor="ctr" lIns="0" tIns="0" rIns="0" bIns="0">
            <a:noAutofit/>
          </a:bodyPr>
          <a:lstStyle/>
          <a:p>
            <a:pPr algn="ctr">
              <a:lnSpc>
                <a:spcPct val="115000"/>
              </a:lnSpc>
              <a:spcBef>
                <a:spcPts val="0"/>
              </a:spcBef>
              <a:spcAft>
                <a:spcPts val="0"/>
              </a:spcAft>
            </a:pPr>
            <a:r>
              <a:rPr sz="1087" b="1" i="0">
                <a:solidFill>
                  <a:srgbClr val="000000"/>
                </a:solidFill>
                <a:latin typeface="Open Sans"/>
              </a:rPr>
              <a:t>Build</a:t>
            </a:r>
          </a:p>
        </p:txBody>
      </p:sp>
      <p:sp>
        <p:nvSpPr>
          <p:cNvPr id="19" name="Diamond 18"/>
          <p:cNvSpPr/>
          <p:nvPr/>
        </p:nvSpPr>
        <p:spPr>
          <a:xfrm>
            <a:off x="4712494" y="3543300"/>
            <a:ext cx="95250" cy="95250"/>
          </a:xfrm>
          <a:prstGeom prst="diamond">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6143625" y="2857500"/>
            <a:ext cx="1288256" cy="6096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ectangle 20"/>
          <p:cNvSpPr/>
          <p:nvPr/>
        </p:nvSpPr>
        <p:spPr>
          <a:xfrm>
            <a:off x="6143625" y="2857500"/>
            <a:ext cx="1288256" cy="38100"/>
          </a:xfrm>
          <a:prstGeom prst="rect">
            <a:avLst/>
          </a:prstGeom>
          <a:solidFill>
            <a:srgbClr val="BBB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219825" y="2857500"/>
            <a:ext cx="1135856" cy="609600"/>
          </a:xfrm>
          <a:prstGeom prst="rect">
            <a:avLst/>
          </a:prstGeom>
          <a:noFill/>
        </p:spPr>
        <p:txBody>
          <a:bodyPr wrap="square" anchor="ctr" lIns="0" tIns="0" rIns="0" bIns="0">
            <a:noAutofit/>
          </a:bodyPr>
          <a:lstStyle/>
          <a:p>
            <a:pPr algn="ctr">
              <a:lnSpc>
                <a:spcPct val="115000"/>
              </a:lnSpc>
              <a:spcBef>
                <a:spcPts val="0"/>
              </a:spcBef>
              <a:spcAft>
                <a:spcPts val="0"/>
              </a:spcAft>
            </a:pPr>
            <a:r>
              <a:rPr sz="1087" b="1" i="0">
                <a:solidFill>
                  <a:srgbClr val="000000"/>
                </a:solidFill>
                <a:latin typeface="Open Sans"/>
              </a:rPr>
              <a:t>QA</a:t>
            </a:r>
          </a:p>
        </p:txBody>
      </p:sp>
      <p:sp>
        <p:nvSpPr>
          <p:cNvPr id="23" name="Rectangle 22"/>
          <p:cNvSpPr/>
          <p:nvPr/>
        </p:nvSpPr>
        <p:spPr>
          <a:xfrm>
            <a:off x="7527131" y="2857500"/>
            <a:ext cx="1288256" cy="609600"/>
          </a:xfrm>
          <a:prstGeom prst="rect">
            <a:avLst/>
          </a:prstGeom>
          <a:solidFill>
            <a:srgbClr val="FFFFFF"/>
          </a:solidFill>
          <a:ln w="1270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ectangle 23"/>
          <p:cNvSpPr/>
          <p:nvPr/>
        </p:nvSpPr>
        <p:spPr>
          <a:xfrm>
            <a:off x="7527131" y="2857500"/>
            <a:ext cx="1288256"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TextBox 24"/>
          <p:cNvSpPr txBox="1"/>
          <p:nvPr/>
        </p:nvSpPr>
        <p:spPr>
          <a:xfrm>
            <a:off x="7603331" y="2857500"/>
            <a:ext cx="1135856" cy="609600"/>
          </a:xfrm>
          <a:prstGeom prst="rect">
            <a:avLst/>
          </a:prstGeom>
          <a:noFill/>
        </p:spPr>
        <p:txBody>
          <a:bodyPr wrap="square" anchor="ctr" lIns="0" tIns="0" rIns="0" bIns="0">
            <a:noAutofit/>
          </a:bodyPr>
          <a:lstStyle/>
          <a:p>
            <a:pPr algn="ctr">
              <a:lnSpc>
                <a:spcPct val="115000"/>
              </a:lnSpc>
              <a:spcBef>
                <a:spcPts val="0"/>
              </a:spcBef>
              <a:spcAft>
                <a:spcPts val="0"/>
              </a:spcAft>
            </a:pPr>
            <a:r>
              <a:rPr sz="1087" b="1" i="0">
                <a:solidFill>
                  <a:srgbClr val="000000"/>
                </a:solidFill>
                <a:latin typeface="Open Sans"/>
              </a:rPr>
              <a:t>Release</a:t>
            </a:r>
          </a:p>
        </p:txBody>
      </p:sp>
      <p:sp>
        <p:nvSpPr>
          <p:cNvPr id="26" name="Diamond 25"/>
          <p:cNvSpPr/>
          <p:nvPr/>
        </p:nvSpPr>
        <p:spPr>
          <a:xfrm>
            <a:off x="7479506" y="3543300"/>
            <a:ext cx="95250" cy="95250"/>
          </a:xfrm>
          <a:prstGeom prst="diamond">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910638" y="2857500"/>
            <a:ext cx="1288256" cy="6096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ectangle 27"/>
          <p:cNvSpPr/>
          <p:nvPr/>
        </p:nvSpPr>
        <p:spPr>
          <a:xfrm>
            <a:off x="8910638" y="2857500"/>
            <a:ext cx="1288256" cy="38100"/>
          </a:xfrm>
          <a:prstGeom prst="rect">
            <a:avLst/>
          </a:prstGeom>
          <a:solidFill>
            <a:srgbClr val="BBB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986838" y="2857500"/>
            <a:ext cx="1135856" cy="609600"/>
          </a:xfrm>
          <a:prstGeom prst="rect">
            <a:avLst/>
          </a:prstGeom>
          <a:noFill/>
        </p:spPr>
        <p:txBody>
          <a:bodyPr wrap="square" anchor="ctr" lIns="0" tIns="0" rIns="0" bIns="0">
            <a:noAutofit/>
          </a:bodyPr>
          <a:lstStyle/>
          <a:p>
            <a:pPr algn="ctr">
              <a:lnSpc>
                <a:spcPct val="115000"/>
              </a:lnSpc>
              <a:spcBef>
                <a:spcPts val="0"/>
              </a:spcBef>
              <a:spcAft>
                <a:spcPts val="0"/>
              </a:spcAft>
            </a:pPr>
            <a:r>
              <a:rPr sz="1087" b="1" i="0">
                <a:solidFill>
                  <a:srgbClr val="000000"/>
                </a:solidFill>
                <a:latin typeface="Open Sans"/>
              </a:rPr>
              <a:t>Operate</a:t>
            </a:r>
          </a:p>
        </p:txBody>
      </p:sp>
      <p:sp>
        <p:nvSpPr>
          <p:cNvPr id="30" name="Rectangle 29"/>
          <p:cNvSpPr/>
          <p:nvPr/>
        </p:nvSpPr>
        <p:spPr>
          <a:xfrm>
            <a:off x="10294144" y="2857500"/>
            <a:ext cx="1288256" cy="6096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ectangle 30"/>
          <p:cNvSpPr/>
          <p:nvPr/>
        </p:nvSpPr>
        <p:spPr>
          <a:xfrm>
            <a:off x="10294144" y="2857500"/>
            <a:ext cx="1288256" cy="38100"/>
          </a:xfrm>
          <a:prstGeom prst="rect">
            <a:avLst/>
          </a:prstGeom>
          <a:solidFill>
            <a:srgbClr val="BBB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TextBox 31"/>
          <p:cNvSpPr txBox="1"/>
          <p:nvPr/>
        </p:nvSpPr>
        <p:spPr>
          <a:xfrm>
            <a:off x="10370344" y="2857500"/>
            <a:ext cx="1135856" cy="609600"/>
          </a:xfrm>
          <a:prstGeom prst="rect">
            <a:avLst/>
          </a:prstGeom>
          <a:noFill/>
        </p:spPr>
        <p:txBody>
          <a:bodyPr wrap="square" anchor="ctr" lIns="0" tIns="0" rIns="0" bIns="0">
            <a:noAutofit/>
          </a:bodyPr>
          <a:lstStyle/>
          <a:p>
            <a:pPr algn="ctr">
              <a:lnSpc>
                <a:spcPct val="115000"/>
              </a:lnSpc>
              <a:spcBef>
                <a:spcPts val="0"/>
              </a:spcBef>
              <a:spcAft>
                <a:spcPts val="0"/>
              </a:spcAft>
            </a:pPr>
            <a:r>
              <a:rPr sz="1087" b="1" i="0">
                <a:solidFill>
                  <a:srgbClr val="000000"/>
                </a:solidFill>
                <a:latin typeface="Open Sans"/>
              </a:rPr>
              <a:t>Learn</a:t>
            </a:r>
          </a:p>
        </p:txBody>
      </p:sp>
      <p:sp>
        <p:nvSpPr>
          <p:cNvPr id="33" name="TextBox 32"/>
          <p:cNvSpPr txBox="1"/>
          <p:nvPr/>
        </p:nvSpPr>
        <p:spPr>
          <a:xfrm>
            <a:off x="4131469" y="3695700"/>
            <a:ext cx="1257300" cy="381000"/>
          </a:xfrm>
          <a:prstGeom prst="rect">
            <a:avLst/>
          </a:prstGeom>
          <a:noFill/>
        </p:spPr>
        <p:txBody>
          <a:bodyPr wrap="square" anchor="t" lIns="0" tIns="0" rIns="0" bIns="0">
            <a:noAutofit/>
          </a:bodyPr>
          <a:lstStyle/>
          <a:p>
            <a:pPr algn="ctr">
              <a:lnSpc>
                <a:spcPct val="125000"/>
              </a:lnSpc>
              <a:spcBef>
                <a:spcPts val="0"/>
              </a:spcBef>
              <a:spcAft>
                <a:spcPts val="0"/>
              </a:spcAft>
            </a:pPr>
            <a:r>
              <a:rPr sz="825" b="1" i="0">
                <a:solidFill>
                  <a:srgbClr val="046A38"/>
                </a:solidFill>
                <a:latin typeface="Open Sans"/>
              </a:rPr>
              <a:t>Human gate</a:t>
            </a:r>
          </a:p>
          <a:p>
            <a:pPr algn="ctr">
              <a:lnSpc>
                <a:spcPct val="125000"/>
              </a:lnSpc>
              <a:spcBef>
                <a:spcPts val="0"/>
              </a:spcBef>
              <a:spcAft>
                <a:spcPts val="0"/>
              </a:spcAft>
            </a:pPr>
            <a:r>
              <a:rPr sz="825" b="0" i="0">
                <a:solidFill>
                  <a:srgbClr val="75787B"/>
                </a:solidFill>
                <a:latin typeface="Open Sans"/>
              </a:rPr>
              <a:t>Contract approval</a:t>
            </a:r>
          </a:p>
        </p:txBody>
      </p:sp>
      <p:sp>
        <p:nvSpPr>
          <p:cNvPr id="34" name="TextBox 33"/>
          <p:cNvSpPr txBox="1"/>
          <p:nvPr/>
        </p:nvSpPr>
        <p:spPr>
          <a:xfrm>
            <a:off x="6898481" y="3695700"/>
            <a:ext cx="1257300" cy="381000"/>
          </a:xfrm>
          <a:prstGeom prst="rect">
            <a:avLst/>
          </a:prstGeom>
          <a:noFill/>
        </p:spPr>
        <p:txBody>
          <a:bodyPr wrap="square" anchor="t" lIns="0" tIns="0" rIns="0" bIns="0">
            <a:noAutofit/>
          </a:bodyPr>
          <a:lstStyle/>
          <a:p>
            <a:pPr algn="ctr">
              <a:lnSpc>
                <a:spcPct val="125000"/>
              </a:lnSpc>
              <a:spcBef>
                <a:spcPts val="0"/>
              </a:spcBef>
              <a:spcAft>
                <a:spcPts val="0"/>
              </a:spcAft>
            </a:pPr>
            <a:r>
              <a:rPr sz="825" b="1" i="0">
                <a:solidFill>
                  <a:srgbClr val="046A38"/>
                </a:solidFill>
                <a:latin typeface="Open Sans"/>
              </a:rPr>
              <a:t>Human gate</a:t>
            </a:r>
          </a:p>
          <a:p>
            <a:pPr algn="ctr">
              <a:lnSpc>
                <a:spcPct val="125000"/>
              </a:lnSpc>
              <a:spcBef>
                <a:spcPts val="0"/>
              </a:spcBef>
              <a:spcAft>
                <a:spcPts val="0"/>
              </a:spcAft>
            </a:pPr>
            <a:r>
              <a:rPr sz="825" b="0" i="0">
                <a:solidFill>
                  <a:srgbClr val="75787B"/>
                </a:solidFill>
                <a:latin typeface="Open Sans"/>
              </a:rPr>
              <a:t>Release decision</a:t>
            </a:r>
          </a:p>
        </p:txBody>
      </p:sp>
      <p:sp>
        <p:nvSpPr>
          <p:cNvPr id="35" name="Rectangle 34"/>
          <p:cNvSpPr/>
          <p:nvPr/>
        </p:nvSpPr>
        <p:spPr>
          <a:xfrm>
            <a:off x="609600" y="4305300"/>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Rectangle 35"/>
          <p:cNvSpPr/>
          <p:nvPr/>
        </p:nvSpPr>
        <p:spPr>
          <a:xfrm>
            <a:off x="609600" y="4610100"/>
            <a:ext cx="38100" cy="800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7" name="TextBox 36"/>
          <p:cNvSpPr txBox="1"/>
          <p:nvPr/>
        </p:nvSpPr>
        <p:spPr>
          <a:xfrm>
            <a:off x="800100" y="4572000"/>
            <a:ext cx="3200400" cy="247650"/>
          </a:xfrm>
          <a:prstGeom prst="rect">
            <a:avLst/>
          </a:prstGeom>
          <a:noFill/>
        </p:spPr>
        <p:txBody>
          <a:bodyPr wrap="square" anchor="t" lIns="0" tIns="0" rIns="0" bIns="0">
            <a:noAutofit/>
          </a:bodyPr>
          <a:lstStyle/>
          <a:p>
            <a:pPr algn="l">
              <a:lnSpc>
                <a:spcPct val="120000"/>
              </a:lnSpc>
              <a:spcBef>
                <a:spcPts val="0"/>
              </a:spcBef>
              <a:spcAft>
                <a:spcPts val="0"/>
              </a:spcAft>
            </a:pPr>
            <a:r>
              <a:rPr sz="1200" b="1" i="0">
                <a:solidFill>
                  <a:srgbClr val="000000"/>
                </a:solidFill>
                <a:latin typeface="Open Sans"/>
              </a:rPr>
              <a:t>Explore before build</a:t>
            </a:r>
          </a:p>
        </p:txBody>
      </p:sp>
      <p:sp>
        <p:nvSpPr>
          <p:cNvPr id="38" name="TextBox 37"/>
          <p:cNvSpPr txBox="1"/>
          <p:nvPr/>
        </p:nvSpPr>
        <p:spPr>
          <a:xfrm>
            <a:off x="800100" y="4838700"/>
            <a:ext cx="3200400" cy="628650"/>
          </a:xfrm>
          <a:prstGeom prst="rect">
            <a:avLst/>
          </a:prstGeom>
          <a:noFill/>
        </p:spPr>
        <p:txBody>
          <a:bodyPr wrap="square" anchor="t" lIns="0" tIns="0" rIns="0" bIns="0">
            <a:noAutofit/>
          </a:bodyPr>
          <a:lstStyle/>
          <a:p>
            <a:pPr algn="l">
              <a:lnSpc>
                <a:spcPct val="140000"/>
              </a:lnSpc>
              <a:spcBef>
                <a:spcPts val="0"/>
              </a:spcBef>
              <a:spcAft>
                <a:spcPts val="0"/>
              </a:spcAft>
            </a:pPr>
            <a:r>
              <a:rPr sz="975" b="0" i="0">
                <a:solidFill>
                  <a:srgbClr val="53565A"/>
                </a:solidFill>
                <a:latin typeface="Open Sans"/>
              </a:rPr>
              <a:t>Establish goals, boundaries and authoritative sources first — rather than dumping context on a model.</a:t>
            </a:r>
          </a:p>
        </p:txBody>
      </p:sp>
      <p:sp>
        <p:nvSpPr>
          <p:cNvPr id="39" name="Rectangle 38"/>
          <p:cNvSpPr/>
          <p:nvPr/>
        </p:nvSpPr>
        <p:spPr>
          <a:xfrm>
            <a:off x="4267200" y="4610100"/>
            <a:ext cx="38100" cy="800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0" name="TextBox 39"/>
          <p:cNvSpPr txBox="1"/>
          <p:nvPr/>
        </p:nvSpPr>
        <p:spPr>
          <a:xfrm>
            <a:off x="4457700" y="4572000"/>
            <a:ext cx="3200400" cy="247650"/>
          </a:xfrm>
          <a:prstGeom prst="rect">
            <a:avLst/>
          </a:prstGeom>
          <a:noFill/>
        </p:spPr>
        <p:txBody>
          <a:bodyPr wrap="square" anchor="t" lIns="0" tIns="0" rIns="0" bIns="0">
            <a:noAutofit/>
          </a:bodyPr>
          <a:lstStyle/>
          <a:p>
            <a:pPr algn="l">
              <a:lnSpc>
                <a:spcPct val="120000"/>
              </a:lnSpc>
              <a:spcBef>
                <a:spcPts val="0"/>
              </a:spcBef>
              <a:spcAft>
                <a:spcPts val="0"/>
              </a:spcAft>
            </a:pPr>
            <a:r>
              <a:rPr sz="1200" b="1" i="0">
                <a:solidFill>
                  <a:srgbClr val="000000"/>
                </a:solidFill>
                <a:latin typeface="Open Sans"/>
              </a:rPr>
              <a:t>Verification is independent</a:t>
            </a:r>
          </a:p>
        </p:txBody>
      </p:sp>
      <p:sp>
        <p:nvSpPr>
          <p:cNvPr id="41" name="TextBox 40"/>
          <p:cNvSpPr txBox="1"/>
          <p:nvPr/>
        </p:nvSpPr>
        <p:spPr>
          <a:xfrm>
            <a:off x="4457700" y="4838700"/>
            <a:ext cx="3200400" cy="628650"/>
          </a:xfrm>
          <a:prstGeom prst="rect">
            <a:avLst/>
          </a:prstGeom>
          <a:noFill/>
        </p:spPr>
        <p:txBody>
          <a:bodyPr wrap="square" anchor="t" lIns="0" tIns="0" rIns="0" bIns="0">
            <a:noAutofit/>
          </a:bodyPr>
          <a:lstStyle/>
          <a:p>
            <a:pPr algn="l">
              <a:lnSpc>
                <a:spcPct val="140000"/>
              </a:lnSpc>
              <a:spcBef>
                <a:spcPts val="0"/>
              </a:spcBef>
              <a:spcAft>
                <a:spcPts val="0"/>
              </a:spcAft>
            </a:pPr>
            <a:r>
              <a:rPr sz="975" b="0" i="0">
                <a:solidFill>
                  <a:srgbClr val="53565A"/>
                </a:solidFill>
                <a:latin typeface="Open Sans"/>
              </a:rPr>
              <a:t>Test intent derives from the approved contract, not reverse-engineered from the implementation.</a:t>
            </a:r>
          </a:p>
        </p:txBody>
      </p:sp>
      <p:sp>
        <p:nvSpPr>
          <p:cNvPr id="42" name="Rectangle 41"/>
          <p:cNvSpPr/>
          <p:nvPr/>
        </p:nvSpPr>
        <p:spPr>
          <a:xfrm>
            <a:off x="7924800" y="4610100"/>
            <a:ext cx="38100" cy="800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TextBox 42"/>
          <p:cNvSpPr txBox="1"/>
          <p:nvPr/>
        </p:nvSpPr>
        <p:spPr>
          <a:xfrm>
            <a:off x="8115300" y="4572000"/>
            <a:ext cx="3200400" cy="247650"/>
          </a:xfrm>
          <a:prstGeom prst="rect">
            <a:avLst/>
          </a:prstGeom>
          <a:noFill/>
        </p:spPr>
        <p:txBody>
          <a:bodyPr wrap="square" anchor="t" lIns="0" tIns="0" rIns="0" bIns="0">
            <a:noAutofit/>
          </a:bodyPr>
          <a:lstStyle/>
          <a:p>
            <a:pPr algn="l">
              <a:lnSpc>
                <a:spcPct val="120000"/>
              </a:lnSpc>
              <a:spcBef>
                <a:spcPts val="0"/>
              </a:spcBef>
              <a:spcAft>
                <a:spcPts val="0"/>
              </a:spcAft>
            </a:pPr>
            <a:r>
              <a:rPr sz="1200" b="1" i="0">
                <a:solidFill>
                  <a:srgbClr val="000000"/>
                </a:solidFill>
                <a:latin typeface="Open Sans"/>
              </a:rPr>
              <a:t>Humans authorise the gates</a:t>
            </a:r>
          </a:p>
        </p:txBody>
      </p:sp>
      <p:sp>
        <p:nvSpPr>
          <p:cNvPr id="44" name="TextBox 43"/>
          <p:cNvSpPr txBox="1"/>
          <p:nvPr/>
        </p:nvSpPr>
        <p:spPr>
          <a:xfrm>
            <a:off x="8115300" y="4838700"/>
            <a:ext cx="3200400" cy="628650"/>
          </a:xfrm>
          <a:prstGeom prst="rect">
            <a:avLst/>
          </a:prstGeom>
          <a:noFill/>
        </p:spPr>
        <p:txBody>
          <a:bodyPr wrap="square" anchor="t" lIns="0" tIns="0" rIns="0" bIns="0">
            <a:noAutofit/>
          </a:bodyPr>
          <a:lstStyle/>
          <a:p>
            <a:pPr algn="l">
              <a:lnSpc>
                <a:spcPct val="140000"/>
              </a:lnSpc>
              <a:spcBef>
                <a:spcPts val="0"/>
              </a:spcBef>
              <a:spcAft>
                <a:spcPts val="0"/>
              </a:spcAft>
            </a:pPr>
            <a:r>
              <a:rPr sz="975" b="0" i="0">
                <a:solidFill>
                  <a:srgbClr val="53565A"/>
                </a:solidFill>
                <a:latin typeface="Open Sans"/>
              </a:rPr>
              <a:t>Contract approval and the release decision are human nodes. The model may not declare them passed.</a:t>
            </a:r>
          </a:p>
        </p:txBody>
      </p:sp>
      <p:sp>
        <p:nvSpPr>
          <p:cNvPr id="45" name="TextBox 44"/>
          <p:cNvSpPr txBox="1"/>
          <p:nvPr/>
        </p:nvSpPr>
        <p:spPr>
          <a:xfrm>
            <a:off x="609600" y="5657850"/>
            <a:ext cx="10972800" cy="247650"/>
          </a:xfrm>
          <a:prstGeom prst="rect">
            <a:avLst/>
          </a:prstGeom>
          <a:noFill/>
        </p:spPr>
        <p:txBody>
          <a:bodyPr wrap="square" anchor="t" lIns="0" tIns="0" rIns="0" bIns="0">
            <a:noAutofit/>
          </a:bodyPr>
          <a:lstStyle/>
          <a:p>
            <a:pPr algn="l">
              <a:lnSpc>
                <a:spcPct val="130000"/>
              </a:lnSpc>
              <a:spcBef>
                <a:spcPts val="0"/>
              </a:spcBef>
              <a:spcAft>
                <a:spcPts val="0"/>
              </a:spcAft>
            </a:pPr>
            <a:r>
              <a:rPr sz="975" b="0">
                <a:solidFill>
                  <a:srgbClr val="53565A"/>
                </a:solidFill>
                <a:latin typeface="Open Sans"/>
              </a:rPr>
              <a:t>The same skeleton is already instantiated outside software delivery — a </a:t>
            </a:r>
            <a:r>
              <a:rPr sz="975" b="1">
                <a:solidFill>
                  <a:srgbClr val="000000"/>
                </a:solidFill>
                <a:latin typeface="Open Sans"/>
              </a:rPr>
              <a:t>marketing-mix-modelling delivery family</a:t>
            </a:r>
            <a:r>
              <a:rPr sz="975" b="0">
                <a:solidFill>
                  <a:srgbClr val="53565A"/>
                </a:solidFill>
                <a:latin typeface="Open Sans"/>
              </a:rPr>
              <a:t> uses the identical structure.</a:t>
            </a:r>
          </a:p>
        </p:txBody>
      </p:sp>
      <p:sp>
        <p:nvSpPr>
          <p:cNvPr id="46" name="TextBox 45"/>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47" name="TextBox 46"/>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48" name="TextBox 47"/>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COMMERCIAL MODEL</a:t>
            </a:r>
          </a:p>
        </p:txBody>
      </p:sp>
      <p:sp>
        <p:nvSpPr>
          <p:cNvPr id="4" name="TextBox 3"/>
          <p:cNvSpPr txBox="1"/>
          <p:nvPr/>
        </p:nvSpPr>
        <p:spPr>
          <a:xfrm>
            <a:off x="609600" y="1028700"/>
            <a:ext cx="10972800" cy="413385"/>
          </a:xfrm>
          <a:prstGeom prst="rect">
            <a:avLst/>
          </a:prstGeom>
          <a:noFill/>
        </p:spPr>
        <p:txBody>
          <a:bodyPr wrap="square" anchor="t" lIns="0" tIns="0" rIns="0" bIns="0">
            <a:noAutofit/>
          </a:bodyPr>
          <a:lstStyle/>
          <a:p>
            <a:pPr algn="l">
              <a:lnSpc>
                <a:spcPct val="106000"/>
              </a:lnSpc>
              <a:spcBef>
                <a:spcPts val="0"/>
              </a:spcBef>
              <a:spcAft>
                <a:spcPts val="0"/>
              </a:spcAft>
            </a:pPr>
            <a:r>
              <a:rPr sz="2550" b="0" i="0">
                <a:solidFill>
                  <a:srgbClr val="000000"/>
                </a:solidFill>
                <a:latin typeface="Open Sans Light"/>
              </a:rPr>
              <a:t>Open core, seats that exclude agents, metered compute</a:t>
            </a:r>
          </a:p>
        </p:txBody>
      </p:sp>
      <p:sp>
        <p:nvSpPr>
          <p:cNvPr id="5" name="Rectangle 4"/>
          <p:cNvSpPr/>
          <p:nvPr/>
        </p:nvSpPr>
        <p:spPr>
          <a:xfrm>
            <a:off x="609600" y="1518285"/>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09600" y="2324100"/>
            <a:ext cx="5143500" cy="228600"/>
          </a:xfrm>
          <a:prstGeom prst="rect">
            <a:avLst/>
          </a:prstGeom>
          <a:noFill/>
        </p:spPr>
        <p:txBody>
          <a:bodyPr wrap="square" anchor="t" lIns="0" tIns="0" rIns="0" bIns="0">
            <a:noAutofit/>
          </a:bodyPr>
          <a:lstStyle/>
          <a:p>
            <a:pPr algn="l">
              <a:lnSpc>
                <a:spcPct val="100000"/>
              </a:lnSpc>
              <a:spcBef>
                <a:spcPts val="0"/>
              </a:spcBef>
              <a:spcAft>
                <a:spcPts val="0"/>
              </a:spcAft>
            </a:pPr>
            <a:r>
              <a:rPr sz="975" b="1" i="0" spc="90">
                <a:solidFill>
                  <a:srgbClr val="000000"/>
                </a:solidFill>
                <a:latin typeface="Open Sans"/>
              </a:rPr>
              <a:t>LICENSING</a:t>
            </a:r>
          </a:p>
        </p:txBody>
      </p:sp>
      <p:sp>
        <p:nvSpPr>
          <p:cNvPr id="7" name="TextBox 6"/>
          <p:cNvSpPr txBox="1"/>
          <p:nvPr/>
        </p:nvSpPr>
        <p:spPr>
          <a:xfrm>
            <a:off x="609600" y="2609850"/>
            <a:ext cx="3143250" cy="228600"/>
          </a:xfrm>
          <a:prstGeom prst="rect">
            <a:avLst/>
          </a:prstGeom>
          <a:noFill/>
        </p:spPr>
        <p:txBody>
          <a:bodyPr wrap="square" anchor="t" lIns="0" tIns="0" rIns="0" bIns="0">
            <a:noAutofit/>
          </a:bodyPr>
          <a:lstStyle/>
          <a:p>
            <a:pPr algn="l">
              <a:lnSpc>
                <a:spcPct val="120000"/>
              </a:lnSpc>
              <a:spcBef>
                <a:spcPts val="0"/>
              </a:spcBef>
              <a:spcAft>
                <a:spcPts val="0"/>
              </a:spcAft>
            </a:pPr>
            <a:r>
              <a:rPr sz="1012" b="0" i="0">
                <a:solidFill>
                  <a:srgbClr val="000000"/>
                </a:solidFill>
                <a:latin typeface="Open Sans"/>
              </a:rPr>
              <a:t>Internal self-hosted use</a:t>
            </a:r>
          </a:p>
        </p:txBody>
      </p:sp>
      <p:sp>
        <p:nvSpPr>
          <p:cNvPr id="8" name="TextBox 7"/>
          <p:cNvSpPr txBox="1"/>
          <p:nvPr/>
        </p:nvSpPr>
        <p:spPr>
          <a:xfrm>
            <a:off x="3810000" y="2609850"/>
            <a:ext cx="2000250" cy="228600"/>
          </a:xfrm>
          <a:prstGeom prst="rect">
            <a:avLst/>
          </a:prstGeom>
          <a:noFill/>
        </p:spPr>
        <p:txBody>
          <a:bodyPr wrap="square" anchor="t" lIns="0" tIns="0" rIns="0" bIns="0">
            <a:noAutofit/>
          </a:bodyPr>
          <a:lstStyle/>
          <a:p>
            <a:pPr algn="l">
              <a:lnSpc>
                <a:spcPct val="120000"/>
              </a:lnSpc>
              <a:spcBef>
                <a:spcPts val="0"/>
              </a:spcBef>
              <a:spcAft>
                <a:spcPts val="0"/>
              </a:spcAft>
            </a:pPr>
            <a:r>
              <a:rPr sz="937" b="1" i="0">
                <a:solidFill>
                  <a:srgbClr val="046A38"/>
                </a:solidFill>
                <a:latin typeface="Open Sans"/>
              </a:rPr>
              <a:t>No commercial licence</a:t>
            </a:r>
          </a:p>
        </p:txBody>
      </p:sp>
      <p:sp>
        <p:nvSpPr>
          <p:cNvPr id="9" name="Rectangle 8"/>
          <p:cNvSpPr/>
          <p:nvPr/>
        </p:nvSpPr>
        <p:spPr>
          <a:xfrm>
            <a:off x="609600" y="2876550"/>
            <a:ext cx="520065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609600" y="2990850"/>
            <a:ext cx="3143250" cy="228600"/>
          </a:xfrm>
          <a:prstGeom prst="rect">
            <a:avLst/>
          </a:prstGeom>
          <a:noFill/>
        </p:spPr>
        <p:txBody>
          <a:bodyPr wrap="square" anchor="t" lIns="0" tIns="0" rIns="0" bIns="0">
            <a:noAutofit/>
          </a:bodyPr>
          <a:lstStyle/>
          <a:p>
            <a:pPr algn="l">
              <a:lnSpc>
                <a:spcPct val="120000"/>
              </a:lnSpc>
              <a:spcBef>
                <a:spcPts val="0"/>
              </a:spcBef>
              <a:spcAft>
                <a:spcPts val="0"/>
              </a:spcAft>
            </a:pPr>
            <a:r>
              <a:rPr sz="1012" b="0" i="0">
                <a:solidFill>
                  <a:srgbClr val="000000"/>
                </a:solidFill>
                <a:latin typeface="Open Sans"/>
              </a:rPr>
              <a:t>Backend / daemon / CLI only</a:t>
            </a:r>
          </a:p>
        </p:txBody>
      </p:sp>
      <p:sp>
        <p:nvSpPr>
          <p:cNvPr id="11" name="TextBox 10"/>
          <p:cNvSpPr txBox="1"/>
          <p:nvPr/>
        </p:nvSpPr>
        <p:spPr>
          <a:xfrm>
            <a:off x="3810000" y="2990850"/>
            <a:ext cx="2000250" cy="228600"/>
          </a:xfrm>
          <a:prstGeom prst="rect">
            <a:avLst/>
          </a:prstGeom>
          <a:noFill/>
        </p:spPr>
        <p:txBody>
          <a:bodyPr wrap="square" anchor="t" lIns="0" tIns="0" rIns="0" bIns="0">
            <a:noAutofit/>
          </a:bodyPr>
          <a:lstStyle/>
          <a:p>
            <a:pPr algn="l">
              <a:lnSpc>
                <a:spcPct val="120000"/>
              </a:lnSpc>
              <a:spcBef>
                <a:spcPts val="0"/>
              </a:spcBef>
              <a:spcAft>
                <a:spcPts val="0"/>
              </a:spcAft>
            </a:pPr>
            <a:r>
              <a:rPr sz="937" b="1" i="0">
                <a:solidFill>
                  <a:srgbClr val="046A38"/>
                </a:solidFill>
                <a:latin typeface="Open Sans"/>
              </a:rPr>
              <a:t>No licence; attribution retained</a:t>
            </a:r>
          </a:p>
        </p:txBody>
      </p:sp>
      <p:sp>
        <p:nvSpPr>
          <p:cNvPr id="12" name="Rectangle 11"/>
          <p:cNvSpPr/>
          <p:nvPr/>
        </p:nvSpPr>
        <p:spPr>
          <a:xfrm>
            <a:off x="609600" y="3257550"/>
            <a:ext cx="520065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609600" y="3371850"/>
            <a:ext cx="3143250" cy="228600"/>
          </a:xfrm>
          <a:prstGeom prst="rect">
            <a:avLst/>
          </a:prstGeom>
          <a:noFill/>
        </p:spPr>
        <p:txBody>
          <a:bodyPr wrap="square" anchor="t" lIns="0" tIns="0" rIns="0" bIns="0">
            <a:noAutofit/>
          </a:bodyPr>
          <a:lstStyle/>
          <a:p>
            <a:pPr algn="l">
              <a:lnSpc>
                <a:spcPct val="120000"/>
              </a:lnSpc>
              <a:spcBef>
                <a:spcPts val="0"/>
              </a:spcBef>
              <a:spcAft>
                <a:spcPts val="0"/>
              </a:spcAft>
            </a:pPr>
            <a:r>
              <a:rPr sz="1012" b="0" i="0">
                <a:solidFill>
                  <a:srgbClr val="000000"/>
                </a:solidFill>
                <a:latin typeface="Open Sans"/>
              </a:rPr>
              <a:t>Hosted service to third parties</a:t>
            </a:r>
          </a:p>
        </p:txBody>
      </p:sp>
      <p:sp>
        <p:nvSpPr>
          <p:cNvPr id="14" name="TextBox 13"/>
          <p:cNvSpPr txBox="1"/>
          <p:nvPr/>
        </p:nvSpPr>
        <p:spPr>
          <a:xfrm>
            <a:off x="3810000" y="3371850"/>
            <a:ext cx="2000250" cy="228600"/>
          </a:xfrm>
          <a:prstGeom prst="rect">
            <a:avLst/>
          </a:prstGeom>
          <a:noFill/>
        </p:spPr>
        <p:txBody>
          <a:bodyPr wrap="square" anchor="t" lIns="0" tIns="0" rIns="0" bIns="0">
            <a:noAutofit/>
          </a:bodyPr>
          <a:lstStyle/>
          <a:p>
            <a:pPr algn="l">
              <a:lnSpc>
                <a:spcPct val="120000"/>
              </a:lnSpc>
              <a:spcBef>
                <a:spcPts val="0"/>
              </a:spcBef>
              <a:spcAft>
                <a:spcPts val="0"/>
              </a:spcAft>
            </a:pPr>
            <a:r>
              <a:rPr sz="937" b="1" i="0">
                <a:solidFill>
                  <a:srgbClr val="ED8B00"/>
                </a:solidFill>
                <a:latin typeface="Open Sans"/>
              </a:rPr>
              <a:t>Commercial licence required</a:t>
            </a:r>
          </a:p>
        </p:txBody>
      </p:sp>
      <p:sp>
        <p:nvSpPr>
          <p:cNvPr id="15" name="Rectangle 14"/>
          <p:cNvSpPr/>
          <p:nvPr/>
        </p:nvSpPr>
        <p:spPr>
          <a:xfrm>
            <a:off x="609600" y="3638550"/>
            <a:ext cx="520065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609600" y="3752850"/>
            <a:ext cx="3143250" cy="228600"/>
          </a:xfrm>
          <a:prstGeom prst="rect">
            <a:avLst/>
          </a:prstGeom>
          <a:noFill/>
        </p:spPr>
        <p:txBody>
          <a:bodyPr wrap="square" anchor="t" lIns="0" tIns="0" rIns="0" bIns="0">
            <a:noAutofit/>
          </a:bodyPr>
          <a:lstStyle/>
          <a:p>
            <a:pPr algn="l">
              <a:lnSpc>
                <a:spcPct val="120000"/>
              </a:lnSpc>
              <a:spcBef>
                <a:spcPts val="0"/>
              </a:spcBef>
              <a:spcAft>
                <a:spcPts val="0"/>
              </a:spcAft>
            </a:pPr>
            <a:r>
              <a:rPr sz="1012" b="0" i="0">
                <a:solidFill>
                  <a:srgbClr val="000000"/>
                </a:solidFill>
                <a:latin typeface="Open Sans"/>
              </a:rPr>
              <a:t>Embedded in a distributed product</a:t>
            </a:r>
          </a:p>
        </p:txBody>
      </p:sp>
      <p:sp>
        <p:nvSpPr>
          <p:cNvPr id="17" name="TextBox 16"/>
          <p:cNvSpPr txBox="1"/>
          <p:nvPr/>
        </p:nvSpPr>
        <p:spPr>
          <a:xfrm>
            <a:off x="3810000" y="3752850"/>
            <a:ext cx="2000250" cy="228600"/>
          </a:xfrm>
          <a:prstGeom prst="rect">
            <a:avLst/>
          </a:prstGeom>
          <a:noFill/>
        </p:spPr>
        <p:txBody>
          <a:bodyPr wrap="square" anchor="t" lIns="0" tIns="0" rIns="0" bIns="0">
            <a:noAutofit/>
          </a:bodyPr>
          <a:lstStyle/>
          <a:p>
            <a:pPr algn="l">
              <a:lnSpc>
                <a:spcPct val="120000"/>
              </a:lnSpc>
              <a:spcBef>
                <a:spcPts val="0"/>
              </a:spcBef>
              <a:spcAft>
                <a:spcPts val="0"/>
              </a:spcAft>
            </a:pPr>
            <a:r>
              <a:rPr sz="937" b="1" i="0">
                <a:solidFill>
                  <a:srgbClr val="ED8B00"/>
                </a:solidFill>
                <a:latin typeface="Open Sans"/>
              </a:rPr>
              <a:t>Commercial licence required</a:t>
            </a:r>
          </a:p>
        </p:txBody>
      </p:sp>
      <p:sp>
        <p:nvSpPr>
          <p:cNvPr id="18" name="Rectangle 17"/>
          <p:cNvSpPr/>
          <p:nvPr/>
        </p:nvSpPr>
        <p:spPr>
          <a:xfrm>
            <a:off x="609600" y="4019550"/>
            <a:ext cx="520065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TextBox 18"/>
          <p:cNvSpPr txBox="1"/>
          <p:nvPr/>
        </p:nvSpPr>
        <p:spPr>
          <a:xfrm>
            <a:off x="609600" y="4133850"/>
            <a:ext cx="3143250" cy="228600"/>
          </a:xfrm>
          <a:prstGeom prst="rect">
            <a:avLst/>
          </a:prstGeom>
          <a:noFill/>
        </p:spPr>
        <p:txBody>
          <a:bodyPr wrap="square" anchor="t" lIns="0" tIns="0" rIns="0" bIns="0">
            <a:noAutofit/>
          </a:bodyPr>
          <a:lstStyle/>
          <a:p>
            <a:pPr algn="l">
              <a:lnSpc>
                <a:spcPct val="120000"/>
              </a:lnSpc>
              <a:spcBef>
                <a:spcPts val="0"/>
              </a:spcBef>
              <a:spcAft>
                <a:spcPts val="0"/>
              </a:spcAft>
            </a:pPr>
            <a:r>
              <a:rPr sz="1012" b="0" i="0">
                <a:solidFill>
                  <a:srgbClr val="000000"/>
                </a:solidFill>
                <a:latin typeface="Open Sans"/>
              </a:rPr>
              <a:t>Removing Enact branding</a:t>
            </a:r>
          </a:p>
        </p:txBody>
      </p:sp>
      <p:sp>
        <p:nvSpPr>
          <p:cNvPr id="20" name="TextBox 19"/>
          <p:cNvSpPr txBox="1"/>
          <p:nvPr/>
        </p:nvSpPr>
        <p:spPr>
          <a:xfrm>
            <a:off x="3810000" y="4133850"/>
            <a:ext cx="2000250" cy="228600"/>
          </a:xfrm>
          <a:prstGeom prst="rect">
            <a:avLst/>
          </a:prstGeom>
          <a:noFill/>
        </p:spPr>
        <p:txBody>
          <a:bodyPr wrap="square" anchor="t" lIns="0" tIns="0" rIns="0" bIns="0">
            <a:noAutofit/>
          </a:bodyPr>
          <a:lstStyle/>
          <a:p>
            <a:pPr algn="l">
              <a:lnSpc>
                <a:spcPct val="120000"/>
              </a:lnSpc>
              <a:spcBef>
                <a:spcPts val="0"/>
              </a:spcBef>
              <a:spcAft>
                <a:spcPts val="0"/>
              </a:spcAft>
            </a:pPr>
            <a:r>
              <a:rPr sz="937" b="1" i="0">
                <a:solidFill>
                  <a:srgbClr val="ED8B00"/>
                </a:solidFill>
                <a:latin typeface="Open Sans"/>
              </a:rPr>
              <a:t>Separate branding waiver</a:t>
            </a:r>
          </a:p>
        </p:txBody>
      </p:sp>
      <p:sp>
        <p:nvSpPr>
          <p:cNvPr id="21" name="Rectangle 20"/>
          <p:cNvSpPr/>
          <p:nvPr/>
        </p:nvSpPr>
        <p:spPr>
          <a:xfrm>
            <a:off x="609600" y="4400550"/>
            <a:ext cx="520065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09600" y="4629150"/>
            <a:ext cx="5200650" cy="419100"/>
          </a:xfrm>
          <a:prstGeom prst="rect">
            <a:avLst/>
          </a:prstGeom>
          <a:noFill/>
        </p:spPr>
        <p:txBody>
          <a:bodyPr wrap="square" anchor="t" lIns="0" tIns="0" rIns="0" bIns="0">
            <a:noAutofit/>
          </a:bodyPr>
          <a:lstStyle/>
          <a:p>
            <a:pPr algn="l">
              <a:lnSpc>
                <a:spcPct val="135000"/>
              </a:lnSpc>
              <a:spcBef>
                <a:spcPts val="0"/>
              </a:spcBef>
              <a:spcAft>
                <a:spcPts val="0"/>
              </a:spcAft>
            </a:pPr>
            <a:r>
              <a:rPr sz="1012" b="0">
                <a:solidFill>
                  <a:srgbClr val="53565A"/>
                </a:solidFill>
                <a:latin typeface="Open Sans"/>
              </a:rPr>
              <a:t>In practice: </a:t>
            </a:r>
            <a:r>
              <a:rPr sz="1012" b="1">
                <a:solidFill>
                  <a:srgbClr val="000000"/>
                </a:solidFill>
                <a:latin typeface="Open Sans"/>
              </a:rPr>
              <a:t>use it yourself, free; resell it, licence it.</a:t>
            </a:r>
          </a:p>
        </p:txBody>
      </p:sp>
      <p:sp>
        <p:nvSpPr>
          <p:cNvPr id="23" name="Rectangle 22"/>
          <p:cNvSpPr/>
          <p:nvPr/>
        </p:nvSpPr>
        <p:spPr>
          <a:xfrm>
            <a:off x="6362700" y="2286000"/>
            <a:ext cx="9525" cy="3314700"/>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819900" y="2324100"/>
            <a:ext cx="4762500" cy="228600"/>
          </a:xfrm>
          <a:prstGeom prst="rect">
            <a:avLst/>
          </a:prstGeom>
          <a:noFill/>
        </p:spPr>
        <p:txBody>
          <a:bodyPr wrap="square" anchor="t" lIns="0" tIns="0" rIns="0" bIns="0">
            <a:noAutofit/>
          </a:bodyPr>
          <a:lstStyle/>
          <a:p>
            <a:pPr algn="l">
              <a:lnSpc>
                <a:spcPct val="100000"/>
              </a:lnSpc>
              <a:spcBef>
                <a:spcPts val="0"/>
              </a:spcBef>
              <a:spcAft>
                <a:spcPts val="0"/>
              </a:spcAft>
            </a:pPr>
            <a:r>
              <a:rPr sz="975" b="1" i="0" spc="90">
                <a:solidFill>
                  <a:srgbClr val="000000"/>
                </a:solidFill>
                <a:latin typeface="Open Sans"/>
              </a:rPr>
              <a:t>METERING</a:t>
            </a:r>
          </a:p>
        </p:txBody>
      </p:sp>
      <p:sp>
        <p:nvSpPr>
          <p:cNvPr id="25" name="Rectangle 24"/>
          <p:cNvSpPr/>
          <p:nvPr/>
        </p:nvSpPr>
        <p:spPr>
          <a:xfrm>
            <a:off x="6819900" y="2628900"/>
            <a:ext cx="38100" cy="800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7010400" y="2600325"/>
            <a:ext cx="2857500" cy="247650"/>
          </a:xfrm>
          <a:prstGeom prst="rect">
            <a:avLst/>
          </a:prstGeom>
          <a:noFill/>
        </p:spPr>
        <p:txBody>
          <a:bodyPr wrap="square" anchor="t" lIns="0" tIns="0" rIns="0" bIns="0">
            <a:noAutofit/>
          </a:bodyPr>
          <a:lstStyle/>
          <a:p>
            <a:pPr algn="l">
              <a:lnSpc>
                <a:spcPct val="120000"/>
              </a:lnSpc>
              <a:spcBef>
                <a:spcPts val="0"/>
              </a:spcBef>
              <a:spcAft>
                <a:spcPts val="0"/>
              </a:spcAft>
            </a:pPr>
            <a:r>
              <a:rPr sz="1162" b="1" i="0">
                <a:solidFill>
                  <a:srgbClr val="000000"/>
                </a:solidFill>
                <a:latin typeface="Open Sans"/>
              </a:rPr>
              <a:t>Workspace subscription</a:t>
            </a:r>
          </a:p>
        </p:txBody>
      </p:sp>
      <p:sp>
        <p:nvSpPr>
          <p:cNvPr id="27" name="Rectangle 26"/>
          <p:cNvSpPr/>
          <p:nvPr/>
        </p:nvSpPr>
        <p:spPr>
          <a:xfrm>
            <a:off x="9906000" y="2590800"/>
            <a:ext cx="935355" cy="2286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5250" rIns="95250" tIns="0" bIns="0">
            <a:noAutofit/>
          </a:bodyPr>
          <a:lstStyle/>
          <a:p>
            <a:pPr algn="ctr">
              <a:lnSpc>
                <a:spcPct val="100000"/>
              </a:lnSpc>
              <a:spcBef>
                <a:spcPts val="0"/>
              </a:spcBef>
              <a:spcAft>
                <a:spcPts val="0"/>
              </a:spcAft>
            </a:pPr>
            <a:r>
              <a:rPr sz="712" b="1" i="0" spc="60">
                <a:solidFill>
                  <a:srgbClr val="FFFFFF"/>
                </a:solidFill>
                <a:latin typeface="Open Sans"/>
              </a:rPr>
              <a:t>HUMAN SEAT</a:t>
            </a:r>
          </a:p>
        </p:txBody>
      </p:sp>
      <p:sp>
        <p:nvSpPr>
          <p:cNvPr id="28" name="TextBox 27"/>
          <p:cNvSpPr txBox="1"/>
          <p:nvPr/>
        </p:nvSpPr>
        <p:spPr>
          <a:xfrm>
            <a:off x="7010400" y="2857500"/>
            <a:ext cx="4572000" cy="571500"/>
          </a:xfrm>
          <a:prstGeom prst="rect">
            <a:avLst/>
          </a:prstGeom>
          <a:noFill/>
        </p:spPr>
        <p:txBody>
          <a:bodyPr wrap="square" anchor="t" lIns="0" tIns="0" rIns="0" bIns="0">
            <a:noAutofit/>
          </a:bodyPr>
          <a:lstStyle/>
          <a:p>
            <a:pPr algn="l">
              <a:lnSpc>
                <a:spcPct val="140000"/>
              </a:lnSpc>
              <a:spcBef>
                <a:spcPts val="0"/>
              </a:spcBef>
              <a:spcAft>
                <a:spcPts val="0"/>
              </a:spcAft>
            </a:pPr>
            <a:r>
              <a:rPr sz="937" b="0" i="0">
                <a:solidFill>
                  <a:srgbClr val="53565A"/>
                </a:solidFill>
                <a:latin typeface="Open Sans"/>
              </a:rPr>
              <a:t>Agents never consume a seat. Seats cover human members and pending invitations.</a:t>
            </a:r>
          </a:p>
        </p:txBody>
      </p:sp>
      <p:sp>
        <p:nvSpPr>
          <p:cNvPr id="29" name="Rectangle 28"/>
          <p:cNvSpPr/>
          <p:nvPr/>
        </p:nvSpPr>
        <p:spPr>
          <a:xfrm>
            <a:off x="6819900" y="3638550"/>
            <a:ext cx="38100" cy="800100"/>
          </a:xfrm>
          <a:prstGeom prst="rect">
            <a:avLst/>
          </a:prstGeom>
          <a:solidFill>
            <a:srgbClr val="007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7010400" y="3609975"/>
            <a:ext cx="2857500" cy="247650"/>
          </a:xfrm>
          <a:prstGeom prst="rect">
            <a:avLst/>
          </a:prstGeom>
          <a:noFill/>
        </p:spPr>
        <p:txBody>
          <a:bodyPr wrap="square" anchor="t" lIns="0" tIns="0" rIns="0" bIns="0">
            <a:noAutofit/>
          </a:bodyPr>
          <a:lstStyle/>
          <a:p>
            <a:pPr algn="l">
              <a:lnSpc>
                <a:spcPct val="120000"/>
              </a:lnSpc>
              <a:spcBef>
                <a:spcPts val="0"/>
              </a:spcBef>
              <a:spcAft>
                <a:spcPts val="0"/>
              </a:spcAft>
            </a:pPr>
            <a:r>
              <a:rPr sz="1162" b="1" i="0">
                <a:solidFill>
                  <a:srgbClr val="000000"/>
                </a:solidFill>
                <a:latin typeface="Open Sans"/>
              </a:rPr>
              <a:t>Credit wallet</a:t>
            </a:r>
          </a:p>
        </p:txBody>
      </p:sp>
      <p:sp>
        <p:nvSpPr>
          <p:cNvPr id="31" name="Rectangle 30"/>
          <p:cNvSpPr/>
          <p:nvPr/>
        </p:nvSpPr>
        <p:spPr>
          <a:xfrm>
            <a:off x="9906000" y="3600450"/>
            <a:ext cx="1279208" cy="228600"/>
          </a:xfrm>
          <a:prstGeom prst="rect">
            <a:avLst/>
          </a:prstGeom>
          <a:solidFill>
            <a:srgbClr val="007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5250" rIns="95250" tIns="0" bIns="0">
            <a:noAutofit/>
          </a:bodyPr>
          <a:lstStyle/>
          <a:p>
            <a:pPr algn="ctr">
              <a:lnSpc>
                <a:spcPct val="100000"/>
              </a:lnSpc>
              <a:spcBef>
                <a:spcPts val="0"/>
              </a:spcBef>
              <a:spcAft>
                <a:spcPts val="0"/>
              </a:spcAft>
            </a:pPr>
            <a:r>
              <a:rPr sz="712" b="1" i="0" spc="60">
                <a:solidFill>
                  <a:srgbClr val="FFFFFF"/>
                </a:solidFill>
                <a:latin typeface="Open Sans"/>
              </a:rPr>
              <a:t>PREPAID CREDITS</a:t>
            </a:r>
          </a:p>
        </p:txBody>
      </p:sp>
      <p:sp>
        <p:nvSpPr>
          <p:cNvPr id="32" name="TextBox 31"/>
          <p:cNvSpPr txBox="1"/>
          <p:nvPr/>
        </p:nvSpPr>
        <p:spPr>
          <a:xfrm>
            <a:off x="7010400" y="3867150"/>
            <a:ext cx="4572000" cy="571500"/>
          </a:xfrm>
          <a:prstGeom prst="rect">
            <a:avLst/>
          </a:prstGeom>
          <a:noFill/>
        </p:spPr>
        <p:txBody>
          <a:bodyPr wrap="square" anchor="t" lIns="0" tIns="0" rIns="0" bIns="0">
            <a:noAutofit/>
          </a:bodyPr>
          <a:lstStyle/>
          <a:p>
            <a:pPr algn="l">
              <a:lnSpc>
                <a:spcPct val="140000"/>
              </a:lnSpc>
              <a:spcBef>
                <a:spcPts val="0"/>
              </a:spcBef>
              <a:spcAft>
                <a:spcPts val="0"/>
              </a:spcAft>
            </a:pPr>
            <a:r>
              <a:rPr sz="937" b="0" i="0">
                <a:solidFill>
                  <a:srgbClr val="53565A"/>
                </a:solidFill>
                <a:latin typeface="Open Sans"/>
              </a:rPr>
              <a:t>Meters managed cloud runtime compute and model gateway calls.</a:t>
            </a:r>
          </a:p>
        </p:txBody>
      </p:sp>
      <p:sp>
        <p:nvSpPr>
          <p:cNvPr id="33" name="Rectangle 32"/>
          <p:cNvSpPr/>
          <p:nvPr/>
        </p:nvSpPr>
        <p:spPr>
          <a:xfrm>
            <a:off x="6819900" y="4648200"/>
            <a:ext cx="38100" cy="800100"/>
          </a:xfrm>
          <a:prstGeom prst="rect">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TextBox 33"/>
          <p:cNvSpPr txBox="1"/>
          <p:nvPr/>
        </p:nvSpPr>
        <p:spPr>
          <a:xfrm>
            <a:off x="7010400" y="4619625"/>
            <a:ext cx="2857500" cy="247650"/>
          </a:xfrm>
          <a:prstGeom prst="rect">
            <a:avLst/>
          </a:prstGeom>
          <a:noFill/>
        </p:spPr>
        <p:txBody>
          <a:bodyPr wrap="square" anchor="t" lIns="0" tIns="0" rIns="0" bIns="0">
            <a:noAutofit/>
          </a:bodyPr>
          <a:lstStyle/>
          <a:p>
            <a:pPr algn="l">
              <a:lnSpc>
                <a:spcPct val="120000"/>
              </a:lnSpc>
              <a:spcBef>
                <a:spcPts val="0"/>
              </a:spcBef>
              <a:spcAft>
                <a:spcPts val="0"/>
              </a:spcAft>
            </a:pPr>
            <a:r>
              <a:rPr sz="1162" b="1" i="0">
                <a:solidFill>
                  <a:srgbClr val="000000"/>
                </a:solidFill>
                <a:latin typeface="Open Sans"/>
              </a:rPr>
              <a:t>Self-hosted</a:t>
            </a:r>
          </a:p>
        </p:txBody>
      </p:sp>
      <p:sp>
        <p:nvSpPr>
          <p:cNvPr id="35" name="Rectangle 34"/>
          <p:cNvSpPr/>
          <p:nvPr/>
        </p:nvSpPr>
        <p:spPr>
          <a:xfrm>
            <a:off x="9906000" y="4610100"/>
            <a:ext cx="1004126" cy="228600"/>
          </a:xfrm>
          <a:prstGeom prst="rect">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5250" rIns="95250" tIns="0" bIns="0">
            <a:noAutofit/>
          </a:bodyPr>
          <a:lstStyle/>
          <a:p>
            <a:pPr algn="ctr">
              <a:lnSpc>
                <a:spcPct val="100000"/>
              </a:lnSpc>
              <a:spcBef>
                <a:spcPts val="0"/>
              </a:spcBef>
              <a:spcAft>
                <a:spcPts val="0"/>
              </a:spcAft>
            </a:pPr>
            <a:r>
              <a:rPr sz="712" b="1" i="0" spc="60">
                <a:solidFill>
                  <a:srgbClr val="FFFFFF"/>
                </a:solidFill>
                <a:latin typeface="Open Sans"/>
              </a:rPr>
              <a:t>NOT METERED</a:t>
            </a:r>
          </a:p>
        </p:txBody>
      </p:sp>
      <p:sp>
        <p:nvSpPr>
          <p:cNvPr id="36" name="TextBox 35"/>
          <p:cNvSpPr txBox="1"/>
          <p:nvPr/>
        </p:nvSpPr>
        <p:spPr>
          <a:xfrm>
            <a:off x="7010400" y="4876800"/>
            <a:ext cx="4572000" cy="571500"/>
          </a:xfrm>
          <a:prstGeom prst="rect">
            <a:avLst/>
          </a:prstGeom>
          <a:noFill/>
        </p:spPr>
        <p:txBody>
          <a:bodyPr wrap="square" anchor="t" lIns="0" tIns="0" rIns="0" bIns="0">
            <a:noAutofit/>
          </a:bodyPr>
          <a:lstStyle/>
          <a:p>
            <a:pPr algn="l">
              <a:lnSpc>
                <a:spcPct val="140000"/>
              </a:lnSpc>
              <a:spcBef>
                <a:spcPts val="0"/>
              </a:spcBef>
              <a:spcAft>
                <a:spcPts val="0"/>
              </a:spcAft>
            </a:pPr>
            <a:r>
              <a:rPr sz="937" b="0" i="0">
                <a:solidFill>
                  <a:srgbClr val="53565A"/>
                </a:solidFill>
                <a:latin typeface="Open Sans"/>
              </a:rPr>
              <a:t>Self-hosted deployments are unmetered by default.</a:t>
            </a:r>
          </a:p>
        </p:txBody>
      </p:sp>
      <p:sp>
        <p:nvSpPr>
          <p:cNvPr id="37" name="Rectangle 36"/>
          <p:cNvSpPr/>
          <p:nvPr/>
        </p:nvSpPr>
        <p:spPr>
          <a:xfrm>
            <a:off x="6819900" y="5676900"/>
            <a:ext cx="47625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TextBox 37"/>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39" name="TextBox 38"/>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40" name="TextBox 39"/>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lowers-lime.png"/>
          <p:cNvPicPr>
            <a:picLocks noChangeAspect="1"/>
          </p:cNvPicPr>
          <p:nvPr/>
        </p:nvPicPr>
        <p:blipFill>
          <a:blip r:embed="rId2"/>
          <a:srcRect/>
          <a:stretch>
            <a:fillRect/>
          </a:stretch>
        </p:blipFill>
        <p:spPr>
          <a:xfrm>
            <a:off x="0" y="0"/>
            <a:ext cx="12192000" cy="6858000"/>
          </a:xfrm>
          <a:prstGeom prst="rect">
            <a:avLst/>
          </a:prstGeom>
        </p:spPr>
      </p:pic>
      <p:sp>
        <p:nvSpPr>
          <p:cNvPr id="3" name="Rectangle 2"/>
          <p:cNvSpPr/>
          <p:nvPr/>
        </p:nvSpPr>
        <p:spPr>
          <a:xfrm>
            <a:off x="0" y="0"/>
            <a:ext cx="12192000" cy="6858000"/>
          </a:xfrm>
          <a:prstGeom prst="rect">
            <a:avLst/>
          </a:prstGeom>
          <a:gradFill rotWithShape="1">
            <a:gsLst>
              <a:gs pos="0">
                <a:srgbClr val="1E4A0C">
                  <a:alpha val="94000"/>
                </a:srgbClr>
              </a:gs>
              <a:gs pos="100000">
                <a:srgbClr val="26890D">
                  <a:alpha val="8000"/>
                </a:srgbClr>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 name="TextBox 3"/>
          <p:cNvSpPr txBox="1"/>
          <p:nvPr/>
        </p:nvSpPr>
        <p:spPr>
          <a:xfrm>
            <a:off x="609600" y="495300"/>
            <a:ext cx="1905000" cy="291465"/>
          </a:xfrm>
          <a:prstGeom prst="rect">
            <a:avLst/>
          </a:prstGeom>
          <a:noFill/>
        </p:spPr>
        <p:txBody>
          <a:bodyPr wrap="square" anchor="t" lIns="0" tIns="0" rIns="0" bIns="0">
            <a:noAutofit/>
          </a:bodyPr>
          <a:lstStyle/>
          <a:p>
            <a:pPr algn="l">
              <a:lnSpc>
                <a:spcPct val="100000"/>
              </a:lnSpc>
              <a:spcBef>
                <a:spcPts val="0"/>
              </a:spcBef>
              <a:spcAft>
                <a:spcPts val="0"/>
              </a:spcAft>
            </a:pPr>
            <a:r>
              <a:rPr sz="1275" b="1">
                <a:solidFill>
                  <a:srgbClr val="FFFFFF"/>
                </a:solidFill>
                <a:latin typeface="Open Sans"/>
              </a:rPr>
              <a:t>Deloitte</a:t>
            </a:r>
            <a:r>
              <a:rPr sz="1275" b="1">
                <a:solidFill>
                  <a:srgbClr val="86BC25"/>
                </a:solidFill>
                <a:latin typeface="Open Sans"/>
              </a:rPr>
              <a:t>.</a:t>
            </a:r>
          </a:p>
        </p:txBody>
      </p:sp>
      <p:sp>
        <p:nvSpPr>
          <p:cNvPr id="5" name="TextBox 4"/>
          <p:cNvSpPr txBox="1"/>
          <p:nvPr/>
        </p:nvSpPr>
        <p:spPr>
          <a:xfrm>
            <a:off x="609600" y="4305300"/>
            <a:ext cx="2857500" cy="285750"/>
          </a:xfrm>
          <a:prstGeom prst="rect">
            <a:avLst/>
          </a:prstGeom>
          <a:noFill/>
        </p:spPr>
        <p:txBody>
          <a:bodyPr wrap="square" anchor="t" lIns="0" tIns="0" rIns="0" bIns="0">
            <a:noAutofit/>
          </a:bodyPr>
          <a:lstStyle/>
          <a:p>
            <a:pPr algn="l">
              <a:lnSpc>
                <a:spcPct val="100000"/>
              </a:lnSpc>
              <a:spcBef>
                <a:spcPts val="0"/>
              </a:spcBef>
              <a:spcAft>
                <a:spcPts val="0"/>
              </a:spcAft>
            </a:pPr>
            <a:r>
              <a:rPr sz="1275" b="1" i="0" spc="100">
                <a:solidFill>
                  <a:srgbClr val="DDE8D4"/>
                </a:solidFill>
                <a:latin typeface="Consolas"/>
              </a:rPr>
              <a:t>03 / 04</a:t>
            </a:r>
          </a:p>
        </p:txBody>
      </p:sp>
      <p:sp>
        <p:nvSpPr>
          <p:cNvPr id="6" name="TextBox 5"/>
          <p:cNvSpPr txBox="1"/>
          <p:nvPr/>
        </p:nvSpPr>
        <p:spPr>
          <a:xfrm>
            <a:off x="609600" y="4629150"/>
            <a:ext cx="3810000" cy="22860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FFFFFF"/>
                </a:solidFill>
                <a:latin typeface="Open Sans"/>
              </a:rPr>
              <a:t>APPLICATION ARCHITECTURE</a:t>
            </a:r>
          </a:p>
        </p:txBody>
      </p:sp>
      <p:sp>
        <p:nvSpPr>
          <p:cNvPr id="7" name="TextBox 6"/>
          <p:cNvSpPr txBox="1"/>
          <p:nvPr/>
        </p:nvSpPr>
        <p:spPr>
          <a:xfrm>
            <a:off x="609600" y="4895850"/>
            <a:ext cx="7620000" cy="1249680"/>
          </a:xfrm>
          <a:prstGeom prst="rect">
            <a:avLst/>
          </a:prstGeom>
          <a:noFill/>
        </p:spPr>
        <p:txBody>
          <a:bodyPr wrap="square" anchor="t" lIns="0" tIns="0" rIns="0" bIns="0">
            <a:noAutofit/>
          </a:bodyPr>
          <a:lstStyle/>
          <a:p>
            <a:pPr algn="l">
              <a:lnSpc>
                <a:spcPct val="105000"/>
              </a:lnSpc>
              <a:spcBef>
                <a:spcPts val="0"/>
              </a:spcBef>
              <a:spcAft>
                <a:spcPts val="0"/>
              </a:spcAft>
            </a:pPr>
            <a:r>
              <a:rPr sz="3900" b="0" i="0">
                <a:solidFill>
                  <a:srgbClr val="FFFFFF"/>
                </a:solidFill>
                <a:latin typeface="Open Sans Light"/>
              </a:rPr>
              <a:t>How the system decomposes,</a:t>
            </a:r>
          </a:p>
          <a:p>
            <a:pPr>
              <a:lnSpc>
                <a:spcPct val="105000"/>
              </a:lnSpc>
              <a:spcBef>
                <a:spcPts val="0"/>
              </a:spcBef>
              <a:spcAft>
                <a:spcPts val="0"/>
              </a:spcAft>
            </a:pPr>
            <a:r>
              <a:rPr sz="3900" b="0" i="0">
                <a:solidFill>
                  <a:srgbClr val="FFFFFF"/>
                </a:solidFill>
                <a:latin typeface="Open Sans Light"/>
              </a:rPr>
              <a:t>and where it extends</a:t>
            </a:r>
          </a:p>
        </p:txBody>
      </p:sp>
      <p:sp>
        <p:nvSpPr>
          <p:cNvPr id="8" name="Rectangle 7"/>
          <p:cNvSpPr/>
          <p:nvPr/>
        </p:nvSpPr>
        <p:spPr>
          <a:xfrm>
            <a:off x="609600" y="6221730"/>
            <a:ext cx="685800" cy="47625"/>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9A9A9A"/>
                </a:solidFill>
                <a:latin typeface="Open Sans"/>
              </a:rPr>
              <a:t>Information Classification: Confidential</a:t>
            </a:r>
          </a:p>
        </p:txBody>
      </p:sp>
      <p:sp>
        <p:nvSpPr>
          <p:cNvPr id="10" name="TextBox 9"/>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9A9A9A"/>
                </a:solidFill>
                <a:latin typeface="Open Sans"/>
              </a:rPr>
              <a:t>© 2026 Deloitte. For internal use only.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Rectangle 2"/>
          <p:cNvSpPr/>
          <p:nvPr/>
        </p:nvSpPr>
        <p:spPr>
          <a:xfrm>
            <a:off x="457200" y="484822"/>
            <a:ext cx="119063" cy="119063"/>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 name="TextBox 3"/>
          <p:cNvSpPr txBox="1"/>
          <p:nvPr/>
        </p:nvSpPr>
        <p:spPr>
          <a:xfrm>
            <a:off x="695325" y="361950"/>
            <a:ext cx="7858125" cy="419100"/>
          </a:xfrm>
          <a:prstGeom prst="rect">
            <a:avLst/>
          </a:prstGeom>
          <a:noFill/>
        </p:spPr>
        <p:txBody>
          <a:bodyPr wrap="square" anchor="ctr" lIns="0" tIns="0" rIns="0" bIns="0">
            <a:noAutofit/>
          </a:bodyPr>
          <a:lstStyle/>
          <a:p>
            <a:pPr algn="l">
              <a:lnSpc>
                <a:spcPct val="110000"/>
              </a:lnSpc>
              <a:spcBef>
                <a:spcPts val="0"/>
              </a:spcBef>
              <a:spcAft>
                <a:spcPts val="0"/>
              </a:spcAft>
            </a:pPr>
            <a:r>
              <a:rPr sz="2400" b="1" i="0">
                <a:solidFill>
                  <a:srgbClr val="1A1A1A"/>
                </a:solidFill>
                <a:latin typeface="Arial"/>
              </a:rPr>
              <a:t>Application Architecture</a:t>
            </a:r>
          </a:p>
        </p:txBody>
      </p:sp>
      <p:sp>
        <p:nvSpPr>
          <p:cNvPr id="5" name="TextBox 4"/>
          <p:cNvSpPr txBox="1"/>
          <p:nvPr/>
        </p:nvSpPr>
        <p:spPr>
          <a:xfrm>
            <a:off x="7162800" y="361950"/>
            <a:ext cx="4572000" cy="419100"/>
          </a:xfrm>
          <a:prstGeom prst="rect">
            <a:avLst/>
          </a:prstGeom>
          <a:noFill/>
        </p:spPr>
        <p:txBody>
          <a:bodyPr wrap="square" anchor="ctr" lIns="0" tIns="0" rIns="0" bIns="0">
            <a:noAutofit/>
          </a:bodyPr>
          <a:lstStyle/>
          <a:p>
            <a:pPr algn="r">
              <a:lnSpc>
                <a:spcPct val="110000"/>
              </a:lnSpc>
              <a:spcBef>
                <a:spcPts val="0"/>
              </a:spcBef>
              <a:spcAft>
                <a:spcPts val="0"/>
              </a:spcAft>
            </a:pPr>
            <a:r>
              <a:rPr sz="1000" b="0" i="0">
                <a:solidFill>
                  <a:srgbClr val="63666A"/>
                </a:solidFill>
                <a:latin typeface="Arial"/>
              </a:rPr>
              <a:t>View 02 of 03</a:t>
            </a:r>
          </a:p>
        </p:txBody>
      </p:sp>
      <p:sp>
        <p:nvSpPr>
          <p:cNvPr id="6" name="Rectangle 5"/>
          <p:cNvSpPr/>
          <p:nvPr/>
        </p:nvSpPr>
        <p:spPr>
          <a:xfrm>
            <a:off x="457200" y="952500"/>
            <a:ext cx="9768840" cy="494348"/>
          </a:xfrm>
          <a:prstGeom prst="rect">
            <a:avLst/>
          </a:prstGeom>
          <a:solidFill>
            <a:srgbClr val="63666A">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TextBox 6"/>
          <p:cNvSpPr txBox="1"/>
          <p:nvPr/>
        </p:nvSpPr>
        <p:spPr>
          <a:xfrm>
            <a:off x="548640" y="952500"/>
            <a:ext cx="1133475" cy="49434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63666A"/>
                </a:solidFill>
                <a:latin typeface="Arial"/>
              </a:rPr>
              <a:t>Access Channels</a:t>
            </a:r>
          </a:p>
        </p:txBody>
      </p:sp>
      <p:sp>
        <p:nvSpPr>
          <p:cNvPr id="8" name="Rectangle 7"/>
          <p:cNvSpPr/>
          <p:nvPr/>
        </p:nvSpPr>
        <p:spPr>
          <a:xfrm>
            <a:off x="1773555" y="1034891"/>
            <a:ext cx="1639443"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Web</a:t>
            </a:r>
          </a:p>
        </p:txBody>
      </p:sp>
      <p:sp>
        <p:nvSpPr>
          <p:cNvPr id="9" name="Rectangle 8"/>
          <p:cNvSpPr/>
          <p:nvPr/>
        </p:nvSpPr>
        <p:spPr>
          <a:xfrm>
            <a:off x="3476816" y="1034891"/>
            <a:ext cx="1639443"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Desktop</a:t>
            </a:r>
          </a:p>
        </p:txBody>
      </p:sp>
      <p:sp>
        <p:nvSpPr>
          <p:cNvPr id="10" name="Rectangle 9"/>
          <p:cNvSpPr/>
          <p:nvPr/>
        </p:nvSpPr>
        <p:spPr>
          <a:xfrm>
            <a:off x="5180076" y="1034891"/>
            <a:ext cx="1639443"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Mobile</a:t>
            </a:r>
          </a:p>
        </p:txBody>
      </p:sp>
      <p:sp>
        <p:nvSpPr>
          <p:cNvPr id="11" name="Rectangle 10"/>
          <p:cNvSpPr/>
          <p:nvPr/>
        </p:nvSpPr>
        <p:spPr>
          <a:xfrm>
            <a:off x="6883337" y="1034891"/>
            <a:ext cx="1639443"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CLI</a:t>
            </a:r>
          </a:p>
        </p:txBody>
      </p:sp>
      <p:sp>
        <p:nvSpPr>
          <p:cNvPr id="12" name="Rectangle 11"/>
          <p:cNvSpPr/>
          <p:nvPr/>
        </p:nvSpPr>
        <p:spPr>
          <a:xfrm>
            <a:off x="8586597" y="1034891"/>
            <a:ext cx="1639443"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Programmatic API</a:t>
            </a:r>
          </a:p>
        </p:txBody>
      </p:sp>
      <p:sp>
        <p:nvSpPr>
          <p:cNvPr id="13" name="Rectangle 12"/>
          <p:cNvSpPr/>
          <p:nvPr/>
        </p:nvSpPr>
        <p:spPr>
          <a:xfrm>
            <a:off x="457200" y="1515428"/>
            <a:ext cx="9768840" cy="566738"/>
          </a:xfrm>
          <a:prstGeom prst="rect">
            <a:avLst/>
          </a:prstGeom>
          <a:solidFill>
            <a:srgbClr val="043B2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548640" y="1515428"/>
            <a:ext cx="1133475" cy="56673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043B2C"/>
                </a:solidFill>
                <a:latin typeface="Arial"/>
              </a:rPr>
              <a:t>Shared Client
Layer</a:t>
            </a:r>
          </a:p>
        </p:txBody>
      </p:sp>
      <p:sp>
        <p:nvSpPr>
          <p:cNvPr id="15" name="Rectangle 14"/>
          <p:cNvSpPr/>
          <p:nvPr/>
        </p:nvSpPr>
        <p:spPr>
          <a:xfrm>
            <a:off x="1773555" y="1597819"/>
            <a:ext cx="1639443" cy="401955"/>
          </a:xfrm>
          <a:prstGeom prst="rect">
            <a:avLst/>
          </a:prstGeom>
          <a:solidFill>
            <a:srgbClr val="043B2C">
              <a:alpha val="16000"/>
            </a:srgbClr>
          </a:solidFill>
          <a:ln w="6350">
            <a:solidFill>
              <a:srgbClr val="043B2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00" b="0" i="0">
                <a:solidFill>
                  <a:srgbClr val="1A1A1A"/>
                </a:solidFill>
                <a:latin typeface="Arial"/>
              </a:rPr>
              <a:t>core</a:t>
            </a:r>
          </a:p>
          <a:p>
            <a:pPr algn="ctr">
              <a:lnSpc>
                <a:spcPct val="110000"/>
              </a:lnSpc>
              <a:spcBef>
                <a:spcPts val="0"/>
              </a:spcBef>
              <a:spcAft>
                <a:spcPts val="0"/>
              </a:spcAft>
            </a:pPr>
            <a:r>
              <a:rPr sz="620" b="0" i="0">
                <a:solidFill>
                  <a:srgbClr val="63666A"/>
                </a:solidFill>
                <a:latin typeface="Arial"/>
              </a:rPr>
              <a:t>headless business logic</a:t>
            </a:r>
          </a:p>
        </p:txBody>
      </p:sp>
      <p:sp>
        <p:nvSpPr>
          <p:cNvPr id="16" name="Rectangle 15"/>
          <p:cNvSpPr/>
          <p:nvPr/>
        </p:nvSpPr>
        <p:spPr>
          <a:xfrm>
            <a:off x="3476816" y="1597819"/>
            <a:ext cx="1639443" cy="401955"/>
          </a:xfrm>
          <a:prstGeom prst="rect">
            <a:avLst/>
          </a:prstGeom>
          <a:solidFill>
            <a:srgbClr val="043B2C">
              <a:alpha val="16000"/>
            </a:srgbClr>
          </a:solidFill>
          <a:ln w="6350">
            <a:solidFill>
              <a:srgbClr val="043B2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00" b="0" i="0">
                <a:solidFill>
                  <a:srgbClr val="1A1A1A"/>
                </a:solidFill>
                <a:latin typeface="Arial"/>
              </a:rPr>
              <a:t>views</a:t>
            </a:r>
          </a:p>
          <a:p>
            <a:pPr algn="ctr">
              <a:lnSpc>
                <a:spcPct val="110000"/>
              </a:lnSpc>
              <a:spcBef>
                <a:spcPts val="0"/>
              </a:spcBef>
              <a:spcAft>
                <a:spcPts val="0"/>
              </a:spcAft>
            </a:pPr>
            <a:r>
              <a:rPr sz="620" b="0" i="0">
                <a:solidFill>
                  <a:srgbClr val="63666A"/>
                </a:solidFill>
                <a:latin typeface="Arial"/>
              </a:rPr>
              <a:t>product surfaces</a:t>
            </a:r>
          </a:p>
        </p:txBody>
      </p:sp>
      <p:sp>
        <p:nvSpPr>
          <p:cNvPr id="17" name="Rectangle 16"/>
          <p:cNvSpPr/>
          <p:nvPr/>
        </p:nvSpPr>
        <p:spPr>
          <a:xfrm>
            <a:off x="5180076" y="1597819"/>
            <a:ext cx="1639443" cy="401955"/>
          </a:xfrm>
          <a:prstGeom prst="rect">
            <a:avLst/>
          </a:prstGeom>
          <a:solidFill>
            <a:srgbClr val="043B2C">
              <a:alpha val="16000"/>
            </a:srgbClr>
          </a:solidFill>
          <a:ln w="6350">
            <a:solidFill>
              <a:srgbClr val="043B2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00" b="0" i="0">
                <a:solidFill>
                  <a:srgbClr val="1A1A1A"/>
                </a:solidFill>
                <a:latin typeface="Arial"/>
              </a:rPr>
              <a:t>ui</a:t>
            </a:r>
          </a:p>
          <a:p>
            <a:pPr algn="ctr">
              <a:lnSpc>
                <a:spcPct val="110000"/>
              </a:lnSpc>
              <a:spcBef>
                <a:spcPts val="0"/>
              </a:spcBef>
              <a:spcAft>
                <a:spcPts val="0"/>
              </a:spcAft>
            </a:pPr>
            <a:r>
              <a:rPr sz="620" b="0" i="0">
                <a:solidFill>
                  <a:srgbClr val="63666A"/>
                </a:solidFill>
                <a:latin typeface="Arial"/>
              </a:rPr>
              <a:t>primitives and tokens</a:t>
            </a:r>
          </a:p>
        </p:txBody>
      </p:sp>
      <p:sp>
        <p:nvSpPr>
          <p:cNvPr id="18" name="Rectangle 17"/>
          <p:cNvSpPr/>
          <p:nvPr/>
        </p:nvSpPr>
        <p:spPr>
          <a:xfrm>
            <a:off x="6883337" y="1597819"/>
            <a:ext cx="1639443" cy="401955"/>
          </a:xfrm>
          <a:prstGeom prst="rect">
            <a:avLst/>
          </a:prstGeom>
          <a:solidFill>
            <a:srgbClr val="043B2C">
              <a:alpha val="16000"/>
            </a:srgbClr>
          </a:solidFill>
          <a:ln w="6350">
            <a:solidFill>
              <a:srgbClr val="043B2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00" b="0" i="0">
                <a:solidFill>
                  <a:srgbClr val="1A1A1A"/>
                </a:solidFill>
                <a:latin typeface="Arial"/>
              </a:rPr>
              <a:t>Navigation Adapter</a:t>
            </a:r>
          </a:p>
          <a:p>
            <a:pPr algn="ctr">
              <a:lnSpc>
                <a:spcPct val="110000"/>
              </a:lnSpc>
              <a:spcBef>
                <a:spcPts val="0"/>
              </a:spcBef>
              <a:spcAft>
                <a:spcPts val="0"/>
              </a:spcAft>
            </a:pPr>
            <a:r>
              <a:rPr sz="620" b="0" i="0">
                <a:solidFill>
                  <a:srgbClr val="63666A"/>
                </a:solidFill>
                <a:latin typeface="Arial"/>
              </a:rPr>
              <a:t>one route contract</a:t>
            </a:r>
          </a:p>
        </p:txBody>
      </p:sp>
      <p:sp>
        <p:nvSpPr>
          <p:cNvPr id="19" name="Rectangle 18"/>
          <p:cNvSpPr/>
          <p:nvPr/>
        </p:nvSpPr>
        <p:spPr>
          <a:xfrm>
            <a:off x="8586597" y="1597819"/>
            <a:ext cx="1639443" cy="401955"/>
          </a:xfrm>
          <a:prstGeom prst="rect">
            <a:avLst/>
          </a:prstGeom>
          <a:solidFill>
            <a:srgbClr val="043B2C">
              <a:alpha val="16000"/>
            </a:srgbClr>
          </a:solidFill>
          <a:ln w="6350">
            <a:solidFill>
              <a:srgbClr val="043B2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00" b="0" i="0">
                <a:solidFill>
                  <a:srgbClr val="1A1A1A"/>
                </a:solidFill>
                <a:latin typeface="Arial"/>
              </a:rPr>
              <a:t>Storage Adapter</a:t>
            </a:r>
          </a:p>
          <a:p>
            <a:pPr algn="ctr">
              <a:lnSpc>
                <a:spcPct val="110000"/>
              </a:lnSpc>
              <a:spcBef>
                <a:spcPts val="0"/>
              </a:spcBef>
              <a:spcAft>
                <a:spcPts val="0"/>
              </a:spcAft>
            </a:pPr>
            <a:r>
              <a:rPr sz="620" b="0" i="0">
                <a:solidFill>
                  <a:srgbClr val="63666A"/>
                </a:solidFill>
                <a:latin typeface="Arial"/>
              </a:rPr>
              <a:t>per-platform persistence</a:t>
            </a:r>
          </a:p>
        </p:txBody>
      </p:sp>
      <p:sp>
        <p:nvSpPr>
          <p:cNvPr id="20" name="Rectangle 19"/>
          <p:cNvSpPr/>
          <p:nvPr/>
        </p:nvSpPr>
        <p:spPr>
          <a:xfrm>
            <a:off x="457200" y="2150745"/>
            <a:ext cx="9768840" cy="1576388"/>
          </a:xfrm>
          <a:prstGeom prst="rect">
            <a:avLst/>
          </a:prstGeom>
          <a:solidFill>
            <a:srgbClr val="86BC25">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548640" y="2150745"/>
            <a:ext cx="1133475" cy="157638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86BC25"/>
                </a:solidFill>
                <a:latin typeface="Arial"/>
              </a:rPr>
              <a:t>Platform
Services</a:t>
            </a:r>
          </a:p>
        </p:txBody>
      </p:sp>
      <p:sp>
        <p:nvSpPr>
          <p:cNvPr id="22" name="Rectangle 21"/>
          <p:cNvSpPr/>
          <p:nvPr/>
        </p:nvSpPr>
        <p:spPr>
          <a:xfrm>
            <a:off x="1773555" y="2233136"/>
            <a:ext cx="1639443" cy="256222"/>
          </a:xfrm>
          <a:prstGeom prst="rect">
            <a:avLst/>
          </a:prstGeom>
          <a:solidFill>
            <a:srgbClr val="86BC25">
              <a:alpha val="20000"/>
            </a:srgbClr>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60" b="1" i="0">
                <a:solidFill>
                  <a:srgbClr val="1A1A1A"/>
                </a:solidFill>
                <a:latin typeface="Arial"/>
              </a:rPr>
              <a:t>Work Services</a:t>
            </a:r>
          </a:p>
        </p:txBody>
      </p:sp>
      <p:sp>
        <p:nvSpPr>
          <p:cNvPr id="23" name="Rectangle 22"/>
          <p:cNvSpPr/>
          <p:nvPr/>
        </p:nvSpPr>
        <p:spPr>
          <a:xfrm>
            <a:off x="1773555" y="25350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Issue Service</a:t>
            </a:r>
          </a:p>
        </p:txBody>
      </p:sp>
      <p:sp>
        <p:nvSpPr>
          <p:cNvPr id="24" name="Rectangle 23"/>
          <p:cNvSpPr/>
          <p:nvPr/>
        </p:nvSpPr>
        <p:spPr>
          <a:xfrm>
            <a:off x="1773555" y="27636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Project Service</a:t>
            </a:r>
          </a:p>
        </p:txBody>
      </p:sp>
      <p:sp>
        <p:nvSpPr>
          <p:cNvPr id="25" name="Rectangle 24"/>
          <p:cNvSpPr/>
          <p:nvPr/>
        </p:nvSpPr>
        <p:spPr>
          <a:xfrm>
            <a:off x="1773555" y="29922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View &amp; Search</a:t>
            </a:r>
          </a:p>
        </p:txBody>
      </p:sp>
      <p:sp>
        <p:nvSpPr>
          <p:cNvPr id="26" name="Rectangle 25"/>
          <p:cNvSpPr/>
          <p:nvPr/>
        </p:nvSpPr>
        <p:spPr>
          <a:xfrm>
            <a:off x="1773555" y="32208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Status &amp; Label</a:t>
            </a:r>
          </a:p>
        </p:txBody>
      </p:sp>
      <p:sp>
        <p:nvSpPr>
          <p:cNvPr id="27" name="Rectangle 26"/>
          <p:cNvSpPr/>
          <p:nvPr/>
        </p:nvSpPr>
        <p:spPr>
          <a:xfrm>
            <a:off x="1773555" y="34494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Attachment</a:t>
            </a:r>
          </a:p>
        </p:txBody>
      </p:sp>
      <p:sp>
        <p:nvSpPr>
          <p:cNvPr id="28" name="Rectangle 27"/>
          <p:cNvSpPr/>
          <p:nvPr/>
        </p:nvSpPr>
        <p:spPr>
          <a:xfrm>
            <a:off x="3476816" y="2233136"/>
            <a:ext cx="1639443" cy="256222"/>
          </a:xfrm>
          <a:prstGeom prst="rect">
            <a:avLst/>
          </a:prstGeom>
          <a:solidFill>
            <a:srgbClr val="86BC25">
              <a:alpha val="20000"/>
            </a:srgbClr>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60" b="1" i="0">
                <a:solidFill>
                  <a:srgbClr val="1A1A1A"/>
                </a:solidFill>
                <a:latin typeface="Arial"/>
              </a:rPr>
              <a:t>Agent Services</a:t>
            </a:r>
          </a:p>
        </p:txBody>
      </p:sp>
      <p:sp>
        <p:nvSpPr>
          <p:cNvPr id="29" name="Rectangle 28"/>
          <p:cNvSpPr/>
          <p:nvPr/>
        </p:nvSpPr>
        <p:spPr>
          <a:xfrm>
            <a:off x="3476816" y="25350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Agent Registry</a:t>
            </a:r>
          </a:p>
        </p:txBody>
      </p:sp>
      <p:sp>
        <p:nvSpPr>
          <p:cNvPr id="30" name="Rectangle 29"/>
          <p:cNvSpPr/>
          <p:nvPr/>
        </p:nvSpPr>
        <p:spPr>
          <a:xfrm>
            <a:off x="3476816" y="27636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Skill Service</a:t>
            </a:r>
          </a:p>
        </p:txBody>
      </p:sp>
      <p:sp>
        <p:nvSpPr>
          <p:cNvPr id="31" name="Rectangle 30"/>
          <p:cNvSpPr/>
          <p:nvPr/>
        </p:nvSpPr>
        <p:spPr>
          <a:xfrm>
            <a:off x="3476816" y="29922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Squad Service</a:t>
            </a:r>
          </a:p>
        </p:txBody>
      </p:sp>
      <p:sp>
        <p:nvSpPr>
          <p:cNvPr id="32" name="Rectangle 31"/>
          <p:cNvSpPr/>
          <p:nvPr/>
        </p:nvSpPr>
        <p:spPr>
          <a:xfrm>
            <a:off x="3476816" y="32208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Ontology Service</a:t>
            </a:r>
          </a:p>
        </p:txBody>
      </p:sp>
      <p:sp>
        <p:nvSpPr>
          <p:cNvPr id="33" name="Rectangle 32"/>
          <p:cNvSpPr/>
          <p:nvPr/>
        </p:nvSpPr>
        <p:spPr>
          <a:xfrm>
            <a:off x="3476816" y="34494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Agent Builder</a:t>
            </a:r>
          </a:p>
        </p:txBody>
      </p:sp>
      <p:sp>
        <p:nvSpPr>
          <p:cNvPr id="34" name="Rectangle 33"/>
          <p:cNvSpPr/>
          <p:nvPr/>
        </p:nvSpPr>
        <p:spPr>
          <a:xfrm>
            <a:off x="5180076" y="2233136"/>
            <a:ext cx="1639443" cy="256222"/>
          </a:xfrm>
          <a:prstGeom prst="rect">
            <a:avLst/>
          </a:prstGeom>
          <a:solidFill>
            <a:srgbClr val="86BC25">
              <a:alpha val="20000"/>
            </a:srgbClr>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60" b="1" i="0">
                <a:solidFill>
                  <a:srgbClr val="1A1A1A"/>
                </a:solidFill>
                <a:latin typeface="Arial"/>
              </a:rPr>
              <a:t>Execution Services</a:t>
            </a:r>
          </a:p>
        </p:txBody>
      </p:sp>
      <p:sp>
        <p:nvSpPr>
          <p:cNvPr id="35" name="Rectangle 34"/>
          <p:cNvSpPr/>
          <p:nvPr/>
        </p:nvSpPr>
        <p:spPr>
          <a:xfrm>
            <a:off x="5180076" y="25350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Task Service</a:t>
            </a:r>
          </a:p>
        </p:txBody>
      </p:sp>
      <p:sp>
        <p:nvSpPr>
          <p:cNvPr id="36" name="Rectangle 35"/>
          <p:cNvSpPr/>
          <p:nvPr/>
        </p:nvSpPr>
        <p:spPr>
          <a:xfrm>
            <a:off x="5180076" y="27636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Queue &amp; Claim</a:t>
            </a:r>
          </a:p>
        </p:txBody>
      </p:sp>
      <p:sp>
        <p:nvSpPr>
          <p:cNvPr id="37" name="Rectangle 36"/>
          <p:cNvSpPr/>
          <p:nvPr/>
        </p:nvSpPr>
        <p:spPr>
          <a:xfrm>
            <a:off x="5180076" y="29922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Lease &amp; Retry</a:t>
            </a:r>
          </a:p>
        </p:txBody>
      </p:sp>
      <p:sp>
        <p:nvSpPr>
          <p:cNvPr id="38" name="Rectangle 37"/>
          <p:cNvSpPr/>
          <p:nvPr/>
        </p:nvSpPr>
        <p:spPr>
          <a:xfrm>
            <a:off x="5180076" y="32208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Usage Aggregation</a:t>
            </a:r>
          </a:p>
        </p:txBody>
      </p:sp>
      <p:sp>
        <p:nvSpPr>
          <p:cNvPr id="39" name="Rectangle 38"/>
          <p:cNvSpPr/>
          <p:nvPr/>
        </p:nvSpPr>
        <p:spPr>
          <a:xfrm>
            <a:off x="5180076" y="34494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Failure Classification</a:t>
            </a:r>
          </a:p>
        </p:txBody>
      </p:sp>
      <p:sp>
        <p:nvSpPr>
          <p:cNvPr id="40" name="Rectangle 39"/>
          <p:cNvSpPr/>
          <p:nvPr/>
        </p:nvSpPr>
        <p:spPr>
          <a:xfrm>
            <a:off x="6883337" y="2233136"/>
            <a:ext cx="1639443" cy="256222"/>
          </a:xfrm>
          <a:prstGeom prst="rect">
            <a:avLst/>
          </a:prstGeom>
          <a:solidFill>
            <a:srgbClr val="86BC25">
              <a:alpha val="20000"/>
            </a:srgbClr>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60" b="1" i="0">
                <a:solidFill>
                  <a:srgbClr val="1A1A1A"/>
                </a:solidFill>
                <a:latin typeface="Arial"/>
              </a:rPr>
              <a:t>Collaboration</a:t>
            </a:r>
          </a:p>
        </p:txBody>
      </p:sp>
      <p:sp>
        <p:nvSpPr>
          <p:cNvPr id="41" name="Rectangle 40"/>
          <p:cNvSpPr/>
          <p:nvPr/>
        </p:nvSpPr>
        <p:spPr>
          <a:xfrm>
            <a:off x="6883337" y="25350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Comment Service</a:t>
            </a:r>
          </a:p>
        </p:txBody>
      </p:sp>
      <p:sp>
        <p:nvSpPr>
          <p:cNvPr id="42" name="Rectangle 41"/>
          <p:cNvSpPr/>
          <p:nvPr/>
        </p:nvSpPr>
        <p:spPr>
          <a:xfrm>
            <a:off x="6883337" y="27636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Subscription</a:t>
            </a:r>
          </a:p>
        </p:txBody>
      </p:sp>
      <p:sp>
        <p:nvSpPr>
          <p:cNvPr id="43" name="Rectangle 42"/>
          <p:cNvSpPr/>
          <p:nvPr/>
        </p:nvSpPr>
        <p:spPr>
          <a:xfrm>
            <a:off x="6883337" y="29922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Notification</a:t>
            </a:r>
          </a:p>
        </p:txBody>
      </p:sp>
      <p:sp>
        <p:nvSpPr>
          <p:cNvPr id="44" name="Rectangle 43"/>
          <p:cNvSpPr/>
          <p:nvPr/>
        </p:nvSpPr>
        <p:spPr>
          <a:xfrm>
            <a:off x="6883337" y="32208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Inbox</a:t>
            </a:r>
          </a:p>
        </p:txBody>
      </p:sp>
      <p:sp>
        <p:nvSpPr>
          <p:cNvPr id="45" name="Rectangle 44"/>
          <p:cNvSpPr/>
          <p:nvPr/>
        </p:nvSpPr>
        <p:spPr>
          <a:xfrm>
            <a:off x="6883337" y="34494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Chat Session</a:t>
            </a:r>
          </a:p>
        </p:txBody>
      </p:sp>
      <p:sp>
        <p:nvSpPr>
          <p:cNvPr id="46" name="Rectangle 45"/>
          <p:cNvSpPr/>
          <p:nvPr/>
        </p:nvSpPr>
        <p:spPr>
          <a:xfrm>
            <a:off x="8586597" y="2233136"/>
            <a:ext cx="1639443" cy="256222"/>
          </a:xfrm>
          <a:prstGeom prst="rect">
            <a:avLst/>
          </a:prstGeom>
          <a:solidFill>
            <a:srgbClr val="86BC25">
              <a:alpha val="20000"/>
            </a:srgbClr>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60" b="1" i="0">
                <a:solidFill>
                  <a:srgbClr val="1A1A1A"/>
                </a:solidFill>
                <a:latin typeface="Arial"/>
              </a:rPr>
              <a:t>Platform Services</a:t>
            </a:r>
          </a:p>
        </p:txBody>
      </p:sp>
      <p:sp>
        <p:nvSpPr>
          <p:cNvPr id="47" name="Rectangle 46"/>
          <p:cNvSpPr/>
          <p:nvPr/>
        </p:nvSpPr>
        <p:spPr>
          <a:xfrm>
            <a:off x="8586597" y="25350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Identity &amp; Token</a:t>
            </a:r>
          </a:p>
        </p:txBody>
      </p:sp>
      <p:sp>
        <p:nvSpPr>
          <p:cNvPr id="48" name="Rectangle 47"/>
          <p:cNvSpPr/>
          <p:nvPr/>
        </p:nvSpPr>
        <p:spPr>
          <a:xfrm>
            <a:off x="8586597" y="27636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Entitlement</a:t>
            </a:r>
          </a:p>
        </p:txBody>
      </p:sp>
      <p:sp>
        <p:nvSpPr>
          <p:cNvPr id="49" name="Rectangle 48"/>
          <p:cNvSpPr/>
          <p:nvPr/>
        </p:nvSpPr>
        <p:spPr>
          <a:xfrm>
            <a:off x="8586597" y="29922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Feature Flags</a:t>
            </a:r>
          </a:p>
        </p:txBody>
      </p:sp>
      <p:sp>
        <p:nvSpPr>
          <p:cNvPr id="50" name="Rectangle 49"/>
          <p:cNvSpPr/>
          <p:nvPr/>
        </p:nvSpPr>
        <p:spPr>
          <a:xfrm>
            <a:off x="8586597" y="32208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Plugin Runtime</a:t>
            </a:r>
          </a:p>
        </p:txBody>
      </p:sp>
      <p:sp>
        <p:nvSpPr>
          <p:cNvPr id="51" name="Rectangle 50"/>
          <p:cNvSpPr/>
          <p:nvPr/>
        </p:nvSpPr>
        <p:spPr>
          <a:xfrm>
            <a:off x="8586597" y="3449479"/>
            <a:ext cx="1639443"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Audit Writer</a:t>
            </a:r>
          </a:p>
        </p:txBody>
      </p:sp>
      <p:sp>
        <p:nvSpPr>
          <p:cNvPr id="52" name="Rectangle 51"/>
          <p:cNvSpPr/>
          <p:nvPr/>
        </p:nvSpPr>
        <p:spPr>
          <a:xfrm>
            <a:off x="457200" y="3795712"/>
            <a:ext cx="9768840" cy="494348"/>
          </a:xfrm>
          <a:prstGeom prst="rect">
            <a:avLst/>
          </a:prstGeom>
          <a:solidFill>
            <a:srgbClr val="0097A9">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3" name="TextBox 52"/>
          <p:cNvSpPr txBox="1"/>
          <p:nvPr/>
        </p:nvSpPr>
        <p:spPr>
          <a:xfrm>
            <a:off x="548640" y="3795712"/>
            <a:ext cx="1133475" cy="49434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0097A9"/>
                </a:solidFill>
                <a:latin typeface="Arial"/>
              </a:rPr>
              <a:t>Edge &amp;
Transport</a:t>
            </a:r>
          </a:p>
        </p:txBody>
      </p:sp>
      <p:sp>
        <p:nvSpPr>
          <p:cNvPr id="54" name="Rectangle 53"/>
          <p:cNvSpPr/>
          <p:nvPr/>
        </p:nvSpPr>
        <p:spPr>
          <a:xfrm>
            <a:off x="1773555" y="3878104"/>
            <a:ext cx="1639443" cy="329565"/>
          </a:xfrm>
          <a:prstGeom prst="rect">
            <a:avLst/>
          </a:prstGeom>
          <a:solidFill>
            <a:srgbClr val="0097A9">
              <a:alpha val="16000"/>
            </a:srgbClr>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REST API</a:t>
            </a:r>
          </a:p>
        </p:txBody>
      </p:sp>
      <p:sp>
        <p:nvSpPr>
          <p:cNvPr id="55" name="Rectangle 54"/>
          <p:cNvSpPr/>
          <p:nvPr/>
        </p:nvSpPr>
        <p:spPr>
          <a:xfrm>
            <a:off x="3476816" y="3878104"/>
            <a:ext cx="1639443" cy="329565"/>
          </a:xfrm>
          <a:prstGeom prst="rect">
            <a:avLst/>
          </a:prstGeom>
          <a:solidFill>
            <a:srgbClr val="0097A9">
              <a:alpha val="16000"/>
            </a:srgbClr>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Client WebSocket</a:t>
            </a:r>
          </a:p>
        </p:txBody>
      </p:sp>
      <p:sp>
        <p:nvSpPr>
          <p:cNvPr id="56" name="Rectangle 55"/>
          <p:cNvSpPr/>
          <p:nvPr/>
        </p:nvSpPr>
        <p:spPr>
          <a:xfrm>
            <a:off x="5180076" y="3878104"/>
            <a:ext cx="1639443" cy="329565"/>
          </a:xfrm>
          <a:prstGeom prst="rect">
            <a:avLst/>
          </a:prstGeom>
          <a:solidFill>
            <a:srgbClr val="0097A9">
              <a:alpha val="16000"/>
            </a:srgbClr>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Daemon WebSocket</a:t>
            </a:r>
          </a:p>
        </p:txBody>
      </p:sp>
      <p:sp>
        <p:nvSpPr>
          <p:cNvPr id="57" name="Rectangle 56"/>
          <p:cNvSpPr/>
          <p:nvPr/>
        </p:nvSpPr>
        <p:spPr>
          <a:xfrm>
            <a:off x="6883337" y="3878104"/>
            <a:ext cx="1639443" cy="329565"/>
          </a:xfrm>
          <a:prstGeom prst="rect">
            <a:avLst/>
          </a:prstGeom>
          <a:solidFill>
            <a:srgbClr val="0097A9">
              <a:alpha val="16000"/>
            </a:srgbClr>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Inbound Webhooks</a:t>
            </a:r>
          </a:p>
        </p:txBody>
      </p:sp>
      <p:sp>
        <p:nvSpPr>
          <p:cNvPr id="58" name="Rectangle 57"/>
          <p:cNvSpPr/>
          <p:nvPr/>
        </p:nvSpPr>
        <p:spPr>
          <a:xfrm>
            <a:off x="8586597" y="3878104"/>
            <a:ext cx="1639443" cy="329565"/>
          </a:xfrm>
          <a:prstGeom prst="rect">
            <a:avLst/>
          </a:prstGeom>
          <a:solidFill>
            <a:srgbClr val="0097A9">
              <a:alpha val="16000"/>
            </a:srgbClr>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Signed URLs</a:t>
            </a:r>
          </a:p>
        </p:txBody>
      </p:sp>
      <p:sp>
        <p:nvSpPr>
          <p:cNvPr id="59" name="Rectangle 58"/>
          <p:cNvSpPr/>
          <p:nvPr/>
        </p:nvSpPr>
        <p:spPr>
          <a:xfrm>
            <a:off x="457200" y="4358640"/>
            <a:ext cx="9768840" cy="494348"/>
          </a:xfrm>
          <a:prstGeom prst="rect">
            <a:avLst/>
          </a:prstGeom>
          <a:solidFill>
            <a:srgbClr val="0097A9">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0" name="TextBox 59"/>
          <p:cNvSpPr txBox="1"/>
          <p:nvPr/>
        </p:nvSpPr>
        <p:spPr>
          <a:xfrm>
            <a:off x="548640" y="4358640"/>
            <a:ext cx="1133475" cy="49434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0097A9"/>
                </a:solidFill>
                <a:latin typeface="Arial"/>
              </a:rPr>
              <a:t>Execution Plane</a:t>
            </a:r>
          </a:p>
        </p:txBody>
      </p:sp>
      <p:sp>
        <p:nvSpPr>
          <p:cNvPr id="61" name="Rectangle 60"/>
          <p:cNvSpPr/>
          <p:nvPr/>
        </p:nvSpPr>
        <p:spPr>
          <a:xfrm>
            <a:off x="1773555" y="4441031"/>
            <a:ext cx="1639443" cy="329565"/>
          </a:xfrm>
          <a:prstGeom prst="rect">
            <a:avLst/>
          </a:prstGeom>
          <a:solidFill>
            <a:srgbClr val="FFFFFF"/>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Local Daemon</a:t>
            </a:r>
          </a:p>
        </p:txBody>
      </p:sp>
      <p:sp>
        <p:nvSpPr>
          <p:cNvPr id="62" name="Rectangle 61"/>
          <p:cNvSpPr/>
          <p:nvPr/>
        </p:nvSpPr>
        <p:spPr>
          <a:xfrm>
            <a:off x="3476816" y="4441031"/>
            <a:ext cx="1639443" cy="329565"/>
          </a:xfrm>
          <a:prstGeom prst="rect">
            <a:avLst/>
          </a:prstGeom>
          <a:solidFill>
            <a:srgbClr val="FFFFFF"/>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Runtime Probe</a:t>
            </a:r>
          </a:p>
        </p:txBody>
      </p:sp>
      <p:sp>
        <p:nvSpPr>
          <p:cNvPr id="63" name="Rectangle 62"/>
          <p:cNvSpPr/>
          <p:nvPr/>
        </p:nvSpPr>
        <p:spPr>
          <a:xfrm>
            <a:off x="5180076" y="4441031"/>
            <a:ext cx="1639443" cy="329565"/>
          </a:xfrm>
          <a:prstGeom prst="rect">
            <a:avLst/>
          </a:prstGeom>
          <a:solidFill>
            <a:srgbClr val="FFFFFF"/>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Claim Loop</a:t>
            </a:r>
          </a:p>
        </p:txBody>
      </p:sp>
      <p:sp>
        <p:nvSpPr>
          <p:cNvPr id="64" name="Rectangle 63"/>
          <p:cNvSpPr/>
          <p:nvPr/>
        </p:nvSpPr>
        <p:spPr>
          <a:xfrm>
            <a:off x="6883337" y="4441031"/>
            <a:ext cx="1639443" cy="329565"/>
          </a:xfrm>
          <a:prstGeom prst="rect">
            <a:avLst/>
          </a:prstGeom>
          <a:solidFill>
            <a:srgbClr val="FFFFFF"/>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Isolation Manager</a:t>
            </a:r>
          </a:p>
        </p:txBody>
      </p:sp>
      <p:sp>
        <p:nvSpPr>
          <p:cNvPr id="65" name="Rectangle 64"/>
          <p:cNvSpPr/>
          <p:nvPr/>
        </p:nvSpPr>
        <p:spPr>
          <a:xfrm>
            <a:off x="8586597" y="4441031"/>
            <a:ext cx="1639443" cy="329565"/>
          </a:xfrm>
          <a:prstGeom prst="rect">
            <a:avLst/>
          </a:prstGeom>
          <a:solidFill>
            <a:srgbClr val="FFFFFF"/>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Agent CLI Adapter</a:t>
            </a:r>
          </a:p>
        </p:txBody>
      </p:sp>
      <p:sp>
        <p:nvSpPr>
          <p:cNvPr id="66" name="Rectangle 65"/>
          <p:cNvSpPr/>
          <p:nvPr/>
        </p:nvSpPr>
        <p:spPr>
          <a:xfrm>
            <a:off x="457200" y="4921568"/>
            <a:ext cx="9768840" cy="777240"/>
          </a:xfrm>
          <a:prstGeom prst="rect">
            <a:avLst/>
          </a:prstGeom>
          <a:solidFill>
            <a:srgbClr val="63666A">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7" name="TextBox 66"/>
          <p:cNvSpPr txBox="1"/>
          <p:nvPr/>
        </p:nvSpPr>
        <p:spPr>
          <a:xfrm>
            <a:off x="548640" y="4921568"/>
            <a:ext cx="1133475" cy="777240"/>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63666A"/>
                </a:solidFill>
                <a:latin typeface="Arial"/>
              </a:rPr>
              <a:t>Data Resources</a:t>
            </a:r>
          </a:p>
        </p:txBody>
      </p:sp>
      <p:sp>
        <p:nvSpPr>
          <p:cNvPr id="68" name="Rectangle 67"/>
          <p:cNvSpPr/>
          <p:nvPr/>
        </p:nvSpPr>
        <p:spPr>
          <a:xfrm>
            <a:off x="1773555" y="5003959"/>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Workspace Store</a:t>
            </a:r>
          </a:p>
        </p:txBody>
      </p:sp>
      <p:sp>
        <p:nvSpPr>
          <p:cNvPr id="69" name="Rectangle 68"/>
          <p:cNvSpPr/>
          <p:nvPr/>
        </p:nvSpPr>
        <p:spPr>
          <a:xfrm>
            <a:off x="3192939" y="5003959"/>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Issue Store</a:t>
            </a:r>
          </a:p>
        </p:txBody>
      </p:sp>
      <p:sp>
        <p:nvSpPr>
          <p:cNvPr id="70" name="Rectangle 69"/>
          <p:cNvSpPr/>
          <p:nvPr/>
        </p:nvSpPr>
        <p:spPr>
          <a:xfrm>
            <a:off x="4612322" y="5003959"/>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Task Queue</a:t>
            </a:r>
          </a:p>
        </p:txBody>
      </p:sp>
      <p:sp>
        <p:nvSpPr>
          <p:cNvPr id="71" name="Rectangle 70"/>
          <p:cNvSpPr/>
          <p:nvPr/>
        </p:nvSpPr>
        <p:spPr>
          <a:xfrm>
            <a:off x="6031706" y="5003959"/>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Message Log</a:t>
            </a:r>
          </a:p>
        </p:txBody>
      </p:sp>
      <p:sp>
        <p:nvSpPr>
          <p:cNvPr id="72" name="Rectangle 71"/>
          <p:cNvSpPr/>
          <p:nvPr/>
        </p:nvSpPr>
        <p:spPr>
          <a:xfrm>
            <a:off x="7451090" y="5003959"/>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Usage Rollups</a:t>
            </a:r>
          </a:p>
        </p:txBody>
      </p:sp>
      <p:sp>
        <p:nvSpPr>
          <p:cNvPr id="73" name="Rectangle 72"/>
          <p:cNvSpPr/>
          <p:nvPr/>
        </p:nvSpPr>
        <p:spPr>
          <a:xfrm>
            <a:off x="8870474" y="5003959"/>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Agent Config</a:t>
            </a:r>
          </a:p>
        </p:txBody>
      </p:sp>
      <p:sp>
        <p:nvSpPr>
          <p:cNvPr id="74" name="Rectangle 73"/>
          <p:cNvSpPr/>
          <p:nvPr/>
        </p:nvSpPr>
        <p:spPr>
          <a:xfrm>
            <a:off x="1773555" y="5342096"/>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Skill Bundles</a:t>
            </a:r>
          </a:p>
        </p:txBody>
      </p:sp>
      <p:sp>
        <p:nvSpPr>
          <p:cNvPr id="75" name="Rectangle 74"/>
          <p:cNvSpPr/>
          <p:nvPr/>
        </p:nvSpPr>
        <p:spPr>
          <a:xfrm>
            <a:off x="3192939" y="5342096"/>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Plugin Registry</a:t>
            </a:r>
          </a:p>
        </p:txBody>
      </p:sp>
      <p:sp>
        <p:nvSpPr>
          <p:cNvPr id="76" name="Rectangle 75"/>
          <p:cNvSpPr/>
          <p:nvPr/>
        </p:nvSpPr>
        <p:spPr>
          <a:xfrm>
            <a:off x="4612322" y="5342096"/>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Channel Bindings</a:t>
            </a:r>
          </a:p>
        </p:txBody>
      </p:sp>
      <p:sp>
        <p:nvSpPr>
          <p:cNvPr id="77" name="Rectangle 76"/>
          <p:cNvSpPr/>
          <p:nvPr/>
        </p:nvSpPr>
        <p:spPr>
          <a:xfrm>
            <a:off x="6031706" y="5342096"/>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Object Storage</a:t>
            </a:r>
          </a:p>
        </p:txBody>
      </p:sp>
      <p:sp>
        <p:nvSpPr>
          <p:cNvPr id="78" name="Rectangle 77"/>
          <p:cNvSpPr/>
          <p:nvPr/>
        </p:nvSpPr>
        <p:spPr>
          <a:xfrm>
            <a:off x="7451090" y="5342096"/>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Realtime Relay</a:t>
            </a:r>
          </a:p>
        </p:txBody>
      </p:sp>
      <p:sp>
        <p:nvSpPr>
          <p:cNvPr id="79" name="Rectangle 78"/>
          <p:cNvSpPr/>
          <p:nvPr/>
        </p:nvSpPr>
        <p:spPr>
          <a:xfrm>
            <a:off x="8870474" y="5342096"/>
            <a:ext cx="1355566" cy="274320"/>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Audit Log</a:t>
            </a:r>
          </a:p>
        </p:txBody>
      </p:sp>
      <p:sp>
        <p:nvSpPr>
          <p:cNvPr id="80" name="Rectangle 79"/>
          <p:cNvSpPr/>
          <p:nvPr/>
        </p:nvSpPr>
        <p:spPr>
          <a:xfrm>
            <a:off x="457200" y="5767388"/>
            <a:ext cx="9768840" cy="494348"/>
          </a:xfrm>
          <a:prstGeom prst="rect">
            <a:avLst/>
          </a:prstGeom>
          <a:solidFill>
            <a:srgbClr val="97999B">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1" name="TextBox 80"/>
          <p:cNvSpPr txBox="1"/>
          <p:nvPr/>
        </p:nvSpPr>
        <p:spPr>
          <a:xfrm>
            <a:off x="548640" y="5767388"/>
            <a:ext cx="1133475" cy="49434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63666A"/>
                </a:solidFill>
                <a:latin typeface="Arial"/>
              </a:rPr>
              <a:t>Integration
Surface</a:t>
            </a:r>
          </a:p>
        </p:txBody>
      </p:sp>
      <p:sp>
        <p:nvSpPr>
          <p:cNvPr id="82" name="Rectangle 81"/>
          <p:cNvSpPr/>
          <p:nvPr/>
        </p:nvSpPr>
        <p:spPr>
          <a:xfrm>
            <a:off x="1773555" y="5849779"/>
            <a:ext cx="2065258" cy="329565"/>
          </a:xfrm>
          <a:prstGeom prst="rect">
            <a:avLst/>
          </a:prstGeom>
          <a:solidFill>
            <a:srgbClr val="97999B">
              <a:alpha val="16000"/>
            </a:srgbClr>
          </a:solidFill>
          <a:ln w="6350">
            <a:solidFill>
              <a:srgbClr val="97999B"/>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Git Hosting</a:t>
            </a:r>
          </a:p>
        </p:txBody>
      </p:sp>
      <p:sp>
        <p:nvSpPr>
          <p:cNvPr id="83" name="Rectangle 82"/>
          <p:cNvSpPr/>
          <p:nvPr/>
        </p:nvSpPr>
        <p:spPr>
          <a:xfrm>
            <a:off x="3902631" y="5849779"/>
            <a:ext cx="2065258" cy="329565"/>
          </a:xfrm>
          <a:prstGeom prst="rect">
            <a:avLst/>
          </a:prstGeom>
          <a:solidFill>
            <a:srgbClr val="97999B">
              <a:alpha val="16000"/>
            </a:srgbClr>
          </a:solidFill>
          <a:ln w="6350">
            <a:solidFill>
              <a:srgbClr val="97999B"/>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Messaging Channels</a:t>
            </a:r>
          </a:p>
        </p:txBody>
      </p:sp>
      <p:sp>
        <p:nvSpPr>
          <p:cNvPr id="84" name="Rectangle 83"/>
          <p:cNvSpPr/>
          <p:nvPr/>
        </p:nvSpPr>
        <p:spPr>
          <a:xfrm>
            <a:off x="6031706" y="5849779"/>
            <a:ext cx="2065258" cy="329565"/>
          </a:xfrm>
          <a:prstGeom prst="rect">
            <a:avLst/>
          </a:prstGeom>
          <a:solidFill>
            <a:srgbClr val="97999B">
              <a:alpha val="16000"/>
            </a:srgbClr>
          </a:solidFill>
          <a:ln w="6350">
            <a:solidFill>
              <a:srgbClr val="97999B"/>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Tools &amp; MCP</a:t>
            </a:r>
          </a:p>
        </p:txBody>
      </p:sp>
      <p:sp>
        <p:nvSpPr>
          <p:cNvPr id="85" name="Rectangle 84"/>
          <p:cNvSpPr/>
          <p:nvPr/>
        </p:nvSpPr>
        <p:spPr>
          <a:xfrm>
            <a:off x="8160782" y="5849779"/>
            <a:ext cx="2065258" cy="329565"/>
          </a:xfrm>
          <a:prstGeom prst="rect">
            <a:avLst/>
          </a:prstGeom>
          <a:solidFill>
            <a:srgbClr val="97999B">
              <a:alpha val="16000"/>
            </a:srgbClr>
          </a:solidFill>
          <a:ln w="6350">
            <a:solidFill>
              <a:srgbClr val="97999B"/>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Model Gateway</a:t>
            </a:r>
          </a:p>
        </p:txBody>
      </p:sp>
      <p:sp>
        <p:nvSpPr>
          <p:cNvPr id="86" name="Rectangle 85"/>
          <p:cNvSpPr/>
          <p:nvPr/>
        </p:nvSpPr>
        <p:spPr>
          <a:xfrm>
            <a:off x="10344150" y="952500"/>
            <a:ext cx="1389698" cy="5309235"/>
          </a:xfrm>
          <a:prstGeom prst="rect">
            <a:avLst/>
          </a:prstGeom>
          <a:solidFill>
            <a:srgbClr val="86BC25">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7" name="Rectangle 86"/>
          <p:cNvSpPr/>
          <p:nvPr/>
        </p:nvSpPr>
        <p:spPr>
          <a:xfrm>
            <a:off x="10344150" y="952500"/>
            <a:ext cx="1389698" cy="310515"/>
          </a:xfrm>
          <a:prstGeom prst="rect">
            <a:avLst/>
          </a:prstGeom>
          <a:solidFill>
            <a:srgbClr val="86BC25">
              <a:alpha val="2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8" name="TextBox 87"/>
          <p:cNvSpPr txBox="1"/>
          <p:nvPr/>
        </p:nvSpPr>
        <p:spPr>
          <a:xfrm>
            <a:off x="10344150" y="952500"/>
            <a:ext cx="1389698" cy="310515"/>
          </a:xfrm>
          <a:prstGeom prst="rect">
            <a:avLst/>
          </a:prstGeom>
          <a:noFill/>
        </p:spPr>
        <p:txBody>
          <a:bodyPr wrap="square" anchor="ctr" lIns="0" tIns="0" rIns="0" bIns="0">
            <a:noAutofit/>
          </a:bodyPr>
          <a:lstStyle/>
          <a:p>
            <a:pPr algn="ctr">
              <a:lnSpc>
                <a:spcPct val="110000"/>
              </a:lnSpc>
              <a:spcBef>
                <a:spcPts val="0"/>
              </a:spcBef>
              <a:spcAft>
                <a:spcPts val="0"/>
              </a:spcAft>
            </a:pPr>
            <a:r>
              <a:rPr sz="840" b="1" i="0">
                <a:solidFill>
                  <a:srgbClr val="1A1A1A"/>
                </a:solidFill>
                <a:latin typeface="Arial"/>
              </a:rPr>
              <a:t>Contract Plane</a:t>
            </a:r>
          </a:p>
        </p:txBody>
      </p:sp>
      <p:sp>
        <p:nvSpPr>
          <p:cNvPr id="89" name="Rectangle 88"/>
          <p:cNvSpPr/>
          <p:nvPr/>
        </p:nvSpPr>
        <p:spPr>
          <a:xfrm>
            <a:off x="10427018" y="1434465"/>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API Schema</a:t>
            </a:r>
          </a:p>
        </p:txBody>
      </p:sp>
      <p:sp>
        <p:nvSpPr>
          <p:cNvPr id="90" name="Rectangle 89"/>
          <p:cNvSpPr/>
          <p:nvPr/>
        </p:nvSpPr>
        <p:spPr>
          <a:xfrm>
            <a:off x="10427018" y="2056447"/>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Route Contract</a:t>
            </a:r>
          </a:p>
        </p:txBody>
      </p:sp>
      <p:sp>
        <p:nvSpPr>
          <p:cNvPr id="91" name="Rectangle 90"/>
          <p:cNvSpPr/>
          <p:nvPr/>
        </p:nvSpPr>
        <p:spPr>
          <a:xfrm>
            <a:off x="10427018" y="2678430"/>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Event Types</a:t>
            </a:r>
          </a:p>
        </p:txBody>
      </p:sp>
      <p:sp>
        <p:nvSpPr>
          <p:cNvPr id="92" name="Rectangle 91"/>
          <p:cNvSpPr/>
          <p:nvPr/>
        </p:nvSpPr>
        <p:spPr>
          <a:xfrm>
            <a:off x="10427018" y="3300412"/>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Task Token</a:t>
            </a:r>
          </a:p>
        </p:txBody>
      </p:sp>
      <p:sp>
        <p:nvSpPr>
          <p:cNvPr id="93" name="Rectangle 92"/>
          <p:cNvSpPr/>
          <p:nvPr/>
        </p:nvSpPr>
        <p:spPr>
          <a:xfrm>
            <a:off x="10427018" y="3922395"/>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Client Identity</a:t>
            </a:r>
          </a:p>
        </p:txBody>
      </p:sp>
      <p:sp>
        <p:nvSpPr>
          <p:cNvPr id="94" name="Rectangle 93"/>
          <p:cNvSpPr/>
          <p:nvPr/>
        </p:nvSpPr>
        <p:spPr>
          <a:xfrm>
            <a:off x="10427018" y="4544378"/>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Plugin Manifest</a:t>
            </a:r>
          </a:p>
        </p:txBody>
      </p:sp>
      <p:sp>
        <p:nvSpPr>
          <p:cNvPr id="95" name="Rectangle 94"/>
          <p:cNvSpPr/>
          <p:nvPr/>
        </p:nvSpPr>
        <p:spPr>
          <a:xfrm>
            <a:off x="609600" y="6391275"/>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6" name="TextBox 95"/>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97" name="TextBox 96"/>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98" name="TextBox 97"/>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COMPONENT CATALOGUE</a:t>
            </a:r>
          </a:p>
        </p:txBody>
      </p:sp>
      <p:sp>
        <p:nvSpPr>
          <p:cNvPr id="4" name="TextBox 3"/>
          <p:cNvSpPr txBox="1"/>
          <p:nvPr/>
        </p:nvSpPr>
        <p:spPr>
          <a:xfrm>
            <a:off x="609600" y="1028700"/>
            <a:ext cx="10972800" cy="434340"/>
          </a:xfrm>
          <a:prstGeom prst="rect">
            <a:avLst/>
          </a:prstGeom>
          <a:noFill/>
        </p:spPr>
        <p:txBody>
          <a:bodyPr wrap="square" anchor="t" lIns="0" tIns="0" rIns="0" bIns="0">
            <a:noAutofit/>
          </a:bodyPr>
          <a:lstStyle/>
          <a:p>
            <a:pPr algn="l">
              <a:lnSpc>
                <a:spcPct val="106000"/>
              </a:lnSpc>
              <a:spcBef>
                <a:spcPts val="0"/>
              </a:spcBef>
              <a:spcAft>
                <a:spcPts val="0"/>
              </a:spcAft>
            </a:pPr>
            <a:r>
              <a:rPr sz="2700" b="0" i="0">
                <a:solidFill>
                  <a:srgbClr val="000000"/>
                </a:solidFill>
                <a:latin typeface="Open Sans Light"/>
              </a:rPr>
              <a:t>Clients, shared layer, service domains</a:t>
            </a:r>
          </a:p>
        </p:txBody>
      </p:sp>
      <p:sp>
        <p:nvSpPr>
          <p:cNvPr id="5" name="Rectangle 4"/>
          <p:cNvSpPr/>
          <p:nvPr/>
        </p:nvSpPr>
        <p:spPr>
          <a:xfrm>
            <a:off x="609600" y="1539240"/>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Rectangle 5"/>
          <p:cNvSpPr/>
          <p:nvPr/>
        </p:nvSpPr>
        <p:spPr>
          <a:xfrm>
            <a:off x="609600" y="2286000"/>
            <a:ext cx="3543300" cy="36195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TextBox 6"/>
          <p:cNvSpPr txBox="1"/>
          <p:nvPr/>
        </p:nvSpPr>
        <p:spPr>
          <a:xfrm>
            <a:off x="781050" y="2286000"/>
            <a:ext cx="3257550" cy="361950"/>
          </a:xfrm>
          <a:prstGeom prst="rect">
            <a:avLst/>
          </a:prstGeom>
          <a:noFill/>
        </p:spPr>
        <p:txBody>
          <a:bodyPr wrap="square" anchor="ctr" lIns="0" tIns="0" rIns="0" bIns="0">
            <a:noAutofit/>
          </a:bodyPr>
          <a:lstStyle/>
          <a:p>
            <a:pPr algn="l">
              <a:lnSpc>
                <a:spcPct val="115000"/>
              </a:lnSpc>
              <a:spcBef>
                <a:spcPts val="0"/>
              </a:spcBef>
              <a:spcAft>
                <a:spcPts val="0"/>
              </a:spcAft>
            </a:pPr>
            <a:r>
              <a:rPr sz="975" b="1" i="0" spc="80">
                <a:solidFill>
                  <a:srgbClr val="FFFFFF"/>
                </a:solidFill>
                <a:latin typeface="Open Sans"/>
              </a:rPr>
              <a:t>CLIENTS</a:t>
            </a:r>
          </a:p>
        </p:txBody>
      </p:sp>
      <p:sp>
        <p:nvSpPr>
          <p:cNvPr id="8" name="Rectangle 7"/>
          <p:cNvSpPr/>
          <p:nvPr/>
        </p:nvSpPr>
        <p:spPr>
          <a:xfrm>
            <a:off x="609600" y="2647950"/>
            <a:ext cx="3543300" cy="30099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81050" y="2819400"/>
            <a:ext cx="3200400" cy="20955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00000"/>
                </a:solidFill>
                <a:latin typeface="Open Sans"/>
              </a:rPr>
              <a:t>Web</a:t>
            </a:r>
          </a:p>
        </p:txBody>
      </p:sp>
      <p:sp>
        <p:nvSpPr>
          <p:cNvPr id="10" name="TextBox 9"/>
          <p:cNvSpPr txBox="1"/>
          <p:nvPr/>
        </p:nvSpPr>
        <p:spPr>
          <a:xfrm>
            <a:off x="781050" y="3009900"/>
            <a:ext cx="3200400" cy="514350"/>
          </a:xfrm>
          <a:prstGeom prst="rect">
            <a:avLst/>
          </a:prstGeom>
          <a:noFill/>
        </p:spPr>
        <p:txBody>
          <a:bodyPr wrap="square" anchor="t" lIns="0" tIns="0" rIns="0" bIns="0">
            <a:noAutofit/>
          </a:bodyPr>
          <a:lstStyle/>
          <a:p>
            <a:pPr algn="l">
              <a:lnSpc>
                <a:spcPct val="135000"/>
              </a:lnSpc>
              <a:spcBef>
                <a:spcPts val="0"/>
              </a:spcBef>
              <a:spcAft>
                <a:spcPts val="0"/>
              </a:spcAft>
            </a:pPr>
            <a:r>
              <a:rPr sz="900" b="0" i="0">
                <a:solidFill>
                  <a:srgbClr val="53565A"/>
                </a:solidFill>
                <a:latin typeface="Open Sans"/>
              </a:rPr>
              <a:t>Full browser workspace; hosts marketing and docs entry</a:t>
            </a:r>
          </a:p>
        </p:txBody>
      </p:sp>
      <p:sp>
        <p:nvSpPr>
          <p:cNvPr id="11" name="Rectangle 10"/>
          <p:cNvSpPr/>
          <p:nvPr/>
        </p:nvSpPr>
        <p:spPr>
          <a:xfrm>
            <a:off x="781050" y="3448050"/>
            <a:ext cx="32004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1050" y="3562350"/>
            <a:ext cx="3200400" cy="20955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00000"/>
                </a:solidFill>
                <a:latin typeface="Open Sans"/>
              </a:rPr>
              <a:t>Desktop</a:t>
            </a:r>
          </a:p>
        </p:txBody>
      </p:sp>
      <p:sp>
        <p:nvSpPr>
          <p:cNvPr id="13" name="TextBox 12"/>
          <p:cNvSpPr txBox="1"/>
          <p:nvPr/>
        </p:nvSpPr>
        <p:spPr>
          <a:xfrm>
            <a:off x="781050" y="3752850"/>
            <a:ext cx="3200400" cy="514350"/>
          </a:xfrm>
          <a:prstGeom prst="rect">
            <a:avLst/>
          </a:prstGeom>
          <a:noFill/>
        </p:spPr>
        <p:txBody>
          <a:bodyPr wrap="square" anchor="t" lIns="0" tIns="0" rIns="0" bIns="0">
            <a:noAutofit/>
          </a:bodyPr>
          <a:lstStyle/>
          <a:p>
            <a:pPr algn="l">
              <a:lnSpc>
                <a:spcPct val="135000"/>
              </a:lnSpc>
              <a:spcBef>
                <a:spcPts val="0"/>
              </a:spcBef>
              <a:spcAft>
                <a:spcPts val="0"/>
              </a:spcAft>
            </a:pPr>
            <a:r>
              <a:rPr sz="900" b="0" i="0">
                <a:solidFill>
                  <a:srgbClr val="53565A"/>
                </a:solidFill>
                <a:latin typeface="Open Sans"/>
              </a:rPr>
              <a:t>Tabs, detached windows, native notifications, auto-update, bundled CLI and daemon panel</a:t>
            </a:r>
          </a:p>
        </p:txBody>
      </p:sp>
      <p:sp>
        <p:nvSpPr>
          <p:cNvPr id="14" name="Rectangle 13"/>
          <p:cNvSpPr/>
          <p:nvPr/>
        </p:nvSpPr>
        <p:spPr>
          <a:xfrm>
            <a:off x="781050" y="4191000"/>
            <a:ext cx="32004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1050" y="4305300"/>
            <a:ext cx="3200400" cy="20955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00000"/>
                </a:solidFill>
                <a:latin typeface="Open Sans"/>
              </a:rPr>
              <a:t>Mobile</a:t>
            </a:r>
          </a:p>
        </p:txBody>
      </p:sp>
      <p:sp>
        <p:nvSpPr>
          <p:cNvPr id="16" name="TextBox 15"/>
          <p:cNvSpPr txBox="1"/>
          <p:nvPr/>
        </p:nvSpPr>
        <p:spPr>
          <a:xfrm>
            <a:off x="781050" y="4495800"/>
            <a:ext cx="3200400" cy="514350"/>
          </a:xfrm>
          <a:prstGeom prst="rect">
            <a:avLst/>
          </a:prstGeom>
          <a:noFill/>
        </p:spPr>
        <p:txBody>
          <a:bodyPr wrap="square" anchor="t" lIns="0" tIns="0" rIns="0" bIns="0">
            <a:noAutofit/>
          </a:bodyPr>
          <a:lstStyle/>
          <a:p>
            <a:pPr algn="l">
              <a:lnSpc>
                <a:spcPct val="135000"/>
              </a:lnSpc>
              <a:spcBef>
                <a:spcPts val="0"/>
              </a:spcBef>
              <a:spcAft>
                <a:spcPts val="0"/>
              </a:spcAft>
            </a:pPr>
            <a:r>
              <a:rPr sz="900" b="0" i="0">
                <a:solidFill>
                  <a:srgbClr val="53565A"/>
                </a:solidFill>
                <a:latin typeface="Open Sans"/>
              </a:rPr>
              <a:t>Independently implemented; shares only types and pure functions</a:t>
            </a:r>
          </a:p>
        </p:txBody>
      </p:sp>
      <p:sp>
        <p:nvSpPr>
          <p:cNvPr id="17" name="Rectangle 16"/>
          <p:cNvSpPr/>
          <p:nvPr/>
        </p:nvSpPr>
        <p:spPr>
          <a:xfrm>
            <a:off x="781050" y="4933950"/>
            <a:ext cx="32004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1050" y="5048250"/>
            <a:ext cx="3200400" cy="20955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00000"/>
                </a:solidFill>
                <a:latin typeface="Open Sans"/>
              </a:rPr>
              <a:t>CLI</a:t>
            </a:r>
          </a:p>
        </p:txBody>
      </p:sp>
      <p:sp>
        <p:nvSpPr>
          <p:cNvPr id="19" name="TextBox 18"/>
          <p:cNvSpPr txBox="1"/>
          <p:nvPr/>
        </p:nvSpPr>
        <p:spPr>
          <a:xfrm>
            <a:off x="781050" y="5238750"/>
            <a:ext cx="3200400" cy="514350"/>
          </a:xfrm>
          <a:prstGeom prst="rect">
            <a:avLst/>
          </a:prstGeom>
          <a:noFill/>
        </p:spPr>
        <p:txBody>
          <a:bodyPr wrap="square" anchor="t" lIns="0" tIns="0" rIns="0" bIns="0">
            <a:noAutofit/>
          </a:bodyPr>
          <a:lstStyle/>
          <a:p>
            <a:pPr algn="l">
              <a:lnSpc>
                <a:spcPct val="135000"/>
              </a:lnSpc>
              <a:spcBef>
                <a:spcPts val="0"/>
              </a:spcBef>
              <a:spcAft>
                <a:spcPts val="0"/>
              </a:spcAft>
            </a:pPr>
            <a:r>
              <a:rPr sz="900" b="0" i="0">
                <a:solidFill>
                  <a:srgbClr val="53565A"/>
                </a:solidFill>
                <a:latin typeface="Open Sans"/>
              </a:rPr>
              <a:t>Full command surface — and the daemon binary itself</a:t>
            </a:r>
          </a:p>
        </p:txBody>
      </p:sp>
      <p:sp>
        <p:nvSpPr>
          <p:cNvPr id="20" name="Rectangle 19"/>
          <p:cNvSpPr/>
          <p:nvPr/>
        </p:nvSpPr>
        <p:spPr>
          <a:xfrm>
            <a:off x="4324350" y="2286000"/>
            <a:ext cx="3543300" cy="361950"/>
          </a:xfrm>
          <a:prstGeom prst="rect">
            <a:avLst/>
          </a:prstGeom>
          <a:solidFill>
            <a:srgbClr val="2689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4495800" y="2286000"/>
            <a:ext cx="3257550" cy="361950"/>
          </a:xfrm>
          <a:prstGeom prst="rect">
            <a:avLst/>
          </a:prstGeom>
          <a:noFill/>
        </p:spPr>
        <p:txBody>
          <a:bodyPr wrap="square" anchor="ctr" lIns="0" tIns="0" rIns="0" bIns="0">
            <a:noAutofit/>
          </a:bodyPr>
          <a:lstStyle/>
          <a:p>
            <a:pPr algn="l">
              <a:lnSpc>
                <a:spcPct val="115000"/>
              </a:lnSpc>
              <a:spcBef>
                <a:spcPts val="0"/>
              </a:spcBef>
              <a:spcAft>
                <a:spcPts val="0"/>
              </a:spcAft>
            </a:pPr>
            <a:r>
              <a:rPr sz="975" b="1" i="0" spc="80">
                <a:solidFill>
                  <a:srgbClr val="FFFFFF"/>
                </a:solidFill>
                <a:latin typeface="Open Sans"/>
              </a:rPr>
              <a:t>SHARED LAYER</a:t>
            </a:r>
          </a:p>
        </p:txBody>
      </p:sp>
      <p:sp>
        <p:nvSpPr>
          <p:cNvPr id="22" name="Rectangle 21"/>
          <p:cNvSpPr/>
          <p:nvPr/>
        </p:nvSpPr>
        <p:spPr>
          <a:xfrm>
            <a:off x="4324350" y="2647950"/>
            <a:ext cx="3543300" cy="30099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4495800" y="2819400"/>
            <a:ext cx="3200400" cy="20955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00000"/>
                </a:solidFill>
                <a:latin typeface="Open Sans"/>
              </a:rPr>
              <a:t>core</a:t>
            </a:r>
          </a:p>
        </p:txBody>
      </p:sp>
      <p:sp>
        <p:nvSpPr>
          <p:cNvPr id="24" name="TextBox 23"/>
          <p:cNvSpPr txBox="1"/>
          <p:nvPr/>
        </p:nvSpPr>
        <p:spPr>
          <a:xfrm>
            <a:off x="4495800" y="3009900"/>
            <a:ext cx="3200400" cy="514350"/>
          </a:xfrm>
          <a:prstGeom prst="rect">
            <a:avLst/>
          </a:prstGeom>
          <a:noFill/>
        </p:spPr>
        <p:txBody>
          <a:bodyPr wrap="square" anchor="t" lIns="0" tIns="0" rIns="0" bIns="0">
            <a:noAutofit/>
          </a:bodyPr>
          <a:lstStyle/>
          <a:p>
            <a:pPr algn="l">
              <a:lnSpc>
                <a:spcPct val="135000"/>
              </a:lnSpc>
              <a:spcBef>
                <a:spcPts val="0"/>
              </a:spcBef>
              <a:spcAft>
                <a:spcPts val="0"/>
              </a:spcAft>
            </a:pPr>
            <a:r>
              <a:rPr sz="900" b="0" i="0">
                <a:solidFill>
                  <a:srgbClr val="53565A"/>
                </a:solidFill>
                <a:latin typeface="Open Sans"/>
              </a:rPr>
              <a:t>API client, server state, client state, route contract, permissions, i18n</a:t>
            </a:r>
          </a:p>
        </p:txBody>
      </p:sp>
      <p:sp>
        <p:nvSpPr>
          <p:cNvPr id="25" name="Rectangle 24"/>
          <p:cNvSpPr/>
          <p:nvPr/>
        </p:nvSpPr>
        <p:spPr>
          <a:xfrm>
            <a:off x="4495800" y="3448050"/>
            <a:ext cx="32004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4495800" y="3562350"/>
            <a:ext cx="3200400" cy="20955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00000"/>
                </a:solidFill>
                <a:latin typeface="Open Sans"/>
              </a:rPr>
              <a:t>views</a:t>
            </a:r>
          </a:p>
        </p:txBody>
      </p:sp>
      <p:sp>
        <p:nvSpPr>
          <p:cNvPr id="27" name="TextBox 26"/>
          <p:cNvSpPr txBox="1"/>
          <p:nvPr/>
        </p:nvSpPr>
        <p:spPr>
          <a:xfrm>
            <a:off x="4495800" y="3752850"/>
            <a:ext cx="3200400" cy="514350"/>
          </a:xfrm>
          <a:prstGeom prst="rect">
            <a:avLst/>
          </a:prstGeom>
          <a:noFill/>
        </p:spPr>
        <p:txBody>
          <a:bodyPr wrap="square" anchor="t" lIns="0" tIns="0" rIns="0" bIns="0">
            <a:noAutofit/>
          </a:bodyPr>
          <a:lstStyle/>
          <a:p>
            <a:pPr algn="l">
              <a:lnSpc>
                <a:spcPct val="135000"/>
              </a:lnSpc>
              <a:spcBef>
                <a:spcPts val="0"/>
              </a:spcBef>
              <a:spcAft>
                <a:spcPts val="0"/>
              </a:spcAft>
            </a:pPr>
            <a:r>
              <a:rPr sz="900" b="0" i="0">
                <a:solidFill>
                  <a:srgbClr val="53565A"/>
                </a:solidFill>
                <a:latin typeface="Open Sans"/>
              </a:rPr>
              <a:t>All product pages and components</a:t>
            </a:r>
          </a:p>
        </p:txBody>
      </p:sp>
      <p:sp>
        <p:nvSpPr>
          <p:cNvPr id="28" name="Rectangle 27"/>
          <p:cNvSpPr/>
          <p:nvPr/>
        </p:nvSpPr>
        <p:spPr>
          <a:xfrm>
            <a:off x="4495800" y="4191000"/>
            <a:ext cx="32004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4495800" y="4305300"/>
            <a:ext cx="3200400" cy="20955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00000"/>
                </a:solidFill>
                <a:latin typeface="Open Sans"/>
              </a:rPr>
              <a:t>ui</a:t>
            </a:r>
          </a:p>
        </p:txBody>
      </p:sp>
      <p:sp>
        <p:nvSpPr>
          <p:cNvPr id="30" name="TextBox 29"/>
          <p:cNvSpPr txBox="1"/>
          <p:nvPr/>
        </p:nvSpPr>
        <p:spPr>
          <a:xfrm>
            <a:off x="4495800" y="4495800"/>
            <a:ext cx="3200400" cy="514350"/>
          </a:xfrm>
          <a:prstGeom prst="rect">
            <a:avLst/>
          </a:prstGeom>
          <a:noFill/>
        </p:spPr>
        <p:txBody>
          <a:bodyPr wrap="square" anchor="t" lIns="0" tIns="0" rIns="0" bIns="0">
            <a:noAutofit/>
          </a:bodyPr>
          <a:lstStyle/>
          <a:p>
            <a:pPr algn="l">
              <a:lnSpc>
                <a:spcPct val="135000"/>
              </a:lnSpc>
              <a:spcBef>
                <a:spcPts val="0"/>
              </a:spcBef>
              <a:spcAft>
                <a:spcPts val="0"/>
              </a:spcAft>
            </a:pPr>
            <a:r>
              <a:rPr sz="900" b="0" i="0">
                <a:solidFill>
                  <a:srgbClr val="53565A"/>
                </a:solidFill>
                <a:latin typeface="Open Sans"/>
              </a:rPr>
              <a:t>Primitives and design tokens</a:t>
            </a:r>
          </a:p>
        </p:txBody>
      </p:sp>
      <p:sp>
        <p:nvSpPr>
          <p:cNvPr id="31" name="Rectangle 30"/>
          <p:cNvSpPr/>
          <p:nvPr/>
        </p:nvSpPr>
        <p:spPr>
          <a:xfrm>
            <a:off x="4495800" y="4933950"/>
            <a:ext cx="32004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TextBox 31"/>
          <p:cNvSpPr txBox="1"/>
          <p:nvPr/>
        </p:nvSpPr>
        <p:spPr>
          <a:xfrm>
            <a:off x="4495800" y="5048250"/>
            <a:ext cx="3200400" cy="20955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00000"/>
                </a:solidFill>
                <a:latin typeface="Open Sans"/>
              </a:rPr>
              <a:t>Three adapters</a:t>
            </a:r>
          </a:p>
        </p:txBody>
      </p:sp>
      <p:sp>
        <p:nvSpPr>
          <p:cNvPr id="33" name="TextBox 32"/>
          <p:cNvSpPr txBox="1"/>
          <p:nvPr/>
        </p:nvSpPr>
        <p:spPr>
          <a:xfrm>
            <a:off x="4495800" y="5238750"/>
            <a:ext cx="3200400" cy="514350"/>
          </a:xfrm>
          <a:prstGeom prst="rect">
            <a:avLst/>
          </a:prstGeom>
          <a:noFill/>
        </p:spPr>
        <p:txBody>
          <a:bodyPr wrap="square" anchor="t" lIns="0" tIns="0" rIns="0" bIns="0">
            <a:noAutofit/>
          </a:bodyPr>
          <a:lstStyle/>
          <a:p>
            <a:pPr algn="l">
              <a:lnSpc>
                <a:spcPct val="135000"/>
              </a:lnSpc>
              <a:spcBef>
                <a:spcPts val="0"/>
              </a:spcBef>
              <a:spcAft>
                <a:spcPts val="0"/>
              </a:spcAft>
            </a:pPr>
            <a:r>
              <a:rPr sz="900" b="0" i="0">
                <a:solidFill>
                  <a:srgbClr val="53565A"/>
                </a:solidFill>
                <a:latin typeface="Open Sans"/>
              </a:rPr>
              <a:t>Navigation, storage and runtime configuration — the only platform seam</a:t>
            </a:r>
          </a:p>
        </p:txBody>
      </p:sp>
      <p:sp>
        <p:nvSpPr>
          <p:cNvPr id="34" name="Rectangle 33"/>
          <p:cNvSpPr/>
          <p:nvPr/>
        </p:nvSpPr>
        <p:spPr>
          <a:xfrm>
            <a:off x="8039100" y="2286000"/>
            <a:ext cx="3543300" cy="36195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TextBox 34"/>
          <p:cNvSpPr txBox="1"/>
          <p:nvPr/>
        </p:nvSpPr>
        <p:spPr>
          <a:xfrm>
            <a:off x="8210550" y="2286000"/>
            <a:ext cx="3257550" cy="361950"/>
          </a:xfrm>
          <a:prstGeom prst="rect">
            <a:avLst/>
          </a:prstGeom>
          <a:noFill/>
        </p:spPr>
        <p:txBody>
          <a:bodyPr wrap="square" anchor="ctr" lIns="0" tIns="0" rIns="0" bIns="0">
            <a:noAutofit/>
          </a:bodyPr>
          <a:lstStyle/>
          <a:p>
            <a:pPr algn="l">
              <a:lnSpc>
                <a:spcPct val="115000"/>
              </a:lnSpc>
              <a:spcBef>
                <a:spcPts val="0"/>
              </a:spcBef>
              <a:spcAft>
                <a:spcPts val="0"/>
              </a:spcAft>
            </a:pPr>
            <a:r>
              <a:rPr sz="975" b="1" i="0" spc="80">
                <a:solidFill>
                  <a:srgbClr val="FFFFFF"/>
                </a:solidFill>
                <a:latin typeface="Open Sans"/>
              </a:rPr>
              <a:t>SERVICE DOMAINS</a:t>
            </a:r>
          </a:p>
        </p:txBody>
      </p:sp>
      <p:sp>
        <p:nvSpPr>
          <p:cNvPr id="36" name="Rectangle 35"/>
          <p:cNvSpPr/>
          <p:nvPr/>
        </p:nvSpPr>
        <p:spPr>
          <a:xfrm>
            <a:off x="8039100" y="2647950"/>
            <a:ext cx="3543300" cy="30099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7" name="TextBox 36"/>
          <p:cNvSpPr txBox="1"/>
          <p:nvPr/>
        </p:nvSpPr>
        <p:spPr>
          <a:xfrm>
            <a:off x="8210550" y="2819400"/>
            <a:ext cx="3200400" cy="20955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00000"/>
                </a:solidFill>
                <a:latin typeface="Open Sans"/>
              </a:rPr>
              <a:t>Work · Agent</a:t>
            </a:r>
          </a:p>
        </p:txBody>
      </p:sp>
      <p:sp>
        <p:nvSpPr>
          <p:cNvPr id="38" name="TextBox 37"/>
          <p:cNvSpPr txBox="1"/>
          <p:nvPr/>
        </p:nvSpPr>
        <p:spPr>
          <a:xfrm>
            <a:off x="8210550" y="3009900"/>
            <a:ext cx="3200400" cy="514350"/>
          </a:xfrm>
          <a:prstGeom prst="rect">
            <a:avLst/>
          </a:prstGeom>
          <a:noFill/>
        </p:spPr>
        <p:txBody>
          <a:bodyPr wrap="square" anchor="t" lIns="0" tIns="0" rIns="0" bIns="0">
            <a:noAutofit/>
          </a:bodyPr>
          <a:lstStyle/>
          <a:p>
            <a:pPr algn="l">
              <a:lnSpc>
                <a:spcPct val="135000"/>
              </a:lnSpc>
              <a:spcBef>
                <a:spcPts val="0"/>
              </a:spcBef>
              <a:spcAft>
                <a:spcPts val="0"/>
              </a:spcAft>
            </a:pPr>
            <a:r>
              <a:rPr sz="900" b="0" i="0">
                <a:solidFill>
                  <a:srgbClr val="53565A"/>
                </a:solidFill>
                <a:latin typeface="Open Sans"/>
              </a:rPr>
              <a:t>Work lifecycle, projects, views; agents, skills, squads, ontologies</a:t>
            </a:r>
          </a:p>
        </p:txBody>
      </p:sp>
      <p:sp>
        <p:nvSpPr>
          <p:cNvPr id="39" name="Rectangle 38"/>
          <p:cNvSpPr/>
          <p:nvPr/>
        </p:nvSpPr>
        <p:spPr>
          <a:xfrm>
            <a:off x="8210550" y="3448050"/>
            <a:ext cx="32004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0" name="TextBox 39"/>
          <p:cNvSpPr txBox="1"/>
          <p:nvPr/>
        </p:nvSpPr>
        <p:spPr>
          <a:xfrm>
            <a:off x="8210550" y="3562350"/>
            <a:ext cx="3200400" cy="20955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00000"/>
                </a:solidFill>
                <a:latin typeface="Open Sans"/>
              </a:rPr>
              <a:t>Execution</a:t>
            </a:r>
          </a:p>
        </p:txBody>
      </p:sp>
      <p:sp>
        <p:nvSpPr>
          <p:cNvPr id="41" name="TextBox 40"/>
          <p:cNvSpPr txBox="1"/>
          <p:nvPr/>
        </p:nvSpPr>
        <p:spPr>
          <a:xfrm>
            <a:off x="8210550" y="3752850"/>
            <a:ext cx="3200400" cy="514350"/>
          </a:xfrm>
          <a:prstGeom prst="rect">
            <a:avLst/>
          </a:prstGeom>
          <a:noFill/>
        </p:spPr>
        <p:txBody>
          <a:bodyPr wrap="square" anchor="t" lIns="0" tIns="0" rIns="0" bIns="0">
            <a:noAutofit/>
          </a:bodyPr>
          <a:lstStyle/>
          <a:p>
            <a:pPr algn="l">
              <a:lnSpc>
                <a:spcPct val="135000"/>
              </a:lnSpc>
              <a:spcBef>
                <a:spcPts val="0"/>
              </a:spcBef>
              <a:spcAft>
                <a:spcPts val="0"/>
              </a:spcAft>
            </a:pPr>
            <a:r>
              <a:rPr sz="900" b="0" i="0">
                <a:solidFill>
                  <a:srgbClr val="53565A"/>
                </a:solidFill>
                <a:latin typeface="Open Sans"/>
              </a:rPr>
              <a:t>Queue, claim, lease, streaming progress, retries, usage</a:t>
            </a:r>
          </a:p>
        </p:txBody>
      </p:sp>
      <p:sp>
        <p:nvSpPr>
          <p:cNvPr id="42" name="Rectangle 41"/>
          <p:cNvSpPr/>
          <p:nvPr/>
        </p:nvSpPr>
        <p:spPr>
          <a:xfrm>
            <a:off x="8210550" y="4191000"/>
            <a:ext cx="32004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TextBox 42"/>
          <p:cNvSpPr txBox="1"/>
          <p:nvPr/>
        </p:nvSpPr>
        <p:spPr>
          <a:xfrm>
            <a:off x="8210550" y="4305300"/>
            <a:ext cx="3200400" cy="20955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00000"/>
                </a:solidFill>
                <a:latin typeface="Open Sans"/>
              </a:rPr>
              <a:t>Collaboration</a:t>
            </a:r>
          </a:p>
        </p:txBody>
      </p:sp>
      <p:sp>
        <p:nvSpPr>
          <p:cNvPr id="44" name="TextBox 43"/>
          <p:cNvSpPr txBox="1"/>
          <p:nvPr/>
        </p:nvSpPr>
        <p:spPr>
          <a:xfrm>
            <a:off x="8210550" y="4495800"/>
            <a:ext cx="3200400" cy="514350"/>
          </a:xfrm>
          <a:prstGeom prst="rect">
            <a:avLst/>
          </a:prstGeom>
          <a:noFill/>
        </p:spPr>
        <p:txBody>
          <a:bodyPr wrap="square" anchor="t" lIns="0" tIns="0" rIns="0" bIns="0">
            <a:noAutofit/>
          </a:bodyPr>
          <a:lstStyle/>
          <a:p>
            <a:pPr algn="l">
              <a:lnSpc>
                <a:spcPct val="135000"/>
              </a:lnSpc>
              <a:spcBef>
                <a:spcPts val="0"/>
              </a:spcBef>
              <a:spcAft>
                <a:spcPts val="0"/>
              </a:spcAft>
            </a:pPr>
            <a:r>
              <a:rPr sz="900" b="0" i="0">
                <a:solidFill>
                  <a:srgbClr val="53565A"/>
                </a:solidFill>
                <a:latin typeface="Open Sans"/>
              </a:rPr>
              <a:t>Comments, subscriptions, notifications, inbox, chat</a:t>
            </a:r>
          </a:p>
        </p:txBody>
      </p:sp>
      <p:sp>
        <p:nvSpPr>
          <p:cNvPr id="45" name="Rectangle 44"/>
          <p:cNvSpPr/>
          <p:nvPr/>
        </p:nvSpPr>
        <p:spPr>
          <a:xfrm>
            <a:off x="8210550" y="4933950"/>
            <a:ext cx="32004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6" name="TextBox 45"/>
          <p:cNvSpPr txBox="1"/>
          <p:nvPr/>
        </p:nvSpPr>
        <p:spPr>
          <a:xfrm>
            <a:off x="8210550" y="5048250"/>
            <a:ext cx="3200400" cy="209550"/>
          </a:xfrm>
          <a:prstGeom prst="rect">
            <a:avLst/>
          </a:prstGeom>
          <a:noFill/>
        </p:spPr>
        <p:txBody>
          <a:bodyPr wrap="square" anchor="t" lIns="0" tIns="0" rIns="0" bIns="0">
            <a:noAutofit/>
          </a:bodyPr>
          <a:lstStyle/>
          <a:p>
            <a:pPr algn="l">
              <a:lnSpc>
                <a:spcPct val="120000"/>
              </a:lnSpc>
              <a:spcBef>
                <a:spcPts val="0"/>
              </a:spcBef>
              <a:spcAft>
                <a:spcPts val="0"/>
              </a:spcAft>
            </a:pPr>
            <a:r>
              <a:rPr sz="1050" b="1" i="0">
                <a:solidFill>
                  <a:srgbClr val="000000"/>
                </a:solidFill>
                <a:latin typeface="Open Sans"/>
              </a:rPr>
              <a:t>Integration · Platform</a:t>
            </a:r>
          </a:p>
        </p:txBody>
      </p:sp>
      <p:sp>
        <p:nvSpPr>
          <p:cNvPr id="47" name="TextBox 46"/>
          <p:cNvSpPr txBox="1"/>
          <p:nvPr/>
        </p:nvSpPr>
        <p:spPr>
          <a:xfrm>
            <a:off x="8210550" y="5238750"/>
            <a:ext cx="3200400" cy="514350"/>
          </a:xfrm>
          <a:prstGeom prst="rect">
            <a:avLst/>
          </a:prstGeom>
          <a:noFill/>
        </p:spPr>
        <p:txBody>
          <a:bodyPr wrap="square" anchor="t" lIns="0" tIns="0" rIns="0" bIns="0">
            <a:noAutofit/>
          </a:bodyPr>
          <a:lstStyle/>
          <a:p>
            <a:pPr algn="l">
              <a:lnSpc>
                <a:spcPct val="135000"/>
              </a:lnSpc>
              <a:spcBef>
                <a:spcPts val="0"/>
              </a:spcBef>
              <a:spcAft>
                <a:spcPts val="0"/>
              </a:spcAft>
            </a:pPr>
            <a:r>
              <a:rPr sz="900" b="0" i="0">
                <a:solidFill>
                  <a:srgbClr val="53565A"/>
                </a:solidFill>
                <a:latin typeface="Open Sans"/>
              </a:rPr>
              <a:t>Git, channels, MCP; identity, plugins, entitlements, flags</a:t>
            </a:r>
          </a:p>
        </p:txBody>
      </p:sp>
      <p:sp>
        <p:nvSpPr>
          <p:cNvPr id="48" name="TextBox 47"/>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49" name="TextBox 48"/>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50" name="TextBox 49"/>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END TO END</a:t>
            </a:r>
          </a:p>
        </p:txBody>
      </p:sp>
      <p:sp>
        <p:nvSpPr>
          <p:cNvPr id="4" name="TextBox 3"/>
          <p:cNvSpPr txBox="1"/>
          <p:nvPr/>
        </p:nvSpPr>
        <p:spPr>
          <a:xfrm>
            <a:off x="609600" y="1028700"/>
            <a:ext cx="10972800" cy="434340"/>
          </a:xfrm>
          <a:prstGeom prst="rect">
            <a:avLst/>
          </a:prstGeom>
          <a:noFill/>
        </p:spPr>
        <p:txBody>
          <a:bodyPr wrap="square" anchor="t" lIns="0" tIns="0" rIns="0" bIns="0">
            <a:noAutofit/>
          </a:bodyPr>
          <a:lstStyle/>
          <a:p>
            <a:pPr algn="l">
              <a:lnSpc>
                <a:spcPct val="106000"/>
              </a:lnSpc>
              <a:spcBef>
                <a:spcPts val="0"/>
              </a:spcBef>
              <a:spcAft>
                <a:spcPts val="0"/>
              </a:spcAft>
            </a:pPr>
            <a:r>
              <a:rPr sz="2700" b="0" i="0">
                <a:solidFill>
                  <a:srgbClr val="000000"/>
                </a:solidFill>
                <a:latin typeface="Open Sans Light"/>
              </a:rPr>
              <a:t>From assignment to pull request</a:t>
            </a:r>
          </a:p>
        </p:txBody>
      </p:sp>
      <p:sp>
        <p:nvSpPr>
          <p:cNvPr id="5" name="Rectangle 4"/>
          <p:cNvSpPr/>
          <p:nvPr/>
        </p:nvSpPr>
        <p:spPr>
          <a:xfrm>
            <a:off x="609600" y="1539240"/>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09600" y="1905000"/>
            <a:ext cx="9525000" cy="247650"/>
          </a:xfrm>
          <a:prstGeom prst="rect">
            <a:avLst/>
          </a:prstGeom>
          <a:noFill/>
        </p:spPr>
        <p:txBody>
          <a:bodyPr wrap="square" anchor="t" lIns="0" tIns="0" rIns="0" bIns="0">
            <a:noAutofit/>
          </a:bodyPr>
          <a:lstStyle/>
          <a:p>
            <a:pPr algn="l">
              <a:lnSpc>
                <a:spcPct val="140000"/>
              </a:lnSpc>
              <a:spcBef>
                <a:spcPts val="0"/>
              </a:spcBef>
              <a:spcAft>
                <a:spcPts val="0"/>
              </a:spcAft>
            </a:pPr>
            <a:r>
              <a:rPr sz="1125" b="0" i="0">
                <a:solidFill>
                  <a:srgbClr val="53565A"/>
                </a:solidFill>
                <a:latin typeface="Open Sans"/>
              </a:rPr>
              <a:t>Task dispatch is pull-based: the server never dials out to an execution machine, so it can sit inside the corporate network with no inbound ports.</a:t>
            </a:r>
          </a:p>
        </p:txBody>
      </p:sp>
      <p:sp>
        <p:nvSpPr>
          <p:cNvPr id="7" name="TextBox 6"/>
          <p:cNvSpPr txBox="1"/>
          <p:nvPr/>
        </p:nvSpPr>
        <p:spPr>
          <a:xfrm>
            <a:off x="609600" y="2514600"/>
            <a:ext cx="323850" cy="22860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01</a:t>
            </a:r>
          </a:p>
        </p:txBody>
      </p:sp>
      <p:sp>
        <p:nvSpPr>
          <p:cNvPr id="8" name="Rectangle 7"/>
          <p:cNvSpPr/>
          <p:nvPr/>
        </p:nvSpPr>
        <p:spPr>
          <a:xfrm>
            <a:off x="990600" y="2533650"/>
            <a:ext cx="28575" cy="285750"/>
          </a:xfrm>
          <a:prstGeom prst="rect">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23950" y="2495550"/>
            <a:ext cx="1905000" cy="209550"/>
          </a:xfrm>
          <a:prstGeom prst="rect">
            <a:avLst/>
          </a:prstGeom>
          <a:noFill/>
        </p:spPr>
        <p:txBody>
          <a:bodyPr wrap="square" anchor="t" lIns="0" tIns="0" rIns="0" bIns="0">
            <a:noAutofit/>
          </a:bodyPr>
          <a:lstStyle/>
          <a:p>
            <a:pPr algn="l">
              <a:lnSpc>
                <a:spcPct val="110000"/>
              </a:lnSpc>
              <a:spcBef>
                <a:spcPts val="0"/>
              </a:spcBef>
              <a:spcAft>
                <a:spcPts val="0"/>
              </a:spcAft>
            </a:pPr>
            <a:r>
              <a:rPr sz="900" b="1" i="0" spc="60">
                <a:solidFill>
                  <a:srgbClr val="75787B"/>
                </a:solidFill>
                <a:latin typeface="Open Sans"/>
              </a:rPr>
              <a:t>DELIVERY OWNER</a:t>
            </a:r>
          </a:p>
        </p:txBody>
      </p:sp>
      <p:sp>
        <p:nvSpPr>
          <p:cNvPr id="10" name="TextBox 9"/>
          <p:cNvSpPr txBox="1"/>
          <p:nvPr/>
        </p:nvSpPr>
        <p:spPr>
          <a:xfrm>
            <a:off x="1123950" y="2686050"/>
            <a:ext cx="4781550" cy="228600"/>
          </a:xfrm>
          <a:prstGeom prst="rect">
            <a:avLst/>
          </a:prstGeom>
          <a:noFill/>
        </p:spPr>
        <p:txBody>
          <a:bodyPr wrap="square" anchor="t" lIns="0" tIns="0" rIns="0" bIns="0">
            <a:noAutofit/>
          </a:bodyPr>
          <a:lstStyle/>
          <a:p>
            <a:pPr algn="l">
              <a:lnSpc>
                <a:spcPct val="125000"/>
              </a:lnSpc>
              <a:spcBef>
                <a:spcPts val="0"/>
              </a:spcBef>
              <a:spcAft>
                <a:spcPts val="0"/>
              </a:spcAft>
            </a:pPr>
            <a:r>
              <a:rPr sz="1012" b="0" i="0">
                <a:solidFill>
                  <a:srgbClr val="53565A"/>
                </a:solidFill>
                <a:latin typeface="Open Sans"/>
              </a:rPr>
              <a:t>Assigns the work to an agent</a:t>
            </a:r>
          </a:p>
        </p:txBody>
      </p:sp>
      <p:sp>
        <p:nvSpPr>
          <p:cNvPr id="11" name="Rectangle 10"/>
          <p:cNvSpPr/>
          <p:nvPr/>
        </p:nvSpPr>
        <p:spPr>
          <a:xfrm>
            <a:off x="609600" y="2990850"/>
            <a:ext cx="52959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609600" y="3143250"/>
            <a:ext cx="323850" cy="22860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02</a:t>
            </a:r>
          </a:p>
        </p:txBody>
      </p:sp>
      <p:sp>
        <p:nvSpPr>
          <p:cNvPr id="13" name="Rectangle 12"/>
          <p:cNvSpPr/>
          <p:nvPr/>
        </p:nvSpPr>
        <p:spPr>
          <a:xfrm>
            <a:off x="990600" y="3162300"/>
            <a:ext cx="28575" cy="28575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23950" y="3124200"/>
            <a:ext cx="1905000" cy="209550"/>
          </a:xfrm>
          <a:prstGeom prst="rect">
            <a:avLst/>
          </a:prstGeom>
          <a:noFill/>
        </p:spPr>
        <p:txBody>
          <a:bodyPr wrap="square" anchor="t" lIns="0" tIns="0" rIns="0" bIns="0">
            <a:noAutofit/>
          </a:bodyPr>
          <a:lstStyle/>
          <a:p>
            <a:pPr algn="l">
              <a:lnSpc>
                <a:spcPct val="110000"/>
              </a:lnSpc>
              <a:spcBef>
                <a:spcPts val="0"/>
              </a:spcBef>
              <a:spcAft>
                <a:spcPts val="0"/>
              </a:spcAft>
            </a:pPr>
            <a:r>
              <a:rPr sz="900" b="1" i="0" spc="60">
                <a:solidFill>
                  <a:srgbClr val="046A38"/>
                </a:solidFill>
                <a:latin typeface="Open Sans"/>
              </a:rPr>
              <a:t>APPLICATION SERVICES</a:t>
            </a:r>
          </a:p>
        </p:txBody>
      </p:sp>
      <p:sp>
        <p:nvSpPr>
          <p:cNvPr id="15" name="TextBox 14"/>
          <p:cNvSpPr txBox="1"/>
          <p:nvPr/>
        </p:nvSpPr>
        <p:spPr>
          <a:xfrm>
            <a:off x="1123950" y="3314700"/>
            <a:ext cx="4781550" cy="228600"/>
          </a:xfrm>
          <a:prstGeom prst="rect">
            <a:avLst/>
          </a:prstGeom>
          <a:noFill/>
        </p:spPr>
        <p:txBody>
          <a:bodyPr wrap="square" anchor="t" lIns="0" tIns="0" rIns="0" bIns="0">
            <a:noAutofit/>
          </a:bodyPr>
          <a:lstStyle/>
          <a:p>
            <a:pPr algn="l">
              <a:lnSpc>
                <a:spcPct val="125000"/>
              </a:lnSpc>
              <a:spcBef>
                <a:spcPts val="0"/>
              </a:spcBef>
              <a:spcAft>
                <a:spcPts val="0"/>
              </a:spcAft>
            </a:pPr>
            <a:r>
              <a:rPr sz="1012" b="0" i="0">
                <a:solidFill>
                  <a:srgbClr val="53565A"/>
                </a:solidFill>
                <a:latin typeface="Open Sans"/>
              </a:rPr>
              <a:t>Resolves agent config, assembles context and skills</a:t>
            </a:r>
          </a:p>
        </p:txBody>
      </p:sp>
      <p:sp>
        <p:nvSpPr>
          <p:cNvPr id="16" name="Rectangle 15"/>
          <p:cNvSpPr/>
          <p:nvPr/>
        </p:nvSpPr>
        <p:spPr>
          <a:xfrm>
            <a:off x="609600" y="3619500"/>
            <a:ext cx="52959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09600" y="3771900"/>
            <a:ext cx="323850" cy="22860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03</a:t>
            </a:r>
          </a:p>
        </p:txBody>
      </p:sp>
      <p:sp>
        <p:nvSpPr>
          <p:cNvPr id="18" name="Rectangle 17"/>
          <p:cNvSpPr/>
          <p:nvPr/>
        </p:nvSpPr>
        <p:spPr>
          <a:xfrm>
            <a:off x="990600" y="3790950"/>
            <a:ext cx="28575" cy="28575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TextBox 18"/>
          <p:cNvSpPr txBox="1"/>
          <p:nvPr/>
        </p:nvSpPr>
        <p:spPr>
          <a:xfrm>
            <a:off x="1123950" y="3752850"/>
            <a:ext cx="1905000" cy="209550"/>
          </a:xfrm>
          <a:prstGeom prst="rect">
            <a:avLst/>
          </a:prstGeom>
          <a:noFill/>
        </p:spPr>
        <p:txBody>
          <a:bodyPr wrap="square" anchor="t" lIns="0" tIns="0" rIns="0" bIns="0">
            <a:noAutofit/>
          </a:bodyPr>
          <a:lstStyle/>
          <a:p>
            <a:pPr algn="l">
              <a:lnSpc>
                <a:spcPct val="110000"/>
              </a:lnSpc>
              <a:spcBef>
                <a:spcPts val="0"/>
              </a:spcBef>
              <a:spcAft>
                <a:spcPts val="0"/>
              </a:spcAft>
            </a:pPr>
            <a:r>
              <a:rPr sz="900" b="1" i="0" spc="60">
                <a:solidFill>
                  <a:srgbClr val="046A38"/>
                </a:solidFill>
                <a:latin typeface="Open Sans"/>
              </a:rPr>
              <a:t>TASK QUEUE</a:t>
            </a:r>
          </a:p>
        </p:txBody>
      </p:sp>
      <p:sp>
        <p:nvSpPr>
          <p:cNvPr id="20" name="TextBox 19"/>
          <p:cNvSpPr txBox="1"/>
          <p:nvPr/>
        </p:nvSpPr>
        <p:spPr>
          <a:xfrm>
            <a:off x="1123950" y="3943350"/>
            <a:ext cx="4781550" cy="228600"/>
          </a:xfrm>
          <a:prstGeom prst="rect">
            <a:avLst/>
          </a:prstGeom>
          <a:noFill/>
        </p:spPr>
        <p:txBody>
          <a:bodyPr wrap="square" anchor="t" lIns="0" tIns="0" rIns="0" bIns="0">
            <a:noAutofit/>
          </a:bodyPr>
          <a:lstStyle/>
          <a:p>
            <a:pPr algn="l">
              <a:lnSpc>
                <a:spcPct val="125000"/>
              </a:lnSpc>
              <a:spcBef>
                <a:spcPts val="0"/>
              </a:spcBef>
              <a:spcAft>
                <a:spcPts val="0"/>
              </a:spcAft>
            </a:pPr>
            <a:r>
              <a:rPr sz="1012" b="0" i="0">
                <a:solidFill>
                  <a:srgbClr val="53565A"/>
                </a:solidFill>
                <a:latin typeface="Open Sans"/>
              </a:rPr>
              <a:t>Task enqueued and attributed to the initiator</a:t>
            </a:r>
          </a:p>
        </p:txBody>
      </p:sp>
      <p:sp>
        <p:nvSpPr>
          <p:cNvPr id="21" name="Rectangle 20"/>
          <p:cNvSpPr/>
          <p:nvPr/>
        </p:nvSpPr>
        <p:spPr>
          <a:xfrm>
            <a:off x="609600" y="4248150"/>
            <a:ext cx="52959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09600" y="4400550"/>
            <a:ext cx="323850" cy="22860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04</a:t>
            </a:r>
          </a:p>
        </p:txBody>
      </p:sp>
      <p:sp>
        <p:nvSpPr>
          <p:cNvPr id="23" name="Rectangle 22"/>
          <p:cNvSpPr/>
          <p:nvPr/>
        </p:nvSpPr>
        <p:spPr>
          <a:xfrm>
            <a:off x="990600" y="4419600"/>
            <a:ext cx="28575" cy="28575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1123950" y="4381500"/>
            <a:ext cx="1905000" cy="209550"/>
          </a:xfrm>
          <a:prstGeom prst="rect">
            <a:avLst/>
          </a:prstGeom>
          <a:noFill/>
        </p:spPr>
        <p:txBody>
          <a:bodyPr wrap="square" anchor="t" lIns="0" tIns="0" rIns="0" bIns="0">
            <a:noAutofit/>
          </a:bodyPr>
          <a:lstStyle/>
          <a:p>
            <a:pPr algn="l">
              <a:lnSpc>
                <a:spcPct val="110000"/>
              </a:lnSpc>
              <a:spcBef>
                <a:spcPts val="0"/>
              </a:spcBef>
              <a:spcAft>
                <a:spcPts val="0"/>
              </a:spcAft>
            </a:pPr>
            <a:r>
              <a:rPr sz="900" b="1" i="0" spc="60">
                <a:solidFill>
                  <a:srgbClr val="86BC25"/>
                </a:solidFill>
                <a:latin typeface="Open Sans"/>
              </a:rPr>
              <a:t>LOCAL DAEMON</a:t>
            </a:r>
          </a:p>
        </p:txBody>
      </p:sp>
      <p:sp>
        <p:nvSpPr>
          <p:cNvPr id="25" name="TextBox 24"/>
          <p:cNvSpPr txBox="1"/>
          <p:nvPr/>
        </p:nvSpPr>
        <p:spPr>
          <a:xfrm>
            <a:off x="1123950" y="4572000"/>
            <a:ext cx="4781550" cy="228600"/>
          </a:xfrm>
          <a:prstGeom prst="rect">
            <a:avLst/>
          </a:prstGeom>
          <a:noFill/>
        </p:spPr>
        <p:txBody>
          <a:bodyPr wrap="square" anchor="t" lIns="0" tIns="0" rIns="0" bIns="0">
            <a:noAutofit/>
          </a:bodyPr>
          <a:lstStyle/>
          <a:p>
            <a:pPr algn="l">
              <a:lnSpc>
                <a:spcPct val="125000"/>
              </a:lnSpc>
              <a:spcBef>
                <a:spcPts val="0"/>
              </a:spcBef>
              <a:spcAft>
                <a:spcPts val="0"/>
              </a:spcAft>
            </a:pPr>
            <a:r>
              <a:rPr sz="1012" b="0" i="0">
                <a:solidFill>
                  <a:srgbClr val="53565A"/>
                </a:solidFill>
                <a:latin typeface="Open Sans"/>
              </a:rPr>
              <a:t>Claims the task and takes a lease</a:t>
            </a:r>
          </a:p>
        </p:txBody>
      </p:sp>
      <p:sp>
        <p:nvSpPr>
          <p:cNvPr id="26" name="Rectangle 25"/>
          <p:cNvSpPr/>
          <p:nvPr/>
        </p:nvSpPr>
        <p:spPr>
          <a:xfrm>
            <a:off x="609600" y="4876800"/>
            <a:ext cx="52959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609600" y="5029200"/>
            <a:ext cx="323850" cy="22860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05</a:t>
            </a:r>
          </a:p>
        </p:txBody>
      </p:sp>
      <p:sp>
        <p:nvSpPr>
          <p:cNvPr id="28" name="Rectangle 27"/>
          <p:cNvSpPr/>
          <p:nvPr/>
        </p:nvSpPr>
        <p:spPr>
          <a:xfrm>
            <a:off x="990600" y="5048250"/>
            <a:ext cx="28575" cy="28575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1123950" y="5010150"/>
            <a:ext cx="1905000" cy="209550"/>
          </a:xfrm>
          <a:prstGeom prst="rect">
            <a:avLst/>
          </a:prstGeom>
          <a:noFill/>
        </p:spPr>
        <p:txBody>
          <a:bodyPr wrap="square" anchor="t" lIns="0" tIns="0" rIns="0" bIns="0">
            <a:noAutofit/>
          </a:bodyPr>
          <a:lstStyle/>
          <a:p>
            <a:pPr algn="l">
              <a:lnSpc>
                <a:spcPct val="110000"/>
              </a:lnSpc>
              <a:spcBef>
                <a:spcPts val="0"/>
              </a:spcBef>
              <a:spcAft>
                <a:spcPts val="0"/>
              </a:spcAft>
            </a:pPr>
            <a:r>
              <a:rPr sz="900" b="1" i="0" spc="60">
                <a:solidFill>
                  <a:srgbClr val="86BC25"/>
                </a:solidFill>
                <a:latin typeface="Open Sans"/>
              </a:rPr>
              <a:t>LOCAL DAEMON</a:t>
            </a:r>
          </a:p>
        </p:txBody>
      </p:sp>
      <p:sp>
        <p:nvSpPr>
          <p:cNvPr id="30" name="TextBox 29"/>
          <p:cNvSpPr txBox="1"/>
          <p:nvPr/>
        </p:nvSpPr>
        <p:spPr>
          <a:xfrm>
            <a:off x="1123950" y="5200650"/>
            <a:ext cx="4781550" cy="228600"/>
          </a:xfrm>
          <a:prstGeom prst="rect">
            <a:avLst/>
          </a:prstGeom>
          <a:noFill/>
        </p:spPr>
        <p:txBody>
          <a:bodyPr wrap="square" anchor="t" lIns="0" tIns="0" rIns="0" bIns="0">
            <a:noAutofit/>
          </a:bodyPr>
          <a:lstStyle/>
          <a:p>
            <a:pPr algn="l">
              <a:lnSpc>
                <a:spcPct val="125000"/>
              </a:lnSpc>
              <a:spcBef>
                <a:spcPts val="0"/>
              </a:spcBef>
              <a:spcAft>
                <a:spcPts val="0"/>
              </a:spcAft>
            </a:pPr>
            <a:r>
              <a:rPr sz="1012" b="0" i="0">
                <a:solidFill>
                  <a:srgbClr val="53565A"/>
                </a:solidFill>
                <a:latin typeface="Open Sans"/>
              </a:rPr>
              <a:t>Prepares an isolated execution environment</a:t>
            </a:r>
          </a:p>
        </p:txBody>
      </p:sp>
      <p:sp>
        <p:nvSpPr>
          <p:cNvPr id="31" name="TextBox 30"/>
          <p:cNvSpPr txBox="1"/>
          <p:nvPr/>
        </p:nvSpPr>
        <p:spPr>
          <a:xfrm>
            <a:off x="6286500" y="2514600"/>
            <a:ext cx="323850" cy="22860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06</a:t>
            </a:r>
          </a:p>
        </p:txBody>
      </p:sp>
      <p:sp>
        <p:nvSpPr>
          <p:cNvPr id="32" name="Rectangle 31"/>
          <p:cNvSpPr/>
          <p:nvPr/>
        </p:nvSpPr>
        <p:spPr>
          <a:xfrm>
            <a:off x="6667500" y="2533650"/>
            <a:ext cx="28575" cy="28575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TextBox 32"/>
          <p:cNvSpPr txBox="1"/>
          <p:nvPr/>
        </p:nvSpPr>
        <p:spPr>
          <a:xfrm>
            <a:off x="6800850" y="2495550"/>
            <a:ext cx="1905000" cy="209550"/>
          </a:xfrm>
          <a:prstGeom prst="rect">
            <a:avLst/>
          </a:prstGeom>
          <a:noFill/>
        </p:spPr>
        <p:txBody>
          <a:bodyPr wrap="square" anchor="t" lIns="0" tIns="0" rIns="0" bIns="0">
            <a:noAutofit/>
          </a:bodyPr>
          <a:lstStyle/>
          <a:p>
            <a:pPr algn="l">
              <a:lnSpc>
                <a:spcPct val="110000"/>
              </a:lnSpc>
              <a:spcBef>
                <a:spcPts val="0"/>
              </a:spcBef>
              <a:spcAft>
                <a:spcPts val="0"/>
              </a:spcAft>
            </a:pPr>
            <a:r>
              <a:rPr sz="900" b="1" i="0" spc="60">
                <a:solidFill>
                  <a:srgbClr val="86BC25"/>
                </a:solidFill>
                <a:latin typeface="Open Sans"/>
              </a:rPr>
              <a:t>AI CODING TOOL</a:t>
            </a:r>
          </a:p>
        </p:txBody>
      </p:sp>
      <p:sp>
        <p:nvSpPr>
          <p:cNvPr id="34" name="TextBox 33"/>
          <p:cNvSpPr txBox="1"/>
          <p:nvPr/>
        </p:nvSpPr>
        <p:spPr>
          <a:xfrm>
            <a:off x="6800850" y="2686050"/>
            <a:ext cx="4781550" cy="228600"/>
          </a:xfrm>
          <a:prstGeom prst="rect">
            <a:avLst/>
          </a:prstGeom>
          <a:noFill/>
        </p:spPr>
        <p:txBody>
          <a:bodyPr wrap="square" anchor="t" lIns="0" tIns="0" rIns="0" bIns="0">
            <a:noAutofit/>
          </a:bodyPr>
          <a:lstStyle/>
          <a:p>
            <a:pPr algn="l">
              <a:lnSpc>
                <a:spcPct val="125000"/>
              </a:lnSpc>
              <a:spcBef>
                <a:spcPts val="0"/>
              </a:spcBef>
              <a:spcAft>
                <a:spcPts val="0"/>
              </a:spcAft>
            </a:pPr>
            <a:r>
              <a:rPr sz="1012" b="0" i="0">
                <a:solidFill>
                  <a:srgbClr val="53565A"/>
                </a:solidFill>
                <a:latin typeface="Open Sans"/>
              </a:rPr>
              <a:t>Runs as a subprocess with a task-scoped credential</a:t>
            </a:r>
          </a:p>
        </p:txBody>
      </p:sp>
      <p:sp>
        <p:nvSpPr>
          <p:cNvPr id="35" name="Rectangle 34"/>
          <p:cNvSpPr/>
          <p:nvPr/>
        </p:nvSpPr>
        <p:spPr>
          <a:xfrm>
            <a:off x="6286500" y="2990850"/>
            <a:ext cx="52959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TextBox 35"/>
          <p:cNvSpPr txBox="1"/>
          <p:nvPr/>
        </p:nvSpPr>
        <p:spPr>
          <a:xfrm>
            <a:off x="6286500" y="3143250"/>
            <a:ext cx="323850" cy="22860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07</a:t>
            </a:r>
          </a:p>
        </p:txBody>
      </p:sp>
      <p:sp>
        <p:nvSpPr>
          <p:cNvPr id="37" name="Rectangle 36"/>
          <p:cNvSpPr/>
          <p:nvPr/>
        </p:nvSpPr>
        <p:spPr>
          <a:xfrm>
            <a:off x="6667500" y="3162300"/>
            <a:ext cx="28575" cy="28575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TextBox 37"/>
          <p:cNvSpPr txBox="1"/>
          <p:nvPr/>
        </p:nvSpPr>
        <p:spPr>
          <a:xfrm>
            <a:off x="6800850" y="3124200"/>
            <a:ext cx="1905000" cy="209550"/>
          </a:xfrm>
          <a:prstGeom prst="rect">
            <a:avLst/>
          </a:prstGeom>
          <a:noFill/>
        </p:spPr>
        <p:txBody>
          <a:bodyPr wrap="square" anchor="t" lIns="0" tIns="0" rIns="0" bIns="0">
            <a:noAutofit/>
          </a:bodyPr>
          <a:lstStyle/>
          <a:p>
            <a:pPr algn="l">
              <a:lnSpc>
                <a:spcPct val="110000"/>
              </a:lnSpc>
              <a:spcBef>
                <a:spcPts val="0"/>
              </a:spcBef>
              <a:spcAft>
                <a:spcPts val="0"/>
              </a:spcAft>
            </a:pPr>
            <a:r>
              <a:rPr sz="900" b="1" i="0" spc="60">
                <a:solidFill>
                  <a:srgbClr val="86BC25"/>
                </a:solidFill>
                <a:latin typeface="Open Sans"/>
              </a:rPr>
              <a:t>AI CODING TOOL</a:t>
            </a:r>
          </a:p>
        </p:txBody>
      </p:sp>
      <p:sp>
        <p:nvSpPr>
          <p:cNvPr id="39" name="TextBox 38"/>
          <p:cNvSpPr txBox="1"/>
          <p:nvPr/>
        </p:nvSpPr>
        <p:spPr>
          <a:xfrm>
            <a:off x="6800850" y="3314700"/>
            <a:ext cx="4781550" cy="228600"/>
          </a:xfrm>
          <a:prstGeom prst="rect">
            <a:avLst/>
          </a:prstGeom>
          <a:noFill/>
        </p:spPr>
        <p:txBody>
          <a:bodyPr wrap="square" anchor="t" lIns="0" tIns="0" rIns="0" bIns="0">
            <a:noAutofit/>
          </a:bodyPr>
          <a:lstStyle/>
          <a:p>
            <a:pPr algn="l">
              <a:lnSpc>
                <a:spcPct val="125000"/>
              </a:lnSpc>
              <a:spcBef>
                <a:spcPts val="0"/>
              </a:spcBef>
              <a:spcAft>
                <a:spcPts val="0"/>
              </a:spcAft>
            </a:pPr>
            <a:r>
              <a:rPr sz="1012" b="0" i="0">
                <a:solidFill>
                  <a:srgbClr val="53565A"/>
                </a:solidFill>
                <a:latin typeface="Open Sans"/>
              </a:rPr>
              <a:t>Streams progress back throughout the run</a:t>
            </a:r>
          </a:p>
        </p:txBody>
      </p:sp>
      <p:sp>
        <p:nvSpPr>
          <p:cNvPr id="40" name="Rectangle 39"/>
          <p:cNvSpPr/>
          <p:nvPr/>
        </p:nvSpPr>
        <p:spPr>
          <a:xfrm>
            <a:off x="6286500" y="3619500"/>
            <a:ext cx="52959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1" name="TextBox 40"/>
          <p:cNvSpPr txBox="1"/>
          <p:nvPr/>
        </p:nvSpPr>
        <p:spPr>
          <a:xfrm>
            <a:off x="6286500" y="3771900"/>
            <a:ext cx="323850" cy="22860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08</a:t>
            </a:r>
          </a:p>
        </p:txBody>
      </p:sp>
      <p:sp>
        <p:nvSpPr>
          <p:cNvPr id="42" name="Rectangle 41"/>
          <p:cNvSpPr/>
          <p:nvPr/>
        </p:nvSpPr>
        <p:spPr>
          <a:xfrm>
            <a:off x="6667500" y="3790950"/>
            <a:ext cx="28575" cy="28575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TextBox 42"/>
          <p:cNvSpPr txBox="1"/>
          <p:nvPr/>
        </p:nvSpPr>
        <p:spPr>
          <a:xfrm>
            <a:off x="6800850" y="3752850"/>
            <a:ext cx="1905000" cy="209550"/>
          </a:xfrm>
          <a:prstGeom prst="rect">
            <a:avLst/>
          </a:prstGeom>
          <a:noFill/>
        </p:spPr>
        <p:txBody>
          <a:bodyPr wrap="square" anchor="t" lIns="0" tIns="0" rIns="0" bIns="0">
            <a:noAutofit/>
          </a:bodyPr>
          <a:lstStyle/>
          <a:p>
            <a:pPr algn="l">
              <a:lnSpc>
                <a:spcPct val="110000"/>
              </a:lnSpc>
              <a:spcBef>
                <a:spcPts val="0"/>
              </a:spcBef>
              <a:spcAft>
                <a:spcPts val="0"/>
              </a:spcAft>
            </a:pPr>
            <a:r>
              <a:rPr sz="900" b="1" i="0" spc="60">
                <a:solidFill>
                  <a:srgbClr val="86BC25"/>
                </a:solidFill>
                <a:latin typeface="Open Sans"/>
              </a:rPr>
              <a:t>GIT HOST</a:t>
            </a:r>
          </a:p>
        </p:txBody>
      </p:sp>
      <p:sp>
        <p:nvSpPr>
          <p:cNvPr id="44" name="TextBox 43"/>
          <p:cNvSpPr txBox="1"/>
          <p:nvPr/>
        </p:nvSpPr>
        <p:spPr>
          <a:xfrm>
            <a:off x="6800850" y="3943350"/>
            <a:ext cx="4781550" cy="228600"/>
          </a:xfrm>
          <a:prstGeom prst="rect">
            <a:avLst/>
          </a:prstGeom>
          <a:noFill/>
        </p:spPr>
        <p:txBody>
          <a:bodyPr wrap="square" anchor="t" lIns="0" tIns="0" rIns="0" bIns="0">
            <a:noAutofit/>
          </a:bodyPr>
          <a:lstStyle/>
          <a:p>
            <a:pPr algn="l">
              <a:lnSpc>
                <a:spcPct val="125000"/>
              </a:lnSpc>
              <a:spcBef>
                <a:spcPts val="0"/>
              </a:spcBef>
              <a:spcAft>
                <a:spcPts val="0"/>
              </a:spcAft>
            </a:pPr>
            <a:r>
              <a:rPr sz="1012" b="0" i="0">
                <a:solidFill>
                  <a:srgbClr val="53565A"/>
                </a:solidFill>
                <a:latin typeface="Open Sans"/>
              </a:rPr>
              <a:t>Pushes a branch and opens a pull request</a:t>
            </a:r>
          </a:p>
        </p:txBody>
      </p:sp>
      <p:sp>
        <p:nvSpPr>
          <p:cNvPr id="45" name="Rectangle 44"/>
          <p:cNvSpPr/>
          <p:nvPr/>
        </p:nvSpPr>
        <p:spPr>
          <a:xfrm>
            <a:off x="6286500" y="4248150"/>
            <a:ext cx="52959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6" name="TextBox 45"/>
          <p:cNvSpPr txBox="1"/>
          <p:nvPr/>
        </p:nvSpPr>
        <p:spPr>
          <a:xfrm>
            <a:off x="6286500" y="4400550"/>
            <a:ext cx="323850" cy="22860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09</a:t>
            </a:r>
          </a:p>
        </p:txBody>
      </p:sp>
      <p:sp>
        <p:nvSpPr>
          <p:cNvPr id="47" name="Rectangle 46"/>
          <p:cNvSpPr/>
          <p:nvPr/>
        </p:nvSpPr>
        <p:spPr>
          <a:xfrm>
            <a:off x="6667500" y="4419600"/>
            <a:ext cx="28575" cy="28575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8" name="TextBox 47"/>
          <p:cNvSpPr txBox="1"/>
          <p:nvPr/>
        </p:nvSpPr>
        <p:spPr>
          <a:xfrm>
            <a:off x="6800850" y="4381500"/>
            <a:ext cx="1905000" cy="209550"/>
          </a:xfrm>
          <a:prstGeom prst="rect">
            <a:avLst/>
          </a:prstGeom>
          <a:noFill/>
        </p:spPr>
        <p:txBody>
          <a:bodyPr wrap="square" anchor="t" lIns="0" tIns="0" rIns="0" bIns="0">
            <a:noAutofit/>
          </a:bodyPr>
          <a:lstStyle/>
          <a:p>
            <a:pPr algn="l">
              <a:lnSpc>
                <a:spcPct val="110000"/>
              </a:lnSpc>
              <a:spcBef>
                <a:spcPts val="0"/>
              </a:spcBef>
              <a:spcAft>
                <a:spcPts val="0"/>
              </a:spcAft>
            </a:pPr>
            <a:r>
              <a:rPr sz="900" b="1" i="0" spc="60">
                <a:solidFill>
                  <a:srgbClr val="046A38"/>
                </a:solidFill>
                <a:latin typeface="Open Sans"/>
              </a:rPr>
              <a:t>APPLICATION SERVICES</a:t>
            </a:r>
          </a:p>
        </p:txBody>
      </p:sp>
      <p:sp>
        <p:nvSpPr>
          <p:cNvPr id="49" name="TextBox 48"/>
          <p:cNvSpPr txBox="1"/>
          <p:nvPr/>
        </p:nvSpPr>
        <p:spPr>
          <a:xfrm>
            <a:off x="6800850" y="4572000"/>
            <a:ext cx="4781550" cy="228600"/>
          </a:xfrm>
          <a:prstGeom prst="rect">
            <a:avLst/>
          </a:prstGeom>
          <a:noFill/>
        </p:spPr>
        <p:txBody>
          <a:bodyPr wrap="square" anchor="t" lIns="0" tIns="0" rIns="0" bIns="0">
            <a:noAutofit/>
          </a:bodyPr>
          <a:lstStyle/>
          <a:p>
            <a:pPr algn="l">
              <a:lnSpc>
                <a:spcPct val="125000"/>
              </a:lnSpc>
              <a:spcBef>
                <a:spcPts val="0"/>
              </a:spcBef>
              <a:spcAft>
                <a:spcPts val="0"/>
              </a:spcAft>
            </a:pPr>
            <a:r>
              <a:rPr sz="1012" b="0" i="0">
                <a:solidFill>
                  <a:srgbClr val="53565A"/>
                </a:solidFill>
                <a:latin typeface="Open Sans"/>
              </a:rPr>
              <a:t>Writes back to the timeline, aggregates cost, notifies</a:t>
            </a:r>
          </a:p>
        </p:txBody>
      </p:sp>
      <p:sp>
        <p:nvSpPr>
          <p:cNvPr id="50" name="Rectangle 49"/>
          <p:cNvSpPr/>
          <p:nvPr/>
        </p:nvSpPr>
        <p:spPr>
          <a:xfrm>
            <a:off x="6286500" y="4876800"/>
            <a:ext cx="529590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1" name="TextBox 50"/>
          <p:cNvSpPr txBox="1"/>
          <p:nvPr/>
        </p:nvSpPr>
        <p:spPr>
          <a:xfrm>
            <a:off x="6286500" y="5029200"/>
            <a:ext cx="323850" cy="228600"/>
          </a:xfrm>
          <a:prstGeom prst="rect">
            <a:avLst/>
          </a:prstGeom>
          <a:noFill/>
        </p:spPr>
        <p:txBody>
          <a:bodyPr wrap="square" anchor="t" lIns="0" tIns="0" rIns="0" bIns="0">
            <a:noAutofit/>
          </a:bodyPr>
          <a:lstStyle/>
          <a:p>
            <a:pPr algn="l">
              <a:lnSpc>
                <a:spcPct val="100000"/>
              </a:lnSpc>
              <a:spcBef>
                <a:spcPts val="0"/>
              </a:spcBef>
              <a:spcAft>
                <a:spcPts val="0"/>
              </a:spcAft>
            </a:pPr>
            <a:r>
              <a:rPr sz="1125" b="1" i="0">
                <a:solidFill>
                  <a:srgbClr val="86BC25"/>
                </a:solidFill>
                <a:latin typeface="Consolas"/>
              </a:rPr>
              <a:t>10</a:t>
            </a:r>
          </a:p>
        </p:txBody>
      </p:sp>
      <p:sp>
        <p:nvSpPr>
          <p:cNvPr id="52" name="Rectangle 51"/>
          <p:cNvSpPr/>
          <p:nvPr/>
        </p:nvSpPr>
        <p:spPr>
          <a:xfrm>
            <a:off x="6667500" y="5048250"/>
            <a:ext cx="28575" cy="285750"/>
          </a:xfrm>
          <a:prstGeom prst="rect">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3" name="TextBox 52"/>
          <p:cNvSpPr txBox="1"/>
          <p:nvPr/>
        </p:nvSpPr>
        <p:spPr>
          <a:xfrm>
            <a:off x="6800850" y="5010150"/>
            <a:ext cx="1905000" cy="209550"/>
          </a:xfrm>
          <a:prstGeom prst="rect">
            <a:avLst/>
          </a:prstGeom>
          <a:noFill/>
        </p:spPr>
        <p:txBody>
          <a:bodyPr wrap="square" anchor="t" lIns="0" tIns="0" rIns="0" bIns="0">
            <a:noAutofit/>
          </a:bodyPr>
          <a:lstStyle/>
          <a:p>
            <a:pPr algn="l">
              <a:lnSpc>
                <a:spcPct val="110000"/>
              </a:lnSpc>
              <a:spcBef>
                <a:spcPts val="0"/>
              </a:spcBef>
              <a:spcAft>
                <a:spcPts val="0"/>
              </a:spcAft>
            </a:pPr>
            <a:r>
              <a:rPr sz="900" b="1" i="0" spc="60">
                <a:solidFill>
                  <a:srgbClr val="75787B"/>
                </a:solidFill>
                <a:latin typeface="Open Sans"/>
              </a:rPr>
              <a:t>DELIVERY OWNER</a:t>
            </a:r>
          </a:p>
        </p:txBody>
      </p:sp>
      <p:sp>
        <p:nvSpPr>
          <p:cNvPr id="54" name="TextBox 53"/>
          <p:cNvSpPr txBox="1"/>
          <p:nvPr/>
        </p:nvSpPr>
        <p:spPr>
          <a:xfrm>
            <a:off x="6800850" y="5200650"/>
            <a:ext cx="4781550" cy="228600"/>
          </a:xfrm>
          <a:prstGeom prst="rect">
            <a:avLst/>
          </a:prstGeom>
          <a:noFill/>
        </p:spPr>
        <p:txBody>
          <a:bodyPr wrap="square" anchor="t" lIns="0" tIns="0" rIns="0" bIns="0">
            <a:noAutofit/>
          </a:bodyPr>
          <a:lstStyle/>
          <a:p>
            <a:pPr algn="l">
              <a:lnSpc>
                <a:spcPct val="125000"/>
              </a:lnSpc>
              <a:spcBef>
                <a:spcPts val="0"/>
              </a:spcBef>
              <a:spcAft>
                <a:spcPts val="0"/>
              </a:spcAft>
            </a:pPr>
            <a:r>
              <a:rPr sz="1012" b="0" i="0">
                <a:solidFill>
                  <a:srgbClr val="53565A"/>
                </a:solidFill>
                <a:latin typeface="Open Sans"/>
              </a:rPr>
              <a:t>Reviews the evidence and decides</a:t>
            </a:r>
          </a:p>
        </p:txBody>
      </p:sp>
      <p:sp>
        <p:nvSpPr>
          <p:cNvPr id="55" name="Rectangle 54"/>
          <p:cNvSpPr/>
          <p:nvPr/>
        </p:nvSpPr>
        <p:spPr>
          <a:xfrm>
            <a:off x="609600" y="5753100"/>
            <a:ext cx="95250" cy="95250"/>
          </a:xfrm>
          <a:prstGeom prst="rect">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6" name="TextBox 55"/>
          <p:cNvSpPr txBox="1"/>
          <p:nvPr/>
        </p:nvSpPr>
        <p:spPr>
          <a:xfrm>
            <a:off x="781050" y="5715000"/>
            <a:ext cx="1905000" cy="190500"/>
          </a:xfrm>
          <a:prstGeom prst="rect">
            <a:avLst/>
          </a:prstGeom>
          <a:noFill/>
        </p:spPr>
        <p:txBody>
          <a:bodyPr wrap="square" anchor="t" lIns="0" tIns="0" rIns="0" bIns="0">
            <a:noAutofit/>
          </a:bodyPr>
          <a:lstStyle/>
          <a:p>
            <a:pPr algn="l">
              <a:lnSpc>
                <a:spcPct val="120000"/>
              </a:lnSpc>
              <a:spcBef>
                <a:spcPts val="0"/>
              </a:spcBef>
              <a:spcAft>
                <a:spcPts val="0"/>
              </a:spcAft>
            </a:pPr>
            <a:r>
              <a:rPr sz="900" b="0" i="0">
                <a:solidFill>
                  <a:srgbClr val="53565A"/>
                </a:solidFill>
                <a:latin typeface="Open Sans"/>
              </a:rPr>
              <a:t>Human</a:t>
            </a:r>
          </a:p>
        </p:txBody>
      </p:sp>
      <p:sp>
        <p:nvSpPr>
          <p:cNvPr id="57" name="Rectangle 56"/>
          <p:cNvSpPr/>
          <p:nvPr/>
        </p:nvSpPr>
        <p:spPr>
          <a:xfrm>
            <a:off x="1152525" y="5753100"/>
            <a:ext cx="95250" cy="9525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8" name="TextBox 57"/>
          <p:cNvSpPr txBox="1"/>
          <p:nvPr/>
        </p:nvSpPr>
        <p:spPr>
          <a:xfrm>
            <a:off x="1323975" y="5715000"/>
            <a:ext cx="1905000" cy="190500"/>
          </a:xfrm>
          <a:prstGeom prst="rect">
            <a:avLst/>
          </a:prstGeom>
          <a:noFill/>
        </p:spPr>
        <p:txBody>
          <a:bodyPr wrap="square" anchor="t" lIns="0" tIns="0" rIns="0" bIns="0">
            <a:noAutofit/>
          </a:bodyPr>
          <a:lstStyle/>
          <a:p>
            <a:pPr algn="l">
              <a:lnSpc>
                <a:spcPct val="120000"/>
              </a:lnSpc>
              <a:spcBef>
                <a:spcPts val="0"/>
              </a:spcBef>
              <a:spcAft>
                <a:spcPts val="0"/>
              </a:spcAft>
            </a:pPr>
            <a:r>
              <a:rPr sz="900" b="0" i="0">
                <a:solidFill>
                  <a:srgbClr val="53565A"/>
                </a:solidFill>
                <a:latin typeface="Open Sans"/>
              </a:rPr>
              <a:t>Enact control plane</a:t>
            </a:r>
          </a:p>
        </p:txBody>
      </p:sp>
      <p:sp>
        <p:nvSpPr>
          <p:cNvPr id="59" name="Rectangle 58"/>
          <p:cNvSpPr/>
          <p:nvPr/>
        </p:nvSpPr>
        <p:spPr>
          <a:xfrm>
            <a:off x="2575560" y="5753100"/>
            <a:ext cx="95250" cy="9525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0" name="TextBox 59"/>
          <p:cNvSpPr txBox="1"/>
          <p:nvPr/>
        </p:nvSpPr>
        <p:spPr>
          <a:xfrm>
            <a:off x="2747010" y="5715000"/>
            <a:ext cx="1905000" cy="190500"/>
          </a:xfrm>
          <a:prstGeom prst="rect">
            <a:avLst/>
          </a:prstGeom>
          <a:noFill/>
        </p:spPr>
        <p:txBody>
          <a:bodyPr wrap="square" anchor="t" lIns="0" tIns="0" rIns="0" bIns="0">
            <a:noAutofit/>
          </a:bodyPr>
          <a:lstStyle/>
          <a:p>
            <a:pPr algn="l">
              <a:lnSpc>
                <a:spcPct val="120000"/>
              </a:lnSpc>
              <a:spcBef>
                <a:spcPts val="0"/>
              </a:spcBef>
              <a:spcAft>
                <a:spcPts val="0"/>
              </a:spcAft>
            </a:pPr>
            <a:r>
              <a:rPr sz="900" b="0" i="0">
                <a:solidFill>
                  <a:srgbClr val="53565A"/>
                </a:solidFill>
                <a:latin typeface="Open Sans"/>
              </a:rPr>
              <a:t>Your machines</a:t>
            </a:r>
          </a:p>
        </p:txBody>
      </p:sp>
      <p:sp>
        <p:nvSpPr>
          <p:cNvPr id="61" name="Rectangle 60"/>
          <p:cNvSpPr/>
          <p:nvPr/>
        </p:nvSpPr>
        <p:spPr>
          <a:xfrm>
            <a:off x="609600" y="6019800"/>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2" name="TextBox 61"/>
          <p:cNvSpPr txBox="1"/>
          <p:nvPr/>
        </p:nvSpPr>
        <p:spPr>
          <a:xfrm>
            <a:off x="609600" y="6134100"/>
            <a:ext cx="10972800" cy="247650"/>
          </a:xfrm>
          <a:prstGeom prst="rect">
            <a:avLst/>
          </a:prstGeom>
          <a:noFill/>
        </p:spPr>
        <p:txBody>
          <a:bodyPr wrap="square" anchor="t" lIns="0" tIns="0" rIns="0" bIns="0">
            <a:noAutofit/>
          </a:bodyPr>
          <a:lstStyle/>
          <a:p>
            <a:pPr algn="l">
              <a:lnSpc>
                <a:spcPct val="130000"/>
              </a:lnSpc>
              <a:spcBef>
                <a:spcPts val="0"/>
              </a:spcBef>
              <a:spcAft>
                <a:spcPts val="0"/>
              </a:spcAft>
            </a:pPr>
            <a:r>
              <a:rPr sz="1050" b="1">
                <a:solidFill>
                  <a:srgbClr val="000000"/>
                </a:solidFill>
                <a:latin typeface="Open Sans"/>
              </a:rPr>
              <a:t>A completed run is not completed work. </a:t>
            </a:r>
            <a:r>
              <a:rPr sz="1050" b="0">
                <a:solidFill>
                  <a:srgbClr val="53565A"/>
                </a:solidFill>
                <a:latin typeface="Open Sans"/>
              </a:rPr>
              <a:t>One issue can carry many runs; a human decides to merge, reject or continue.</a:t>
            </a:r>
          </a:p>
        </p:txBody>
      </p:sp>
      <p:sp>
        <p:nvSpPr>
          <p:cNvPr id="63" name="TextBox 62"/>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64" name="TextBox 63"/>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65" name="TextBox 64"/>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INTEGRATION</a:t>
            </a:r>
          </a:p>
        </p:txBody>
      </p:sp>
      <p:sp>
        <p:nvSpPr>
          <p:cNvPr id="4" name="TextBox 3"/>
          <p:cNvSpPr txBox="1"/>
          <p:nvPr/>
        </p:nvSpPr>
        <p:spPr>
          <a:xfrm>
            <a:off x="609600" y="1028700"/>
            <a:ext cx="10972800" cy="434340"/>
          </a:xfrm>
          <a:prstGeom prst="rect">
            <a:avLst/>
          </a:prstGeom>
          <a:noFill/>
        </p:spPr>
        <p:txBody>
          <a:bodyPr wrap="square" anchor="t" lIns="0" tIns="0" rIns="0" bIns="0">
            <a:noAutofit/>
          </a:bodyPr>
          <a:lstStyle/>
          <a:p>
            <a:pPr algn="l">
              <a:lnSpc>
                <a:spcPct val="106000"/>
              </a:lnSpc>
              <a:spcBef>
                <a:spcPts val="0"/>
              </a:spcBef>
              <a:spcAft>
                <a:spcPts val="0"/>
              </a:spcAft>
            </a:pPr>
            <a:r>
              <a:rPr sz="2700" b="0" i="0">
                <a:solidFill>
                  <a:srgbClr val="000000"/>
                </a:solidFill>
                <a:latin typeface="Open Sans Light"/>
              </a:rPr>
              <a:t>Meeting the enterprise where it already works</a:t>
            </a:r>
          </a:p>
        </p:txBody>
      </p:sp>
      <p:sp>
        <p:nvSpPr>
          <p:cNvPr id="5" name="Rectangle 4"/>
          <p:cNvSpPr/>
          <p:nvPr/>
        </p:nvSpPr>
        <p:spPr>
          <a:xfrm>
            <a:off x="609600" y="1539240"/>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Rectangle 5"/>
          <p:cNvSpPr/>
          <p:nvPr/>
        </p:nvSpPr>
        <p:spPr>
          <a:xfrm>
            <a:off x="609600" y="2286000"/>
            <a:ext cx="3543300" cy="3810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Rectangle 6"/>
          <p:cNvSpPr/>
          <p:nvPr/>
        </p:nvSpPr>
        <p:spPr>
          <a:xfrm>
            <a:off x="609600" y="2324100"/>
            <a:ext cx="3543300" cy="30861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819150" y="2514600"/>
            <a:ext cx="3124200" cy="266700"/>
          </a:xfrm>
          <a:prstGeom prst="rect">
            <a:avLst/>
          </a:prstGeom>
          <a:noFill/>
        </p:spPr>
        <p:txBody>
          <a:bodyPr wrap="square" anchor="t" lIns="0" tIns="0" rIns="0" bIns="0">
            <a:noAutofit/>
          </a:bodyPr>
          <a:lstStyle/>
          <a:p>
            <a:pPr algn="l">
              <a:lnSpc>
                <a:spcPct val="120000"/>
              </a:lnSpc>
              <a:spcBef>
                <a:spcPts val="0"/>
              </a:spcBef>
              <a:spcAft>
                <a:spcPts val="0"/>
              </a:spcAft>
            </a:pPr>
            <a:r>
              <a:rPr sz="1350" b="1" i="0">
                <a:solidFill>
                  <a:srgbClr val="000000"/>
                </a:solidFill>
                <a:latin typeface="Open Sans"/>
              </a:rPr>
              <a:t>Code hosting</a:t>
            </a:r>
          </a:p>
        </p:txBody>
      </p:sp>
      <p:sp>
        <p:nvSpPr>
          <p:cNvPr id="9" name="Oval 8"/>
          <p:cNvSpPr/>
          <p:nvPr/>
        </p:nvSpPr>
        <p:spPr>
          <a:xfrm>
            <a:off x="828675" y="2928556"/>
            <a:ext cx="57150" cy="57150"/>
          </a:xfrm>
          <a:prstGeom prst="ellipse">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981075" y="2847975"/>
            <a:ext cx="2962275" cy="243364"/>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GitHub App — installed per workspace</a:t>
            </a:r>
          </a:p>
        </p:txBody>
      </p:sp>
      <p:sp>
        <p:nvSpPr>
          <p:cNvPr id="11" name="Oval 10"/>
          <p:cNvSpPr/>
          <p:nvPr/>
        </p:nvSpPr>
        <p:spPr>
          <a:xfrm>
            <a:off x="828675" y="3200495"/>
            <a:ext cx="57150" cy="57150"/>
          </a:xfrm>
          <a:prstGeom prst="ellipse">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981075" y="3119914"/>
            <a:ext cx="2962275" cy="243364"/>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Self-hosted Git — GitLab, Gitea, Forgejo</a:t>
            </a:r>
          </a:p>
        </p:txBody>
      </p:sp>
      <p:sp>
        <p:nvSpPr>
          <p:cNvPr id="13" name="Oval 12"/>
          <p:cNvSpPr/>
          <p:nvPr/>
        </p:nvSpPr>
        <p:spPr>
          <a:xfrm>
            <a:off x="828675" y="3472434"/>
            <a:ext cx="57150" cy="57150"/>
          </a:xfrm>
          <a:prstGeom prst="ellipse">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981075" y="3391852"/>
            <a:ext cx="2962275" cy="243364"/>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Signature-verified inbound webhooks</a:t>
            </a:r>
          </a:p>
        </p:txBody>
      </p:sp>
      <p:sp>
        <p:nvSpPr>
          <p:cNvPr id="15" name="Oval 14"/>
          <p:cNvSpPr/>
          <p:nvPr/>
        </p:nvSpPr>
        <p:spPr>
          <a:xfrm>
            <a:off x="828675" y="3744373"/>
            <a:ext cx="57150" cy="57150"/>
          </a:xfrm>
          <a:prstGeom prst="ellipse">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981075" y="3663791"/>
            <a:ext cx="2962275" cy="243364"/>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Pull requests, check runs and suites tracked</a:t>
            </a:r>
          </a:p>
        </p:txBody>
      </p:sp>
      <p:sp>
        <p:nvSpPr>
          <p:cNvPr id="17" name="Rectangle 16"/>
          <p:cNvSpPr/>
          <p:nvPr/>
        </p:nvSpPr>
        <p:spPr>
          <a:xfrm>
            <a:off x="819150" y="4629150"/>
            <a:ext cx="31242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19150" y="4743450"/>
            <a:ext cx="3124200" cy="571500"/>
          </a:xfrm>
          <a:prstGeom prst="rect">
            <a:avLst/>
          </a:prstGeom>
          <a:noFill/>
        </p:spPr>
        <p:txBody>
          <a:bodyPr wrap="square" anchor="t" lIns="0" tIns="0" rIns="0" bIns="0">
            <a:noAutofit/>
          </a:bodyPr>
          <a:lstStyle/>
          <a:p>
            <a:pPr algn="l">
              <a:lnSpc>
                <a:spcPct val="140000"/>
              </a:lnSpc>
              <a:spcBef>
                <a:spcPts val="0"/>
              </a:spcBef>
              <a:spcAft>
                <a:spcPts val="0"/>
              </a:spcAft>
            </a:pPr>
            <a:r>
              <a:rPr sz="900" b="0" i="0">
                <a:solidFill>
                  <a:srgbClr val="75787B"/>
                </a:solidFill>
                <a:latin typeface="Open Sans"/>
              </a:rPr>
              <a:t>Enact does not host code. It records the link between work and pull requests.</a:t>
            </a:r>
          </a:p>
        </p:txBody>
      </p:sp>
      <p:sp>
        <p:nvSpPr>
          <p:cNvPr id="19" name="Rectangle 18"/>
          <p:cNvSpPr/>
          <p:nvPr/>
        </p:nvSpPr>
        <p:spPr>
          <a:xfrm>
            <a:off x="4324350" y="2286000"/>
            <a:ext cx="3543300" cy="38100"/>
          </a:xfrm>
          <a:prstGeom prst="rect">
            <a:avLst/>
          </a:prstGeom>
          <a:solidFill>
            <a:srgbClr val="007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24350" y="2324100"/>
            <a:ext cx="3543300" cy="30861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4533900" y="2514600"/>
            <a:ext cx="3124200" cy="266700"/>
          </a:xfrm>
          <a:prstGeom prst="rect">
            <a:avLst/>
          </a:prstGeom>
          <a:noFill/>
        </p:spPr>
        <p:txBody>
          <a:bodyPr wrap="square" anchor="t" lIns="0" tIns="0" rIns="0" bIns="0">
            <a:noAutofit/>
          </a:bodyPr>
          <a:lstStyle/>
          <a:p>
            <a:pPr algn="l">
              <a:lnSpc>
                <a:spcPct val="120000"/>
              </a:lnSpc>
              <a:spcBef>
                <a:spcPts val="0"/>
              </a:spcBef>
              <a:spcAft>
                <a:spcPts val="0"/>
              </a:spcAft>
            </a:pPr>
            <a:r>
              <a:rPr sz="1350" b="1" i="0">
                <a:solidFill>
                  <a:srgbClr val="000000"/>
                </a:solidFill>
                <a:latin typeface="Open Sans"/>
              </a:rPr>
              <a:t>Corporate messaging</a:t>
            </a:r>
          </a:p>
        </p:txBody>
      </p:sp>
      <p:sp>
        <p:nvSpPr>
          <p:cNvPr id="22" name="Oval 21"/>
          <p:cNvSpPr/>
          <p:nvPr/>
        </p:nvSpPr>
        <p:spPr>
          <a:xfrm>
            <a:off x="4543425" y="2928556"/>
            <a:ext cx="57150" cy="57150"/>
          </a:xfrm>
          <a:prstGeom prst="ellipse">
            <a:avLst/>
          </a:prstGeom>
          <a:solidFill>
            <a:srgbClr val="007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4695825" y="2847975"/>
            <a:ext cx="2962275" cy="243364"/>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Slack   ·   Lark   ·   WeCom</a:t>
            </a:r>
          </a:p>
        </p:txBody>
      </p:sp>
      <p:sp>
        <p:nvSpPr>
          <p:cNvPr id="24" name="Oval 23"/>
          <p:cNvSpPr/>
          <p:nvPr/>
        </p:nvSpPr>
        <p:spPr>
          <a:xfrm>
            <a:off x="4543425" y="3200495"/>
            <a:ext cx="57150" cy="57150"/>
          </a:xfrm>
          <a:prstGeom prst="ellipse">
            <a:avLst/>
          </a:prstGeom>
          <a:solidFill>
            <a:srgbClr val="007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TextBox 24"/>
          <p:cNvSpPr txBox="1"/>
          <p:nvPr/>
        </p:nvSpPr>
        <p:spPr>
          <a:xfrm>
            <a:off x="4695825" y="3119914"/>
            <a:ext cx="2962275" cy="243364"/>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DingTalk   ·   Telegram</a:t>
            </a:r>
          </a:p>
        </p:txBody>
      </p:sp>
      <p:sp>
        <p:nvSpPr>
          <p:cNvPr id="26" name="Oval 25"/>
          <p:cNvSpPr/>
          <p:nvPr/>
        </p:nvSpPr>
        <p:spPr>
          <a:xfrm>
            <a:off x="4543425" y="3472434"/>
            <a:ext cx="57150" cy="57150"/>
          </a:xfrm>
          <a:prstGeom prst="ellipse">
            <a:avLst/>
          </a:prstGeom>
          <a:solidFill>
            <a:srgbClr val="007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4695825" y="3391852"/>
            <a:ext cx="2962275" cy="243364"/>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One unified channel engine, not five</a:t>
            </a:r>
          </a:p>
        </p:txBody>
      </p:sp>
      <p:sp>
        <p:nvSpPr>
          <p:cNvPr id="28" name="Oval 27"/>
          <p:cNvSpPr/>
          <p:nvPr/>
        </p:nvSpPr>
        <p:spPr>
          <a:xfrm>
            <a:off x="4543425" y="3744373"/>
            <a:ext cx="57150" cy="57150"/>
          </a:xfrm>
          <a:prstGeom prst="ellipse">
            <a:avLst/>
          </a:prstGeom>
          <a:solidFill>
            <a:srgbClr val="007C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4695825" y="3663791"/>
            <a:ext cx="2962275" cy="243364"/>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Account binding maps identity to a member</a:t>
            </a:r>
          </a:p>
        </p:txBody>
      </p:sp>
      <p:sp>
        <p:nvSpPr>
          <p:cNvPr id="30" name="Rectangle 29"/>
          <p:cNvSpPr/>
          <p:nvPr/>
        </p:nvSpPr>
        <p:spPr>
          <a:xfrm>
            <a:off x="4533900" y="4629150"/>
            <a:ext cx="31242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4533900" y="4743450"/>
            <a:ext cx="3124200" cy="571500"/>
          </a:xfrm>
          <a:prstGeom prst="rect">
            <a:avLst/>
          </a:prstGeom>
          <a:noFill/>
        </p:spPr>
        <p:txBody>
          <a:bodyPr wrap="square" anchor="t" lIns="0" tIns="0" rIns="0" bIns="0">
            <a:noAutofit/>
          </a:bodyPr>
          <a:lstStyle/>
          <a:p>
            <a:pPr algn="l">
              <a:lnSpc>
                <a:spcPct val="140000"/>
              </a:lnSpc>
              <a:spcBef>
                <a:spcPts val="0"/>
              </a:spcBef>
              <a:spcAft>
                <a:spcPts val="0"/>
              </a:spcAft>
            </a:pPr>
            <a:r>
              <a:rPr sz="900" b="0" i="0">
                <a:solidFill>
                  <a:srgbClr val="75787B"/>
                </a:solidFill>
                <a:latin typeface="Open Sans"/>
              </a:rPr>
              <a:t>Reach agents from the tools the team already uses — without relaxing permissions.</a:t>
            </a:r>
          </a:p>
        </p:txBody>
      </p:sp>
      <p:sp>
        <p:nvSpPr>
          <p:cNvPr id="32" name="Rectangle 31"/>
          <p:cNvSpPr/>
          <p:nvPr/>
        </p:nvSpPr>
        <p:spPr>
          <a:xfrm>
            <a:off x="8039100" y="2286000"/>
            <a:ext cx="3543300" cy="38100"/>
          </a:xfrm>
          <a:prstGeom prst="rect">
            <a:avLst/>
          </a:prstGeom>
          <a:solidFill>
            <a:srgbClr val="0D83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ectangle 32"/>
          <p:cNvSpPr/>
          <p:nvPr/>
        </p:nvSpPr>
        <p:spPr>
          <a:xfrm>
            <a:off x="8039100" y="2324100"/>
            <a:ext cx="3543300" cy="30861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TextBox 33"/>
          <p:cNvSpPr txBox="1"/>
          <p:nvPr/>
        </p:nvSpPr>
        <p:spPr>
          <a:xfrm>
            <a:off x="8248650" y="2514600"/>
            <a:ext cx="3124200" cy="266700"/>
          </a:xfrm>
          <a:prstGeom prst="rect">
            <a:avLst/>
          </a:prstGeom>
          <a:noFill/>
        </p:spPr>
        <p:txBody>
          <a:bodyPr wrap="square" anchor="t" lIns="0" tIns="0" rIns="0" bIns="0">
            <a:noAutofit/>
          </a:bodyPr>
          <a:lstStyle/>
          <a:p>
            <a:pPr algn="l">
              <a:lnSpc>
                <a:spcPct val="120000"/>
              </a:lnSpc>
              <a:spcBef>
                <a:spcPts val="0"/>
              </a:spcBef>
              <a:spcAft>
                <a:spcPts val="0"/>
              </a:spcAft>
            </a:pPr>
            <a:r>
              <a:rPr sz="1350" b="1" i="0">
                <a:solidFill>
                  <a:srgbClr val="000000"/>
                </a:solidFill>
                <a:latin typeface="Open Sans"/>
              </a:rPr>
              <a:t>Tools and capability</a:t>
            </a:r>
          </a:p>
        </p:txBody>
      </p:sp>
      <p:sp>
        <p:nvSpPr>
          <p:cNvPr id="35" name="Oval 34"/>
          <p:cNvSpPr/>
          <p:nvPr/>
        </p:nvSpPr>
        <p:spPr>
          <a:xfrm>
            <a:off x="8258175" y="2928556"/>
            <a:ext cx="57150" cy="57150"/>
          </a:xfrm>
          <a:prstGeom prst="ellipse">
            <a:avLst/>
          </a:prstGeom>
          <a:solidFill>
            <a:srgbClr val="0D83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TextBox 35"/>
          <p:cNvSpPr txBox="1"/>
          <p:nvPr/>
        </p:nvSpPr>
        <p:spPr>
          <a:xfrm>
            <a:off x="8410575" y="2847975"/>
            <a:ext cx="2962275" cy="243364"/>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Composio connected accounts</a:t>
            </a:r>
          </a:p>
        </p:txBody>
      </p:sp>
      <p:sp>
        <p:nvSpPr>
          <p:cNvPr id="37" name="Oval 36"/>
          <p:cNvSpPr/>
          <p:nvPr/>
        </p:nvSpPr>
        <p:spPr>
          <a:xfrm>
            <a:off x="8258175" y="3200495"/>
            <a:ext cx="57150" cy="57150"/>
          </a:xfrm>
          <a:prstGeom prst="ellipse">
            <a:avLst/>
          </a:prstGeom>
          <a:solidFill>
            <a:srgbClr val="0D83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TextBox 37"/>
          <p:cNvSpPr txBox="1"/>
          <p:nvPr/>
        </p:nvSpPr>
        <p:spPr>
          <a:xfrm>
            <a:off x="8410575" y="3119914"/>
            <a:ext cx="2962275" cy="243364"/>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MCP servers — workspace, agent, plugin</a:t>
            </a:r>
          </a:p>
        </p:txBody>
      </p:sp>
      <p:sp>
        <p:nvSpPr>
          <p:cNvPr id="39" name="Oval 38"/>
          <p:cNvSpPr/>
          <p:nvPr/>
        </p:nvSpPr>
        <p:spPr>
          <a:xfrm>
            <a:off x="8258175" y="3472434"/>
            <a:ext cx="57150" cy="57150"/>
          </a:xfrm>
          <a:prstGeom prst="ellipse">
            <a:avLst/>
          </a:prstGeom>
          <a:solidFill>
            <a:srgbClr val="0D83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0" name="TextBox 39"/>
          <p:cNvSpPr txBox="1"/>
          <p:nvPr/>
        </p:nvSpPr>
        <p:spPr>
          <a:xfrm>
            <a:off x="8410575" y="3391852"/>
            <a:ext cx="2962275" cy="243364"/>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Replaceable model gateway endpoint</a:t>
            </a:r>
          </a:p>
        </p:txBody>
      </p:sp>
      <p:sp>
        <p:nvSpPr>
          <p:cNvPr id="41" name="Oval 40"/>
          <p:cNvSpPr/>
          <p:nvPr/>
        </p:nvSpPr>
        <p:spPr>
          <a:xfrm>
            <a:off x="8258175" y="3744373"/>
            <a:ext cx="57150" cy="57150"/>
          </a:xfrm>
          <a:prstGeom prst="ellipse">
            <a:avLst/>
          </a:prstGeom>
          <a:solidFill>
            <a:srgbClr val="0D83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2" name="TextBox 41"/>
          <p:cNvSpPr txBox="1"/>
          <p:nvPr/>
        </p:nvSpPr>
        <p:spPr>
          <a:xfrm>
            <a:off x="8410575" y="3663791"/>
            <a:ext cx="2962275" cy="243364"/>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Object storage, email, payments</a:t>
            </a:r>
          </a:p>
        </p:txBody>
      </p:sp>
      <p:sp>
        <p:nvSpPr>
          <p:cNvPr id="43" name="Rectangle 42"/>
          <p:cNvSpPr/>
          <p:nvPr/>
        </p:nvSpPr>
        <p:spPr>
          <a:xfrm>
            <a:off x="8248650" y="4629150"/>
            <a:ext cx="31242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TextBox 43"/>
          <p:cNvSpPr txBox="1"/>
          <p:nvPr/>
        </p:nvSpPr>
        <p:spPr>
          <a:xfrm>
            <a:off x="8248650" y="4743450"/>
            <a:ext cx="3124200" cy="571500"/>
          </a:xfrm>
          <a:prstGeom prst="rect">
            <a:avLst/>
          </a:prstGeom>
          <a:noFill/>
        </p:spPr>
        <p:txBody>
          <a:bodyPr wrap="square" anchor="t" lIns="0" tIns="0" rIns="0" bIns="0">
            <a:noAutofit/>
          </a:bodyPr>
          <a:lstStyle/>
          <a:p>
            <a:pPr algn="l">
              <a:lnSpc>
                <a:spcPct val="140000"/>
              </a:lnSpc>
              <a:spcBef>
                <a:spcPts val="0"/>
              </a:spcBef>
              <a:spcAft>
                <a:spcPts val="0"/>
              </a:spcAft>
            </a:pPr>
            <a:r>
              <a:rPr sz="900" b="0" i="0">
                <a:solidFill>
                  <a:srgbClr val="75787B"/>
                </a:solidFill>
                <a:latin typeface="Open Sans"/>
              </a:rPr>
              <a:t>Remote tool credentials resolve per connection and never enter the task record.</a:t>
            </a:r>
          </a:p>
        </p:txBody>
      </p:sp>
      <p:sp>
        <p:nvSpPr>
          <p:cNvPr id="45" name="TextBox 44"/>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46" name="TextBox 45"/>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47" name="TextBox 46"/>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EXTENSIBILITY</a:t>
            </a:r>
          </a:p>
        </p:txBody>
      </p:sp>
      <p:sp>
        <p:nvSpPr>
          <p:cNvPr id="4" name="TextBox 3"/>
          <p:cNvSpPr txBox="1"/>
          <p:nvPr/>
        </p:nvSpPr>
        <p:spPr>
          <a:xfrm>
            <a:off x="609600" y="1028700"/>
            <a:ext cx="10972800" cy="434340"/>
          </a:xfrm>
          <a:prstGeom prst="rect">
            <a:avLst/>
          </a:prstGeom>
          <a:noFill/>
        </p:spPr>
        <p:txBody>
          <a:bodyPr wrap="square" anchor="t" lIns="0" tIns="0" rIns="0" bIns="0">
            <a:noAutofit/>
          </a:bodyPr>
          <a:lstStyle/>
          <a:p>
            <a:pPr algn="l">
              <a:lnSpc>
                <a:spcPct val="106000"/>
              </a:lnSpc>
              <a:spcBef>
                <a:spcPts val="0"/>
              </a:spcBef>
              <a:spcAft>
                <a:spcPts val="0"/>
              </a:spcAft>
            </a:pPr>
            <a:r>
              <a:rPr sz="2700" b="0" i="0">
                <a:solidFill>
                  <a:srgbClr val="000000"/>
                </a:solidFill>
                <a:latin typeface="Open Sans Light"/>
              </a:rPr>
              <a:t>Five surfaces, so the core stays the core</a:t>
            </a:r>
          </a:p>
        </p:txBody>
      </p:sp>
      <p:sp>
        <p:nvSpPr>
          <p:cNvPr id="5" name="Rectangle 4"/>
          <p:cNvSpPr/>
          <p:nvPr/>
        </p:nvSpPr>
        <p:spPr>
          <a:xfrm>
            <a:off x="609600" y="1539240"/>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23900" y="2343150"/>
            <a:ext cx="1428750" cy="361950"/>
          </a:xfrm>
          <a:prstGeom prst="rect">
            <a:avLst/>
          </a:prstGeom>
          <a:noFill/>
        </p:spPr>
        <p:txBody>
          <a:bodyPr wrap="square" anchor="ctr" lIns="0" tIns="0" rIns="0" bIns="0">
            <a:noAutofit/>
          </a:bodyPr>
          <a:lstStyle/>
          <a:p>
            <a:pPr algn="l">
              <a:lnSpc>
                <a:spcPct val="115000"/>
              </a:lnSpc>
              <a:spcBef>
                <a:spcPts val="0"/>
              </a:spcBef>
              <a:spcAft>
                <a:spcPts val="0"/>
              </a:spcAft>
            </a:pPr>
            <a:r>
              <a:rPr sz="825" b="1" i="0" spc="50">
                <a:solidFill>
                  <a:srgbClr val="53565A"/>
                </a:solidFill>
                <a:latin typeface="Open Sans"/>
              </a:rPr>
              <a:t>SURFACE</a:t>
            </a:r>
          </a:p>
        </p:txBody>
      </p:sp>
      <p:sp>
        <p:nvSpPr>
          <p:cNvPr id="7" name="Rectangle 6"/>
          <p:cNvSpPr/>
          <p:nvPr/>
        </p:nvSpPr>
        <p:spPr>
          <a:xfrm>
            <a:off x="2228850" y="2343150"/>
            <a:ext cx="3117850" cy="361950"/>
          </a:xfrm>
          <a:prstGeom prst="rect">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2343150" y="2343150"/>
            <a:ext cx="2927350" cy="361950"/>
          </a:xfrm>
          <a:prstGeom prst="rect">
            <a:avLst/>
          </a:prstGeom>
          <a:noFill/>
        </p:spPr>
        <p:txBody>
          <a:bodyPr wrap="square" anchor="ctr" lIns="0" tIns="0" rIns="0" bIns="0">
            <a:noAutofit/>
          </a:bodyPr>
          <a:lstStyle/>
          <a:p>
            <a:pPr algn="l">
              <a:lnSpc>
                <a:spcPct val="115000"/>
              </a:lnSpc>
              <a:spcBef>
                <a:spcPts val="0"/>
              </a:spcBef>
              <a:spcAft>
                <a:spcPts val="0"/>
              </a:spcAft>
            </a:pPr>
            <a:r>
              <a:rPr sz="825" b="1" i="0" spc="50">
                <a:solidFill>
                  <a:srgbClr val="FFFFFF"/>
                </a:solidFill>
                <a:latin typeface="Open Sans"/>
              </a:rPr>
              <a:t>EXTENDS</a:t>
            </a:r>
          </a:p>
        </p:txBody>
      </p:sp>
      <p:sp>
        <p:nvSpPr>
          <p:cNvPr id="9" name="Rectangle 8"/>
          <p:cNvSpPr/>
          <p:nvPr/>
        </p:nvSpPr>
        <p:spPr>
          <a:xfrm>
            <a:off x="5346700" y="2343150"/>
            <a:ext cx="3117850" cy="361950"/>
          </a:xfrm>
          <a:prstGeom prst="rect">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5461000" y="2343150"/>
            <a:ext cx="2927350" cy="361950"/>
          </a:xfrm>
          <a:prstGeom prst="rect">
            <a:avLst/>
          </a:prstGeom>
          <a:noFill/>
        </p:spPr>
        <p:txBody>
          <a:bodyPr wrap="square" anchor="ctr" lIns="0" tIns="0" rIns="0" bIns="0">
            <a:noAutofit/>
          </a:bodyPr>
          <a:lstStyle/>
          <a:p>
            <a:pPr algn="l">
              <a:lnSpc>
                <a:spcPct val="115000"/>
              </a:lnSpc>
              <a:spcBef>
                <a:spcPts val="0"/>
              </a:spcBef>
              <a:spcAft>
                <a:spcPts val="0"/>
              </a:spcAft>
            </a:pPr>
            <a:r>
              <a:rPr sz="825" b="1" i="0" spc="50">
                <a:solidFill>
                  <a:srgbClr val="FFFFFF"/>
                </a:solidFill>
                <a:latin typeface="Open Sans"/>
              </a:rPr>
              <a:t>AUTHOR</a:t>
            </a:r>
          </a:p>
        </p:txBody>
      </p:sp>
      <p:sp>
        <p:nvSpPr>
          <p:cNvPr id="11" name="Rectangle 10"/>
          <p:cNvSpPr/>
          <p:nvPr/>
        </p:nvSpPr>
        <p:spPr>
          <a:xfrm>
            <a:off x="8464550" y="2343150"/>
            <a:ext cx="3117850" cy="36195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8578850" y="2343150"/>
            <a:ext cx="2927350" cy="361950"/>
          </a:xfrm>
          <a:prstGeom prst="rect">
            <a:avLst/>
          </a:prstGeom>
          <a:noFill/>
        </p:spPr>
        <p:txBody>
          <a:bodyPr wrap="square" anchor="ctr" lIns="0" tIns="0" rIns="0" bIns="0">
            <a:noAutofit/>
          </a:bodyPr>
          <a:lstStyle/>
          <a:p>
            <a:pPr algn="l">
              <a:lnSpc>
                <a:spcPct val="115000"/>
              </a:lnSpc>
              <a:spcBef>
                <a:spcPts val="0"/>
              </a:spcBef>
              <a:spcAft>
                <a:spcPts val="0"/>
              </a:spcAft>
            </a:pPr>
            <a:r>
              <a:rPr sz="825" b="1" i="0" spc="50">
                <a:solidFill>
                  <a:srgbClr val="FFFFFF"/>
                </a:solidFill>
                <a:latin typeface="Open Sans"/>
              </a:rPr>
              <a:t>GOVERNANCE</a:t>
            </a:r>
          </a:p>
        </p:txBody>
      </p:sp>
      <p:sp>
        <p:nvSpPr>
          <p:cNvPr id="13" name="Rectangle 12"/>
          <p:cNvSpPr/>
          <p:nvPr/>
        </p:nvSpPr>
        <p:spPr>
          <a:xfrm>
            <a:off x="609600" y="2705100"/>
            <a:ext cx="1619250" cy="531019"/>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723900" y="2790825"/>
            <a:ext cx="13906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1" i="0">
                <a:solidFill>
                  <a:srgbClr val="000000"/>
                </a:solidFill>
                <a:latin typeface="Open Sans"/>
              </a:rPr>
              <a:t>skill</a:t>
            </a:r>
          </a:p>
        </p:txBody>
      </p:sp>
      <p:sp>
        <p:nvSpPr>
          <p:cNvPr id="15" name="TextBox 14"/>
          <p:cNvSpPr txBox="1"/>
          <p:nvPr/>
        </p:nvSpPr>
        <p:spPr>
          <a:xfrm>
            <a:off x="2343150" y="2790825"/>
            <a:ext cx="28892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How an agent does a kind of work</a:t>
            </a:r>
          </a:p>
        </p:txBody>
      </p:sp>
      <p:sp>
        <p:nvSpPr>
          <p:cNvPr id="16" name="Rectangle 15"/>
          <p:cNvSpPr/>
          <p:nvPr/>
        </p:nvSpPr>
        <p:spPr>
          <a:xfrm>
            <a:off x="2228850" y="2705100"/>
            <a:ext cx="9525" cy="5310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5461000" y="2790825"/>
            <a:ext cx="28892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Domain expert</a:t>
            </a:r>
          </a:p>
        </p:txBody>
      </p:sp>
      <p:sp>
        <p:nvSpPr>
          <p:cNvPr id="18" name="Rectangle 17"/>
          <p:cNvSpPr/>
          <p:nvPr/>
        </p:nvSpPr>
        <p:spPr>
          <a:xfrm>
            <a:off x="5346700" y="2705100"/>
            <a:ext cx="9525" cy="5310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TextBox 18"/>
          <p:cNvSpPr txBox="1"/>
          <p:nvPr/>
        </p:nvSpPr>
        <p:spPr>
          <a:xfrm>
            <a:off x="8578850" y="2790825"/>
            <a:ext cx="28892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Authored or imported; attaches to many agents; bound by Access</a:t>
            </a:r>
          </a:p>
        </p:txBody>
      </p:sp>
      <p:sp>
        <p:nvSpPr>
          <p:cNvPr id="20" name="Rectangle 19"/>
          <p:cNvSpPr/>
          <p:nvPr/>
        </p:nvSpPr>
        <p:spPr>
          <a:xfrm>
            <a:off x="8464550" y="2705100"/>
            <a:ext cx="9525" cy="5310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ectangle 20"/>
          <p:cNvSpPr/>
          <p:nvPr/>
        </p:nvSpPr>
        <p:spPr>
          <a:xfrm>
            <a:off x="609600" y="3236119"/>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Rectangle 21"/>
          <p:cNvSpPr/>
          <p:nvPr/>
        </p:nvSpPr>
        <p:spPr>
          <a:xfrm>
            <a:off x="609600" y="3245644"/>
            <a:ext cx="1619250" cy="3702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723900" y="3331369"/>
            <a:ext cx="1390650" cy="370284"/>
          </a:xfrm>
          <a:prstGeom prst="rect">
            <a:avLst/>
          </a:prstGeom>
          <a:noFill/>
        </p:spPr>
        <p:txBody>
          <a:bodyPr wrap="square" anchor="t" lIns="0" tIns="0" rIns="0" bIns="0">
            <a:noAutofit/>
          </a:bodyPr>
          <a:lstStyle/>
          <a:p>
            <a:pPr algn="l">
              <a:lnSpc>
                <a:spcPct val="135000"/>
              </a:lnSpc>
              <a:spcBef>
                <a:spcPts val="0"/>
              </a:spcBef>
              <a:spcAft>
                <a:spcPts val="0"/>
              </a:spcAft>
            </a:pPr>
            <a:r>
              <a:rPr sz="937" b="1" i="0">
                <a:solidFill>
                  <a:srgbClr val="000000"/>
                </a:solidFill>
                <a:latin typeface="Open Sans"/>
              </a:rPr>
              <a:t>Ontology</a:t>
            </a:r>
          </a:p>
        </p:txBody>
      </p:sp>
      <p:sp>
        <p:nvSpPr>
          <p:cNvPr id="24" name="TextBox 23"/>
          <p:cNvSpPr txBox="1"/>
          <p:nvPr/>
        </p:nvSpPr>
        <p:spPr>
          <a:xfrm>
            <a:off x="2343150" y="3331369"/>
            <a:ext cx="2889250" cy="370284"/>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Domain semantics and terminology</a:t>
            </a:r>
          </a:p>
        </p:txBody>
      </p:sp>
      <p:sp>
        <p:nvSpPr>
          <p:cNvPr id="25" name="Rectangle 24"/>
          <p:cNvSpPr/>
          <p:nvPr/>
        </p:nvSpPr>
        <p:spPr>
          <a:xfrm>
            <a:off x="2228850" y="3245644"/>
            <a:ext cx="9525" cy="370284"/>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5461000" y="3331369"/>
            <a:ext cx="2889250" cy="370284"/>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Domain expert</a:t>
            </a:r>
          </a:p>
        </p:txBody>
      </p:sp>
      <p:sp>
        <p:nvSpPr>
          <p:cNvPr id="27" name="Rectangle 26"/>
          <p:cNvSpPr/>
          <p:nvPr/>
        </p:nvSpPr>
        <p:spPr>
          <a:xfrm>
            <a:off x="5346700" y="3245644"/>
            <a:ext cx="9525" cy="370284"/>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8578850" y="3331369"/>
            <a:ext cx="2889250" cy="370284"/>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Attached to agents as a domain concept baseline</a:t>
            </a:r>
          </a:p>
        </p:txBody>
      </p:sp>
      <p:sp>
        <p:nvSpPr>
          <p:cNvPr id="29" name="Rectangle 28"/>
          <p:cNvSpPr/>
          <p:nvPr/>
        </p:nvSpPr>
        <p:spPr>
          <a:xfrm>
            <a:off x="8464550" y="3245644"/>
            <a:ext cx="9525" cy="370284"/>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ectangle 29"/>
          <p:cNvSpPr/>
          <p:nvPr/>
        </p:nvSpPr>
        <p:spPr>
          <a:xfrm>
            <a:off x="609600" y="3615928"/>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ectangle 30"/>
          <p:cNvSpPr/>
          <p:nvPr/>
        </p:nvSpPr>
        <p:spPr>
          <a:xfrm>
            <a:off x="609600" y="3625453"/>
            <a:ext cx="1619250" cy="531019"/>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TextBox 31"/>
          <p:cNvSpPr txBox="1"/>
          <p:nvPr/>
        </p:nvSpPr>
        <p:spPr>
          <a:xfrm>
            <a:off x="723900" y="3711178"/>
            <a:ext cx="13906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1" i="0">
                <a:solidFill>
                  <a:srgbClr val="000000"/>
                </a:solidFill>
                <a:latin typeface="Open Sans"/>
              </a:rPr>
              <a:t>Runtime Profile</a:t>
            </a:r>
          </a:p>
        </p:txBody>
      </p:sp>
      <p:sp>
        <p:nvSpPr>
          <p:cNvPr id="33" name="TextBox 32"/>
          <p:cNvSpPr txBox="1"/>
          <p:nvPr/>
        </p:nvSpPr>
        <p:spPr>
          <a:xfrm>
            <a:off x="2343150" y="3711178"/>
            <a:ext cx="28892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Which machine and which tool executes</a:t>
            </a:r>
          </a:p>
        </p:txBody>
      </p:sp>
      <p:sp>
        <p:nvSpPr>
          <p:cNvPr id="34" name="Rectangle 33"/>
          <p:cNvSpPr/>
          <p:nvPr/>
        </p:nvSpPr>
        <p:spPr>
          <a:xfrm>
            <a:off x="2228850" y="3625453"/>
            <a:ext cx="9525" cy="5310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TextBox 34"/>
          <p:cNvSpPr txBox="1"/>
          <p:nvPr/>
        </p:nvSpPr>
        <p:spPr>
          <a:xfrm>
            <a:off x="5461000" y="3711178"/>
            <a:ext cx="28892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Orchestration engineer</a:t>
            </a:r>
          </a:p>
        </p:txBody>
      </p:sp>
      <p:sp>
        <p:nvSpPr>
          <p:cNvPr id="36" name="Rectangle 35"/>
          <p:cNvSpPr/>
          <p:nvPr/>
        </p:nvSpPr>
        <p:spPr>
          <a:xfrm>
            <a:off x="5346700" y="3625453"/>
            <a:ext cx="9525" cy="5310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7" name="TextBox 36"/>
          <p:cNvSpPr txBox="1"/>
          <p:nvPr/>
        </p:nvSpPr>
        <p:spPr>
          <a:xfrm>
            <a:off x="8578850" y="3711178"/>
            <a:ext cx="28892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Per workspace; only on officially supported protocol families</a:t>
            </a:r>
          </a:p>
        </p:txBody>
      </p:sp>
      <p:sp>
        <p:nvSpPr>
          <p:cNvPr id="38" name="Rectangle 37"/>
          <p:cNvSpPr/>
          <p:nvPr/>
        </p:nvSpPr>
        <p:spPr>
          <a:xfrm>
            <a:off x="8464550" y="3625453"/>
            <a:ext cx="9525" cy="5310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9" name="Rectangle 38"/>
          <p:cNvSpPr/>
          <p:nvPr/>
        </p:nvSpPr>
        <p:spPr>
          <a:xfrm>
            <a:off x="609600" y="4156472"/>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0" name="Rectangle 39"/>
          <p:cNvSpPr/>
          <p:nvPr/>
        </p:nvSpPr>
        <p:spPr>
          <a:xfrm>
            <a:off x="609600" y="4165997"/>
            <a:ext cx="1619250" cy="531019"/>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1" name="TextBox 40"/>
          <p:cNvSpPr txBox="1"/>
          <p:nvPr/>
        </p:nvSpPr>
        <p:spPr>
          <a:xfrm>
            <a:off x="723900" y="4251722"/>
            <a:ext cx="13906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1" i="0">
                <a:solidFill>
                  <a:srgbClr val="000000"/>
                </a:solidFill>
                <a:latin typeface="Open Sans"/>
              </a:rPr>
              <a:t>MCP Server</a:t>
            </a:r>
          </a:p>
        </p:txBody>
      </p:sp>
      <p:sp>
        <p:nvSpPr>
          <p:cNvPr id="42" name="TextBox 41"/>
          <p:cNvSpPr txBox="1"/>
          <p:nvPr/>
        </p:nvSpPr>
        <p:spPr>
          <a:xfrm>
            <a:off x="2343150" y="4251722"/>
            <a:ext cx="28892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What tools an agent can call</a:t>
            </a:r>
          </a:p>
        </p:txBody>
      </p:sp>
      <p:sp>
        <p:nvSpPr>
          <p:cNvPr id="43" name="Rectangle 42"/>
          <p:cNvSpPr/>
          <p:nvPr/>
        </p:nvSpPr>
        <p:spPr>
          <a:xfrm>
            <a:off x="2228850" y="4165997"/>
            <a:ext cx="9525" cy="5310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TextBox 43"/>
          <p:cNvSpPr txBox="1"/>
          <p:nvPr/>
        </p:nvSpPr>
        <p:spPr>
          <a:xfrm>
            <a:off x="5461000" y="4251722"/>
            <a:ext cx="28892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Engineer / admin</a:t>
            </a:r>
          </a:p>
        </p:txBody>
      </p:sp>
      <p:sp>
        <p:nvSpPr>
          <p:cNvPr id="45" name="Rectangle 44"/>
          <p:cNvSpPr/>
          <p:nvPr/>
        </p:nvSpPr>
        <p:spPr>
          <a:xfrm>
            <a:off x="5346700" y="4165997"/>
            <a:ext cx="9525" cy="5310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6" name="TextBox 45"/>
          <p:cNvSpPr txBox="1"/>
          <p:nvPr/>
        </p:nvSpPr>
        <p:spPr>
          <a:xfrm>
            <a:off x="8578850" y="4251722"/>
            <a:ext cx="28892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Workspace, agent or plugin-bridged; credentials on demand</a:t>
            </a:r>
          </a:p>
        </p:txBody>
      </p:sp>
      <p:sp>
        <p:nvSpPr>
          <p:cNvPr id="47" name="Rectangle 46"/>
          <p:cNvSpPr/>
          <p:nvPr/>
        </p:nvSpPr>
        <p:spPr>
          <a:xfrm>
            <a:off x="8464550" y="4165997"/>
            <a:ext cx="9525" cy="5310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8" name="Rectangle 47"/>
          <p:cNvSpPr/>
          <p:nvPr/>
        </p:nvSpPr>
        <p:spPr>
          <a:xfrm>
            <a:off x="609600" y="4697016"/>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9" name="Rectangle 48"/>
          <p:cNvSpPr/>
          <p:nvPr/>
        </p:nvSpPr>
        <p:spPr>
          <a:xfrm>
            <a:off x="609600" y="4706541"/>
            <a:ext cx="1619250" cy="531019"/>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TextBox 49"/>
          <p:cNvSpPr txBox="1"/>
          <p:nvPr/>
        </p:nvSpPr>
        <p:spPr>
          <a:xfrm>
            <a:off x="723900" y="4792266"/>
            <a:ext cx="13906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1" i="0">
                <a:solidFill>
                  <a:srgbClr val="000000"/>
                </a:solidFill>
                <a:latin typeface="Open Sans"/>
              </a:rPr>
              <a:t>Plugin</a:t>
            </a:r>
          </a:p>
        </p:txBody>
      </p:sp>
      <p:sp>
        <p:nvSpPr>
          <p:cNvPr id="51" name="TextBox 50"/>
          <p:cNvSpPr txBox="1"/>
          <p:nvPr/>
        </p:nvSpPr>
        <p:spPr>
          <a:xfrm>
            <a:off x="2343150" y="4792266"/>
            <a:ext cx="28892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The Enact platform itself</a:t>
            </a:r>
          </a:p>
        </p:txBody>
      </p:sp>
      <p:sp>
        <p:nvSpPr>
          <p:cNvPr id="52" name="Rectangle 51"/>
          <p:cNvSpPr/>
          <p:nvPr/>
        </p:nvSpPr>
        <p:spPr>
          <a:xfrm>
            <a:off x="2228850" y="4706541"/>
            <a:ext cx="9525" cy="5310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3" name="TextBox 52"/>
          <p:cNvSpPr txBox="1"/>
          <p:nvPr/>
        </p:nvSpPr>
        <p:spPr>
          <a:xfrm>
            <a:off x="5461000" y="4792266"/>
            <a:ext cx="28892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Third-party developer</a:t>
            </a:r>
          </a:p>
        </p:txBody>
      </p:sp>
      <p:sp>
        <p:nvSpPr>
          <p:cNvPr id="54" name="Rectangle 53"/>
          <p:cNvSpPr/>
          <p:nvPr/>
        </p:nvSpPr>
        <p:spPr>
          <a:xfrm>
            <a:off x="5346700" y="4706541"/>
            <a:ext cx="9525" cy="5310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5" name="TextBox 54"/>
          <p:cNvSpPr txBox="1"/>
          <p:nvPr/>
        </p:nvSpPr>
        <p:spPr>
          <a:xfrm>
            <a:off x="8578850" y="4792266"/>
            <a:ext cx="28892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Immutable versions; installation and grants need admin consent</a:t>
            </a:r>
          </a:p>
        </p:txBody>
      </p:sp>
      <p:sp>
        <p:nvSpPr>
          <p:cNvPr id="56" name="Rectangle 55"/>
          <p:cNvSpPr/>
          <p:nvPr/>
        </p:nvSpPr>
        <p:spPr>
          <a:xfrm>
            <a:off x="8464550" y="4706541"/>
            <a:ext cx="9525" cy="5310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7" name="Rectangle 56"/>
          <p:cNvSpPr/>
          <p:nvPr/>
        </p:nvSpPr>
        <p:spPr>
          <a:xfrm>
            <a:off x="609600" y="5237559"/>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8" name="TextBox 57"/>
          <p:cNvSpPr txBox="1"/>
          <p:nvPr/>
        </p:nvSpPr>
        <p:spPr>
          <a:xfrm>
            <a:off x="609600" y="5456634"/>
            <a:ext cx="10972800" cy="247650"/>
          </a:xfrm>
          <a:prstGeom prst="rect">
            <a:avLst/>
          </a:prstGeom>
          <a:noFill/>
        </p:spPr>
        <p:txBody>
          <a:bodyPr wrap="square" anchor="t" lIns="0" tIns="0" rIns="0" bIns="0">
            <a:noAutofit/>
          </a:bodyPr>
          <a:lstStyle/>
          <a:p>
            <a:pPr algn="l">
              <a:lnSpc>
                <a:spcPct val="135000"/>
              </a:lnSpc>
              <a:spcBef>
                <a:spcPts val="0"/>
              </a:spcBef>
              <a:spcAft>
                <a:spcPts val="0"/>
              </a:spcAft>
            </a:pPr>
            <a:r>
              <a:rPr sz="1050" b="0">
                <a:solidFill>
                  <a:srgbClr val="53565A"/>
                </a:solidFill>
                <a:latin typeface="Open Sans"/>
              </a:rPr>
              <a:t>The selection rule: </a:t>
            </a:r>
            <a:r>
              <a:rPr sz="1050" b="1">
                <a:solidFill>
                  <a:srgbClr val="000000"/>
                </a:solidFill>
                <a:latin typeface="Open Sans"/>
              </a:rPr>
              <a:t>if a skill can do it, do not write a plugin.</a:t>
            </a:r>
            <a:r>
              <a:rPr sz="1050" b="0">
                <a:solidFill>
                  <a:srgbClr val="53565A"/>
                </a:solidFill>
                <a:latin typeface="Open Sans"/>
              </a:rPr>
              <a:t>  A skill is content — no code review, no grant flow. A plugin is code — more powerful, more expensive to govern.</a:t>
            </a:r>
          </a:p>
        </p:txBody>
      </p:sp>
      <p:sp>
        <p:nvSpPr>
          <p:cNvPr id="59" name="TextBox 58"/>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60" name="TextBox 59"/>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61" name="TextBox 60"/>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reen-abstract-2.png"/>
          <p:cNvPicPr>
            <a:picLocks noChangeAspect="1"/>
          </p:cNvPicPr>
          <p:nvPr/>
        </p:nvPicPr>
        <p:blipFill>
          <a:blip r:embed="rId2"/>
          <a:srcRect l="2449" r="2449"/>
          <a:stretch>
            <a:fillRect/>
          </a:stretch>
        </p:blipFill>
        <p:spPr>
          <a:xfrm>
            <a:off x="0" y="0"/>
            <a:ext cx="12192000" cy="6858000"/>
          </a:xfrm>
          <a:prstGeom prst="rect">
            <a:avLst/>
          </a:prstGeom>
        </p:spPr>
      </p:pic>
      <p:sp>
        <p:nvSpPr>
          <p:cNvPr id="3" name="Rectangle 2"/>
          <p:cNvSpPr/>
          <p:nvPr/>
        </p:nvSpPr>
        <p:spPr>
          <a:xfrm>
            <a:off x="0" y="0"/>
            <a:ext cx="12192000" cy="6858000"/>
          </a:xfrm>
          <a:prstGeom prst="rect">
            <a:avLst/>
          </a:prstGeom>
          <a:gradFill rotWithShape="1">
            <a:gsLst>
              <a:gs pos="0">
                <a:srgbClr val="042A1C">
                  <a:alpha val="94000"/>
                </a:srgbClr>
              </a:gs>
              <a:gs pos="100000">
                <a:srgbClr val="046A38">
                  <a:alpha val="8000"/>
                </a:srgbClr>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 name="TextBox 3"/>
          <p:cNvSpPr txBox="1"/>
          <p:nvPr/>
        </p:nvSpPr>
        <p:spPr>
          <a:xfrm>
            <a:off x="609600" y="495300"/>
            <a:ext cx="1905000" cy="291465"/>
          </a:xfrm>
          <a:prstGeom prst="rect">
            <a:avLst/>
          </a:prstGeom>
          <a:noFill/>
        </p:spPr>
        <p:txBody>
          <a:bodyPr wrap="square" anchor="t" lIns="0" tIns="0" rIns="0" bIns="0">
            <a:noAutofit/>
          </a:bodyPr>
          <a:lstStyle/>
          <a:p>
            <a:pPr algn="l">
              <a:lnSpc>
                <a:spcPct val="100000"/>
              </a:lnSpc>
              <a:spcBef>
                <a:spcPts val="0"/>
              </a:spcBef>
              <a:spcAft>
                <a:spcPts val="0"/>
              </a:spcAft>
            </a:pPr>
            <a:r>
              <a:rPr sz="1275" b="1">
                <a:solidFill>
                  <a:srgbClr val="FFFFFF"/>
                </a:solidFill>
                <a:latin typeface="Open Sans"/>
              </a:rPr>
              <a:t>Deloitte</a:t>
            </a:r>
            <a:r>
              <a:rPr sz="1275" b="1">
                <a:solidFill>
                  <a:srgbClr val="86BC25"/>
                </a:solidFill>
                <a:latin typeface="Open Sans"/>
              </a:rPr>
              <a:t>.</a:t>
            </a:r>
          </a:p>
        </p:txBody>
      </p:sp>
      <p:sp>
        <p:nvSpPr>
          <p:cNvPr id="5" name="TextBox 4"/>
          <p:cNvSpPr txBox="1"/>
          <p:nvPr/>
        </p:nvSpPr>
        <p:spPr>
          <a:xfrm>
            <a:off x="609600" y="4305300"/>
            <a:ext cx="2857500" cy="285750"/>
          </a:xfrm>
          <a:prstGeom prst="rect">
            <a:avLst/>
          </a:prstGeom>
          <a:noFill/>
        </p:spPr>
        <p:txBody>
          <a:bodyPr wrap="square" anchor="t" lIns="0" tIns="0" rIns="0" bIns="0">
            <a:noAutofit/>
          </a:bodyPr>
          <a:lstStyle/>
          <a:p>
            <a:pPr algn="l">
              <a:lnSpc>
                <a:spcPct val="100000"/>
              </a:lnSpc>
              <a:spcBef>
                <a:spcPts val="0"/>
              </a:spcBef>
              <a:spcAft>
                <a:spcPts val="0"/>
              </a:spcAft>
            </a:pPr>
            <a:r>
              <a:rPr sz="1275" b="1" i="0" spc="100">
                <a:solidFill>
                  <a:srgbClr val="DDE8D4"/>
                </a:solidFill>
                <a:latin typeface="Consolas"/>
              </a:rPr>
              <a:t>04 / 04</a:t>
            </a:r>
          </a:p>
        </p:txBody>
      </p:sp>
      <p:sp>
        <p:nvSpPr>
          <p:cNvPr id="6" name="TextBox 5"/>
          <p:cNvSpPr txBox="1"/>
          <p:nvPr/>
        </p:nvSpPr>
        <p:spPr>
          <a:xfrm>
            <a:off x="609600" y="4629150"/>
            <a:ext cx="3810000" cy="22860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FFFFFF"/>
                </a:solidFill>
                <a:latin typeface="Open Sans"/>
              </a:rPr>
              <a:t>TECHNOLOGY ARCHITECTURE</a:t>
            </a:r>
          </a:p>
        </p:txBody>
      </p:sp>
      <p:sp>
        <p:nvSpPr>
          <p:cNvPr id="7" name="TextBox 6"/>
          <p:cNvSpPr txBox="1"/>
          <p:nvPr/>
        </p:nvSpPr>
        <p:spPr>
          <a:xfrm>
            <a:off x="609600" y="4895850"/>
            <a:ext cx="7620000" cy="1249680"/>
          </a:xfrm>
          <a:prstGeom prst="rect">
            <a:avLst/>
          </a:prstGeom>
          <a:noFill/>
        </p:spPr>
        <p:txBody>
          <a:bodyPr wrap="square" anchor="t" lIns="0" tIns="0" rIns="0" bIns="0">
            <a:noAutofit/>
          </a:bodyPr>
          <a:lstStyle/>
          <a:p>
            <a:pPr algn="l">
              <a:lnSpc>
                <a:spcPct val="105000"/>
              </a:lnSpc>
              <a:spcBef>
                <a:spcPts val="0"/>
              </a:spcBef>
              <a:spcAft>
                <a:spcPts val="0"/>
              </a:spcAft>
            </a:pPr>
            <a:r>
              <a:rPr sz="3900" b="0" i="0">
                <a:solidFill>
                  <a:srgbClr val="FFFFFF"/>
                </a:solidFill>
                <a:latin typeface="Open Sans Light"/>
              </a:rPr>
              <a:t>What it runs on,</a:t>
            </a:r>
          </a:p>
          <a:p>
            <a:pPr>
              <a:lnSpc>
                <a:spcPct val="105000"/>
              </a:lnSpc>
              <a:spcBef>
                <a:spcPts val="0"/>
              </a:spcBef>
              <a:spcAft>
                <a:spcPts val="0"/>
              </a:spcAft>
            </a:pPr>
            <a:r>
              <a:rPr sz="3900" b="0" i="0">
                <a:solidFill>
                  <a:srgbClr val="FFFFFF"/>
                </a:solidFill>
                <a:latin typeface="Open Sans Light"/>
              </a:rPr>
              <a:t>and where the boundary sits</a:t>
            </a:r>
          </a:p>
        </p:txBody>
      </p:sp>
      <p:sp>
        <p:nvSpPr>
          <p:cNvPr id="8" name="Rectangle 7"/>
          <p:cNvSpPr/>
          <p:nvPr/>
        </p:nvSpPr>
        <p:spPr>
          <a:xfrm>
            <a:off x="609600" y="6221730"/>
            <a:ext cx="685800" cy="47625"/>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9A9A9A"/>
                </a:solidFill>
                <a:latin typeface="Open Sans"/>
              </a:rPr>
              <a:t>Information Classification: Confidential</a:t>
            </a:r>
          </a:p>
        </p:txBody>
      </p:sp>
      <p:sp>
        <p:nvSpPr>
          <p:cNvPr id="10" name="TextBox 9"/>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9A9A9A"/>
                </a:solidFill>
                <a:latin typeface="Open Sans"/>
              </a:rPr>
              <a:t>© 2026 Deloitte. For internal use only.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Rectangle 2"/>
          <p:cNvSpPr/>
          <p:nvPr/>
        </p:nvSpPr>
        <p:spPr>
          <a:xfrm>
            <a:off x="457200" y="484822"/>
            <a:ext cx="119063" cy="119063"/>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 name="TextBox 3"/>
          <p:cNvSpPr txBox="1"/>
          <p:nvPr/>
        </p:nvSpPr>
        <p:spPr>
          <a:xfrm>
            <a:off x="695325" y="361950"/>
            <a:ext cx="7858125" cy="419100"/>
          </a:xfrm>
          <a:prstGeom prst="rect">
            <a:avLst/>
          </a:prstGeom>
          <a:noFill/>
        </p:spPr>
        <p:txBody>
          <a:bodyPr wrap="square" anchor="ctr" lIns="0" tIns="0" rIns="0" bIns="0">
            <a:noAutofit/>
          </a:bodyPr>
          <a:lstStyle/>
          <a:p>
            <a:pPr algn="l">
              <a:lnSpc>
                <a:spcPct val="110000"/>
              </a:lnSpc>
              <a:spcBef>
                <a:spcPts val="0"/>
              </a:spcBef>
              <a:spcAft>
                <a:spcPts val="0"/>
              </a:spcAft>
            </a:pPr>
            <a:r>
              <a:rPr sz="2400" b="1" i="0">
                <a:solidFill>
                  <a:srgbClr val="1A1A1A"/>
                </a:solidFill>
                <a:latin typeface="Arial"/>
              </a:rPr>
              <a:t>Technical Architecture</a:t>
            </a:r>
          </a:p>
        </p:txBody>
      </p:sp>
      <p:sp>
        <p:nvSpPr>
          <p:cNvPr id="5" name="TextBox 4"/>
          <p:cNvSpPr txBox="1"/>
          <p:nvPr/>
        </p:nvSpPr>
        <p:spPr>
          <a:xfrm>
            <a:off x="7162800" y="361950"/>
            <a:ext cx="4572000" cy="419100"/>
          </a:xfrm>
          <a:prstGeom prst="rect">
            <a:avLst/>
          </a:prstGeom>
          <a:noFill/>
        </p:spPr>
        <p:txBody>
          <a:bodyPr wrap="square" anchor="ctr" lIns="0" tIns="0" rIns="0" bIns="0">
            <a:noAutofit/>
          </a:bodyPr>
          <a:lstStyle/>
          <a:p>
            <a:pPr algn="r">
              <a:lnSpc>
                <a:spcPct val="110000"/>
              </a:lnSpc>
              <a:spcBef>
                <a:spcPts val="0"/>
              </a:spcBef>
              <a:spcAft>
                <a:spcPts val="0"/>
              </a:spcAft>
            </a:pPr>
            <a:r>
              <a:rPr sz="1000" b="0" i="0">
                <a:solidFill>
                  <a:srgbClr val="63666A"/>
                </a:solidFill>
                <a:latin typeface="Arial"/>
              </a:rPr>
              <a:t>View 03 of 03</a:t>
            </a:r>
          </a:p>
        </p:txBody>
      </p:sp>
      <p:sp>
        <p:nvSpPr>
          <p:cNvPr id="6" name="Rectangle 5"/>
          <p:cNvSpPr/>
          <p:nvPr/>
        </p:nvSpPr>
        <p:spPr>
          <a:xfrm>
            <a:off x="457200" y="952500"/>
            <a:ext cx="9768840" cy="494348"/>
          </a:xfrm>
          <a:prstGeom prst="rect">
            <a:avLst/>
          </a:prstGeom>
          <a:solidFill>
            <a:srgbClr val="63666A">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TextBox 6"/>
          <p:cNvSpPr txBox="1"/>
          <p:nvPr/>
        </p:nvSpPr>
        <p:spPr>
          <a:xfrm>
            <a:off x="548640" y="952500"/>
            <a:ext cx="1133475" cy="49434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63666A"/>
                </a:solidFill>
                <a:latin typeface="Arial"/>
              </a:rPr>
              <a:t>Presentation Tier</a:t>
            </a:r>
          </a:p>
        </p:txBody>
      </p:sp>
      <p:sp>
        <p:nvSpPr>
          <p:cNvPr id="8" name="Rectangle 7"/>
          <p:cNvSpPr/>
          <p:nvPr/>
        </p:nvSpPr>
        <p:spPr>
          <a:xfrm>
            <a:off x="1773555" y="1034891"/>
            <a:ext cx="1355566"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React 19</a:t>
            </a:r>
          </a:p>
        </p:txBody>
      </p:sp>
      <p:sp>
        <p:nvSpPr>
          <p:cNvPr id="9" name="Rectangle 8"/>
          <p:cNvSpPr/>
          <p:nvPr/>
        </p:nvSpPr>
        <p:spPr>
          <a:xfrm>
            <a:off x="3192939" y="1034891"/>
            <a:ext cx="1355566"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Next.js App Router</a:t>
            </a:r>
          </a:p>
        </p:txBody>
      </p:sp>
      <p:sp>
        <p:nvSpPr>
          <p:cNvPr id="10" name="Rectangle 9"/>
          <p:cNvSpPr/>
          <p:nvPr/>
        </p:nvSpPr>
        <p:spPr>
          <a:xfrm>
            <a:off x="4612322" y="1034891"/>
            <a:ext cx="1355566"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Electron Shell</a:t>
            </a:r>
          </a:p>
        </p:txBody>
      </p:sp>
      <p:sp>
        <p:nvSpPr>
          <p:cNvPr id="11" name="Rectangle 10"/>
          <p:cNvSpPr/>
          <p:nvPr/>
        </p:nvSpPr>
        <p:spPr>
          <a:xfrm>
            <a:off x="6031706" y="1034891"/>
            <a:ext cx="1355566"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Expo / RN</a:t>
            </a:r>
          </a:p>
        </p:txBody>
      </p:sp>
      <p:sp>
        <p:nvSpPr>
          <p:cNvPr id="12" name="Rectangle 11"/>
          <p:cNvSpPr/>
          <p:nvPr/>
        </p:nvSpPr>
        <p:spPr>
          <a:xfrm>
            <a:off x="7451090" y="1034891"/>
            <a:ext cx="1355566"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Design Tokens</a:t>
            </a:r>
          </a:p>
        </p:txBody>
      </p:sp>
      <p:sp>
        <p:nvSpPr>
          <p:cNvPr id="13" name="Rectangle 12"/>
          <p:cNvSpPr/>
          <p:nvPr/>
        </p:nvSpPr>
        <p:spPr>
          <a:xfrm>
            <a:off x="8870474" y="1034891"/>
            <a:ext cx="1355566"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TanStack Query</a:t>
            </a:r>
          </a:p>
        </p:txBody>
      </p:sp>
      <p:sp>
        <p:nvSpPr>
          <p:cNvPr id="14" name="Rectangle 13"/>
          <p:cNvSpPr/>
          <p:nvPr/>
        </p:nvSpPr>
        <p:spPr>
          <a:xfrm>
            <a:off x="457200" y="1515428"/>
            <a:ext cx="9768840" cy="494348"/>
          </a:xfrm>
          <a:prstGeom prst="rect">
            <a:avLst/>
          </a:prstGeom>
          <a:solidFill>
            <a:srgbClr val="043B2C">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548640" y="1515428"/>
            <a:ext cx="1133475" cy="49434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043B2C"/>
                </a:solidFill>
                <a:latin typeface="Arial"/>
              </a:rPr>
              <a:t>Interfaces &amp;
Protocols</a:t>
            </a:r>
          </a:p>
        </p:txBody>
      </p:sp>
      <p:sp>
        <p:nvSpPr>
          <p:cNvPr id="16" name="Rectangle 15"/>
          <p:cNvSpPr/>
          <p:nvPr/>
        </p:nvSpPr>
        <p:spPr>
          <a:xfrm>
            <a:off x="1773555" y="1597819"/>
            <a:ext cx="1639443" cy="329565"/>
          </a:xfrm>
          <a:prstGeom prst="rect">
            <a:avLst/>
          </a:prstGeom>
          <a:solidFill>
            <a:srgbClr val="043B2C">
              <a:alpha val="16000"/>
            </a:srgbClr>
          </a:solidFill>
          <a:ln w="6350">
            <a:solidFill>
              <a:srgbClr val="043B2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REST / JSON</a:t>
            </a:r>
          </a:p>
        </p:txBody>
      </p:sp>
      <p:sp>
        <p:nvSpPr>
          <p:cNvPr id="17" name="Rectangle 16"/>
          <p:cNvSpPr/>
          <p:nvPr/>
        </p:nvSpPr>
        <p:spPr>
          <a:xfrm>
            <a:off x="3476816" y="1597819"/>
            <a:ext cx="1639443" cy="329565"/>
          </a:xfrm>
          <a:prstGeom prst="rect">
            <a:avLst/>
          </a:prstGeom>
          <a:solidFill>
            <a:srgbClr val="043B2C">
              <a:alpha val="16000"/>
            </a:srgbClr>
          </a:solidFill>
          <a:ln w="6350">
            <a:solidFill>
              <a:srgbClr val="043B2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WebSocket</a:t>
            </a:r>
          </a:p>
        </p:txBody>
      </p:sp>
      <p:sp>
        <p:nvSpPr>
          <p:cNvPr id="18" name="Rectangle 17"/>
          <p:cNvSpPr/>
          <p:nvPr/>
        </p:nvSpPr>
        <p:spPr>
          <a:xfrm>
            <a:off x="5180076" y="1597819"/>
            <a:ext cx="1639443" cy="329565"/>
          </a:xfrm>
          <a:prstGeom prst="rect">
            <a:avLst/>
          </a:prstGeom>
          <a:solidFill>
            <a:srgbClr val="043B2C">
              <a:alpha val="16000"/>
            </a:srgbClr>
          </a:solidFill>
          <a:ln w="6350">
            <a:solidFill>
              <a:srgbClr val="043B2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Model Context Protocol</a:t>
            </a:r>
          </a:p>
        </p:txBody>
      </p:sp>
      <p:sp>
        <p:nvSpPr>
          <p:cNvPr id="19" name="Rectangle 18"/>
          <p:cNvSpPr/>
          <p:nvPr/>
        </p:nvSpPr>
        <p:spPr>
          <a:xfrm>
            <a:off x="6883337" y="1597819"/>
            <a:ext cx="1639443" cy="329565"/>
          </a:xfrm>
          <a:prstGeom prst="rect">
            <a:avLst/>
          </a:prstGeom>
          <a:solidFill>
            <a:srgbClr val="043B2C">
              <a:alpha val="16000"/>
            </a:srgbClr>
          </a:solidFill>
          <a:ln w="6350">
            <a:solidFill>
              <a:srgbClr val="043B2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Command Line</a:t>
            </a:r>
          </a:p>
        </p:txBody>
      </p:sp>
      <p:sp>
        <p:nvSpPr>
          <p:cNvPr id="20" name="Rectangle 19"/>
          <p:cNvSpPr/>
          <p:nvPr/>
        </p:nvSpPr>
        <p:spPr>
          <a:xfrm>
            <a:off x="8586597" y="1597819"/>
            <a:ext cx="1639443" cy="329565"/>
          </a:xfrm>
          <a:prstGeom prst="rect">
            <a:avLst/>
          </a:prstGeom>
          <a:solidFill>
            <a:srgbClr val="043B2C">
              <a:alpha val="16000"/>
            </a:srgbClr>
          </a:solidFill>
          <a:ln w="6350">
            <a:solidFill>
              <a:srgbClr val="043B2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Webhooks</a:t>
            </a:r>
          </a:p>
        </p:txBody>
      </p:sp>
      <p:sp>
        <p:nvSpPr>
          <p:cNvPr id="21" name="Rectangle 20"/>
          <p:cNvSpPr/>
          <p:nvPr/>
        </p:nvSpPr>
        <p:spPr>
          <a:xfrm>
            <a:off x="457200" y="2078355"/>
            <a:ext cx="9768840" cy="494348"/>
          </a:xfrm>
          <a:prstGeom prst="rect">
            <a:avLst/>
          </a:prstGeom>
          <a:solidFill>
            <a:srgbClr val="63666A">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548640" y="2078355"/>
            <a:ext cx="1133475" cy="49434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63666A"/>
                </a:solidFill>
                <a:latin typeface="Arial"/>
              </a:rPr>
              <a:t>Application
Runtime</a:t>
            </a:r>
          </a:p>
        </p:txBody>
      </p:sp>
      <p:sp>
        <p:nvSpPr>
          <p:cNvPr id="23" name="Rectangle 22"/>
          <p:cNvSpPr/>
          <p:nvPr/>
        </p:nvSpPr>
        <p:spPr>
          <a:xfrm>
            <a:off x="1773555" y="2160746"/>
            <a:ext cx="1355566"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Go 1.26</a:t>
            </a:r>
          </a:p>
        </p:txBody>
      </p:sp>
      <p:sp>
        <p:nvSpPr>
          <p:cNvPr id="24" name="Rectangle 23"/>
          <p:cNvSpPr/>
          <p:nvPr/>
        </p:nvSpPr>
        <p:spPr>
          <a:xfrm>
            <a:off x="3192939" y="2160746"/>
            <a:ext cx="1355566"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Chi Router</a:t>
            </a:r>
          </a:p>
        </p:txBody>
      </p:sp>
      <p:sp>
        <p:nvSpPr>
          <p:cNvPr id="25" name="Rectangle 24"/>
          <p:cNvSpPr/>
          <p:nvPr/>
        </p:nvSpPr>
        <p:spPr>
          <a:xfrm>
            <a:off x="4612322" y="2160746"/>
            <a:ext cx="1355566"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sqlc</a:t>
            </a:r>
          </a:p>
        </p:txBody>
      </p:sp>
      <p:sp>
        <p:nvSpPr>
          <p:cNvPr id="26" name="Rectangle 25"/>
          <p:cNvSpPr/>
          <p:nvPr/>
        </p:nvSpPr>
        <p:spPr>
          <a:xfrm>
            <a:off x="6031706" y="2160746"/>
            <a:ext cx="1355566"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pgx Pool</a:t>
            </a:r>
          </a:p>
        </p:txBody>
      </p:sp>
      <p:sp>
        <p:nvSpPr>
          <p:cNvPr id="27" name="Rectangle 26"/>
          <p:cNvSpPr/>
          <p:nvPr/>
        </p:nvSpPr>
        <p:spPr>
          <a:xfrm>
            <a:off x="7451090" y="2160746"/>
            <a:ext cx="1355566"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Schema Boundary</a:t>
            </a:r>
          </a:p>
        </p:txBody>
      </p:sp>
      <p:sp>
        <p:nvSpPr>
          <p:cNvPr id="28" name="Rectangle 27"/>
          <p:cNvSpPr/>
          <p:nvPr/>
        </p:nvSpPr>
        <p:spPr>
          <a:xfrm>
            <a:off x="8870474" y="2160746"/>
            <a:ext cx="1355566" cy="329565"/>
          </a:xfrm>
          <a:prstGeom prst="rect">
            <a:avLst/>
          </a:prstGeom>
          <a:solidFill>
            <a:srgbClr val="FFFFFF"/>
          </a:solidFill>
          <a:ln w="6350">
            <a:solidFill>
              <a:srgbClr val="63666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60" b="0" i="0">
                <a:solidFill>
                  <a:srgbClr val="1A1A1A"/>
                </a:solidFill>
                <a:latin typeface="Arial"/>
              </a:rPr>
              <a:t>i18next</a:t>
            </a:r>
          </a:p>
        </p:txBody>
      </p:sp>
      <p:sp>
        <p:nvSpPr>
          <p:cNvPr id="29" name="Rectangle 28"/>
          <p:cNvSpPr/>
          <p:nvPr/>
        </p:nvSpPr>
        <p:spPr>
          <a:xfrm>
            <a:off x="457200" y="2641282"/>
            <a:ext cx="9768840" cy="1804988"/>
          </a:xfrm>
          <a:prstGeom prst="rect">
            <a:avLst/>
          </a:prstGeom>
          <a:solidFill>
            <a:srgbClr val="86BC25">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548640" y="2641282"/>
            <a:ext cx="1133475" cy="180498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86BC25"/>
                </a:solidFill>
                <a:latin typeface="Arial"/>
              </a:rPr>
              <a:t>Core Engines</a:t>
            </a:r>
          </a:p>
        </p:txBody>
      </p:sp>
      <p:sp>
        <p:nvSpPr>
          <p:cNvPr id="31" name="Rectangle 30"/>
          <p:cNvSpPr/>
          <p:nvPr/>
        </p:nvSpPr>
        <p:spPr>
          <a:xfrm>
            <a:off x="1773555" y="2723674"/>
            <a:ext cx="2065258" cy="256222"/>
          </a:xfrm>
          <a:prstGeom prst="rect">
            <a:avLst/>
          </a:prstGeom>
          <a:solidFill>
            <a:srgbClr val="86BC25">
              <a:alpha val="20000"/>
            </a:srgbClr>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60" b="1" i="0">
                <a:solidFill>
                  <a:srgbClr val="1A1A1A"/>
                </a:solidFill>
                <a:latin typeface="Arial"/>
              </a:rPr>
              <a:t>Task Engine</a:t>
            </a:r>
          </a:p>
        </p:txBody>
      </p:sp>
      <p:sp>
        <p:nvSpPr>
          <p:cNvPr id="32" name="Rectangle 31"/>
          <p:cNvSpPr/>
          <p:nvPr/>
        </p:nvSpPr>
        <p:spPr>
          <a:xfrm>
            <a:off x="1773555" y="30256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Queue &amp; Claim</a:t>
            </a:r>
          </a:p>
        </p:txBody>
      </p:sp>
      <p:sp>
        <p:nvSpPr>
          <p:cNvPr id="33" name="Rectangle 32"/>
          <p:cNvSpPr/>
          <p:nvPr/>
        </p:nvSpPr>
        <p:spPr>
          <a:xfrm>
            <a:off x="1773555" y="32542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Lease Manager</a:t>
            </a:r>
          </a:p>
        </p:txBody>
      </p:sp>
      <p:sp>
        <p:nvSpPr>
          <p:cNvPr id="34" name="Rectangle 33"/>
          <p:cNvSpPr/>
          <p:nvPr/>
        </p:nvSpPr>
        <p:spPr>
          <a:xfrm>
            <a:off x="1773555" y="34828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Retry Policy</a:t>
            </a:r>
          </a:p>
        </p:txBody>
      </p:sp>
      <p:sp>
        <p:nvSpPr>
          <p:cNvPr id="35" name="Rectangle 34"/>
          <p:cNvSpPr/>
          <p:nvPr/>
        </p:nvSpPr>
        <p:spPr>
          <a:xfrm>
            <a:off x="1773555" y="37114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Watchdogs</a:t>
            </a:r>
          </a:p>
        </p:txBody>
      </p:sp>
      <p:sp>
        <p:nvSpPr>
          <p:cNvPr id="36" name="Rectangle 35"/>
          <p:cNvSpPr/>
          <p:nvPr/>
        </p:nvSpPr>
        <p:spPr>
          <a:xfrm>
            <a:off x="1773555" y="39400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Cancellation</a:t>
            </a:r>
          </a:p>
        </p:txBody>
      </p:sp>
      <p:sp>
        <p:nvSpPr>
          <p:cNvPr id="37" name="Rectangle 36"/>
          <p:cNvSpPr/>
          <p:nvPr/>
        </p:nvSpPr>
        <p:spPr>
          <a:xfrm>
            <a:off x="1773555" y="41686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Orphan Recovery</a:t>
            </a:r>
          </a:p>
        </p:txBody>
      </p:sp>
      <p:sp>
        <p:nvSpPr>
          <p:cNvPr id="38" name="Rectangle 37"/>
          <p:cNvSpPr/>
          <p:nvPr/>
        </p:nvSpPr>
        <p:spPr>
          <a:xfrm>
            <a:off x="3902631" y="2723674"/>
            <a:ext cx="2065258" cy="256222"/>
          </a:xfrm>
          <a:prstGeom prst="rect">
            <a:avLst/>
          </a:prstGeom>
          <a:solidFill>
            <a:srgbClr val="86BC25">
              <a:alpha val="20000"/>
            </a:srgbClr>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60" b="1" i="0">
                <a:solidFill>
                  <a:srgbClr val="1A1A1A"/>
                </a:solidFill>
                <a:latin typeface="Arial"/>
              </a:rPr>
              <a:t>Realtime Engine</a:t>
            </a:r>
          </a:p>
        </p:txBody>
      </p:sp>
      <p:sp>
        <p:nvSpPr>
          <p:cNvPr id="39" name="Rectangle 38"/>
          <p:cNvSpPr/>
          <p:nvPr/>
        </p:nvSpPr>
        <p:spPr>
          <a:xfrm>
            <a:off x="3902631" y="30256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Connection Hub</a:t>
            </a:r>
          </a:p>
        </p:txBody>
      </p:sp>
      <p:sp>
        <p:nvSpPr>
          <p:cNvPr id="40" name="Rectangle 39"/>
          <p:cNvSpPr/>
          <p:nvPr/>
        </p:nvSpPr>
        <p:spPr>
          <a:xfrm>
            <a:off x="3902631" y="32542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Scope Routing</a:t>
            </a:r>
          </a:p>
        </p:txBody>
      </p:sp>
      <p:sp>
        <p:nvSpPr>
          <p:cNvPr id="41" name="Rectangle 40"/>
          <p:cNvSpPr/>
          <p:nvPr/>
        </p:nvSpPr>
        <p:spPr>
          <a:xfrm>
            <a:off x="3902631" y="34828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Redis Relay</a:t>
            </a:r>
          </a:p>
        </p:txBody>
      </p:sp>
      <p:sp>
        <p:nvSpPr>
          <p:cNvPr id="42" name="Rectangle 41"/>
          <p:cNvSpPr/>
          <p:nvPr/>
        </p:nvSpPr>
        <p:spPr>
          <a:xfrm>
            <a:off x="3902631" y="37114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Event Dedup</a:t>
            </a:r>
          </a:p>
        </p:txBody>
      </p:sp>
      <p:sp>
        <p:nvSpPr>
          <p:cNvPr id="43" name="Rectangle 42"/>
          <p:cNvSpPr/>
          <p:nvPr/>
        </p:nvSpPr>
        <p:spPr>
          <a:xfrm>
            <a:off x="3902631" y="39400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Slow-client Evict</a:t>
            </a:r>
          </a:p>
        </p:txBody>
      </p:sp>
      <p:sp>
        <p:nvSpPr>
          <p:cNvPr id="44" name="Rectangle 43"/>
          <p:cNvSpPr/>
          <p:nvPr/>
        </p:nvSpPr>
        <p:spPr>
          <a:xfrm>
            <a:off x="3902631" y="41686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Replay Window</a:t>
            </a:r>
          </a:p>
        </p:txBody>
      </p:sp>
      <p:sp>
        <p:nvSpPr>
          <p:cNvPr id="45" name="Rectangle 44"/>
          <p:cNvSpPr/>
          <p:nvPr/>
        </p:nvSpPr>
        <p:spPr>
          <a:xfrm>
            <a:off x="6031706" y="2723674"/>
            <a:ext cx="2065258" cy="256222"/>
          </a:xfrm>
          <a:prstGeom prst="rect">
            <a:avLst/>
          </a:prstGeom>
          <a:solidFill>
            <a:srgbClr val="86BC25">
              <a:alpha val="20000"/>
            </a:srgbClr>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60" b="1" i="0">
                <a:solidFill>
                  <a:srgbClr val="1A1A1A"/>
                </a:solidFill>
                <a:latin typeface="Arial"/>
              </a:rPr>
              <a:t>Execution Engine</a:t>
            </a:r>
          </a:p>
        </p:txBody>
      </p:sp>
      <p:sp>
        <p:nvSpPr>
          <p:cNvPr id="46" name="Rectangle 45"/>
          <p:cNvSpPr/>
          <p:nvPr/>
        </p:nvSpPr>
        <p:spPr>
          <a:xfrm>
            <a:off x="6031706" y="30256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Runtime Probe</a:t>
            </a:r>
          </a:p>
        </p:txBody>
      </p:sp>
      <p:sp>
        <p:nvSpPr>
          <p:cNvPr id="47" name="Rectangle 46"/>
          <p:cNvSpPr/>
          <p:nvPr/>
        </p:nvSpPr>
        <p:spPr>
          <a:xfrm>
            <a:off x="6031706" y="32542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Worktree Isolation</a:t>
            </a:r>
          </a:p>
        </p:txBody>
      </p:sp>
      <p:sp>
        <p:nvSpPr>
          <p:cNvPr id="48" name="Rectangle 47"/>
          <p:cNvSpPr/>
          <p:nvPr/>
        </p:nvSpPr>
        <p:spPr>
          <a:xfrm>
            <a:off x="6031706" y="34828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Process Group</a:t>
            </a:r>
          </a:p>
        </p:txBody>
      </p:sp>
      <p:sp>
        <p:nvSpPr>
          <p:cNvPr id="49" name="Rectangle 48"/>
          <p:cNvSpPr/>
          <p:nvPr/>
        </p:nvSpPr>
        <p:spPr>
          <a:xfrm>
            <a:off x="6031706" y="37114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Stream Parser</a:t>
            </a:r>
          </a:p>
        </p:txBody>
      </p:sp>
      <p:sp>
        <p:nvSpPr>
          <p:cNvPr id="50" name="Rectangle 49"/>
          <p:cNvSpPr/>
          <p:nvPr/>
        </p:nvSpPr>
        <p:spPr>
          <a:xfrm>
            <a:off x="6031706" y="39400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Failure Classifier</a:t>
            </a:r>
          </a:p>
        </p:txBody>
      </p:sp>
      <p:sp>
        <p:nvSpPr>
          <p:cNvPr id="51" name="Rectangle 50"/>
          <p:cNvSpPr/>
          <p:nvPr/>
        </p:nvSpPr>
        <p:spPr>
          <a:xfrm>
            <a:off x="6031706" y="41686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Usage Capture</a:t>
            </a:r>
          </a:p>
        </p:txBody>
      </p:sp>
      <p:sp>
        <p:nvSpPr>
          <p:cNvPr id="52" name="Rectangle 51"/>
          <p:cNvSpPr/>
          <p:nvPr/>
        </p:nvSpPr>
        <p:spPr>
          <a:xfrm>
            <a:off x="8160782" y="2723674"/>
            <a:ext cx="2065258" cy="256222"/>
          </a:xfrm>
          <a:prstGeom prst="rect">
            <a:avLst/>
          </a:prstGeom>
          <a:solidFill>
            <a:srgbClr val="86BC25">
              <a:alpha val="20000"/>
            </a:srgbClr>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60" b="1" i="0">
                <a:solidFill>
                  <a:srgbClr val="1A1A1A"/>
                </a:solidFill>
                <a:latin typeface="Arial"/>
              </a:rPr>
              <a:t>Governance Engine</a:t>
            </a:r>
          </a:p>
        </p:txBody>
      </p:sp>
      <p:sp>
        <p:nvSpPr>
          <p:cNvPr id="53" name="Rectangle 52"/>
          <p:cNvSpPr/>
          <p:nvPr/>
        </p:nvSpPr>
        <p:spPr>
          <a:xfrm>
            <a:off x="8160782" y="30256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Auth &amp; Tokens</a:t>
            </a:r>
          </a:p>
        </p:txBody>
      </p:sp>
      <p:sp>
        <p:nvSpPr>
          <p:cNvPr id="54" name="Rectangle 53"/>
          <p:cNvSpPr/>
          <p:nvPr/>
        </p:nvSpPr>
        <p:spPr>
          <a:xfrm>
            <a:off x="8160782" y="32542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Access Resolver</a:t>
            </a:r>
          </a:p>
        </p:txBody>
      </p:sp>
      <p:sp>
        <p:nvSpPr>
          <p:cNvPr id="55" name="Rectangle 54"/>
          <p:cNvSpPr/>
          <p:nvPr/>
        </p:nvSpPr>
        <p:spPr>
          <a:xfrm>
            <a:off x="8160782" y="34828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Entitlement Cache</a:t>
            </a:r>
          </a:p>
        </p:txBody>
      </p:sp>
      <p:sp>
        <p:nvSpPr>
          <p:cNvPr id="56" name="Rectangle 55"/>
          <p:cNvSpPr/>
          <p:nvPr/>
        </p:nvSpPr>
        <p:spPr>
          <a:xfrm>
            <a:off x="8160782" y="37114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Feature Flags</a:t>
            </a:r>
          </a:p>
        </p:txBody>
      </p:sp>
      <p:sp>
        <p:nvSpPr>
          <p:cNvPr id="57" name="Rectangle 56"/>
          <p:cNvSpPr/>
          <p:nvPr/>
        </p:nvSpPr>
        <p:spPr>
          <a:xfrm>
            <a:off x="8160782" y="39400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Audit Writer</a:t>
            </a:r>
          </a:p>
        </p:txBody>
      </p:sp>
      <p:sp>
        <p:nvSpPr>
          <p:cNvPr id="58" name="Rectangle 57"/>
          <p:cNvSpPr/>
          <p:nvPr/>
        </p:nvSpPr>
        <p:spPr>
          <a:xfrm>
            <a:off x="8160782" y="4168616"/>
            <a:ext cx="2065258" cy="195262"/>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63666A"/>
                </a:solidFill>
                <a:latin typeface="Arial"/>
              </a:rPr>
              <a:t>Attribution</a:t>
            </a:r>
          </a:p>
        </p:txBody>
      </p:sp>
      <p:sp>
        <p:nvSpPr>
          <p:cNvPr id="59" name="Rectangle 58"/>
          <p:cNvSpPr/>
          <p:nvPr/>
        </p:nvSpPr>
        <p:spPr>
          <a:xfrm>
            <a:off x="457200" y="4514850"/>
            <a:ext cx="9768840" cy="566738"/>
          </a:xfrm>
          <a:prstGeom prst="rect">
            <a:avLst/>
          </a:prstGeom>
          <a:solidFill>
            <a:srgbClr val="0097A9">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0" name="TextBox 59"/>
          <p:cNvSpPr txBox="1"/>
          <p:nvPr/>
        </p:nvSpPr>
        <p:spPr>
          <a:xfrm>
            <a:off x="548640" y="4514850"/>
            <a:ext cx="1133475" cy="56673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0097A9"/>
                </a:solidFill>
                <a:latin typeface="Arial"/>
              </a:rPr>
              <a:t>AI Services</a:t>
            </a:r>
          </a:p>
        </p:txBody>
      </p:sp>
      <p:sp>
        <p:nvSpPr>
          <p:cNvPr id="61" name="Rectangle 60"/>
          <p:cNvSpPr/>
          <p:nvPr/>
        </p:nvSpPr>
        <p:spPr>
          <a:xfrm>
            <a:off x="1773555" y="4597241"/>
            <a:ext cx="2065258" cy="401955"/>
          </a:xfrm>
          <a:prstGeom prst="rect">
            <a:avLst/>
          </a:prstGeom>
          <a:solidFill>
            <a:srgbClr val="0097A9">
              <a:alpha val="16000"/>
            </a:srgbClr>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00" b="0" i="0">
                <a:solidFill>
                  <a:srgbClr val="1A1A1A"/>
                </a:solidFill>
                <a:latin typeface="Arial"/>
              </a:rPr>
              <a:t>Agent CLI Adapters</a:t>
            </a:r>
          </a:p>
          <a:p>
            <a:pPr algn="ctr">
              <a:lnSpc>
                <a:spcPct val="110000"/>
              </a:lnSpc>
              <a:spcBef>
                <a:spcPts val="0"/>
              </a:spcBef>
              <a:spcAft>
                <a:spcPts val="0"/>
              </a:spcAft>
            </a:pPr>
            <a:r>
              <a:rPr sz="620" b="0" i="0">
                <a:solidFill>
                  <a:srgbClr val="63666A"/>
                </a:solidFill>
                <a:latin typeface="Arial"/>
              </a:rPr>
              <a:t>23 protocol families</a:t>
            </a:r>
          </a:p>
        </p:txBody>
      </p:sp>
      <p:sp>
        <p:nvSpPr>
          <p:cNvPr id="62" name="Rectangle 61"/>
          <p:cNvSpPr/>
          <p:nvPr/>
        </p:nvSpPr>
        <p:spPr>
          <a:xfrm>
            <a:off x="3902631" y="4597241"/>
            <a:ext cx="2065258" cy="401955"/>
          </a:xfrm>
          <a:prstGeom prst="rect">
            <a:avLst/>
          </a:prstGeom>
          <a:solidFill>
            <a:srgbClr val="0097A9">
              <a:alpha val="16000"/>
            </a:srgbClr>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00" b="0" i="0">
                <a:solidFill>
                  <a:srgbClr val="1A1A1A"/>
                </a:solidFill>
                <a:latin typeface="Arial"/>
              </a:rPr>
              <a:t>MCP Broker</a:t>
            </a:r>
          </a:p>
          <a:p>
            <a:pPr algn="ctr">
              <a:lnSpc>
                <a:spcPct val="110000"/>
              </a:lnSpc>
              <a:spcBef>
                <a:spcPts val="0"/>
              </a:spcBef>
              <a:spcAft>
                <a:spcPts val="0"/>
              </a:spcAft>
            </a:pPr>
            <a:r>
              <a:rPr sz="620" b="0" i="0">
                <a:solidFill>
                  <a:srgbClr val="63666A"/>
                </a:solidFill>
                <a:latin typeface="Arial"/>
              </a:rPr>
              <a:t>per-connection credentials</a:t>
            </a:r>
          </a:p>
        </p:txBody>
      </p:sp>
      <p:sp>
        <p:nvSpPr>
          <p:cNvPr id="63" name="Rectangle 62"/>
          <p:cNvSpPr/>
          <p:nvPr/>
        </p:nvSpPr>
        <p:spPr>
          <a:xfrm>
            <a:off x="6031706" y="4597241"/>
            <a:ext cx="2065258" cy="401955"/>
          </a:xfrm>
          <a:prstGeom prst="rect">
            <a:avLst/>
          </a:prstGeom>
          <a:solidFill>
            <a:srgbClr val="0097A9">
              <a:alpha val="16000"/>
            </a:srgbClr>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00" b="0" i="0">
                <a:solidFill>
                  <a:srgbClr val="1A1A1A"/>
                </a:solidFill>
                <a:latin typeface="Arial"/>
              </a:rPr>
              <a:t>Model Gateway</a:t>
            </a:r>
          </a:p>
          <a:p>
            <a:pPr algn="ctr">
              <a:lnSpc>
                <a:spcPct val="110000"/>
              </a:lnSpc>
              <a:spcBef>
                <a:spcPts val="0"/>
              </a:spcBef>
              <a:spcAft>
                <a:spcPts val="0"/>
              </a:spcAft>
            </a:pPr>
            <a:r>
              <a:rPr sz="620" b="0" i="0">
                <a:solidFill>
                  <a:srgbClr val="63666A"/>
                </a:solidFill>
                <a:latin typeface="Arial"/>
              </a:rPr>
              <a:t>replaceable endpoint</a:t>
            </a:r>
          </a:p>
        </p:txBody>
      </p:sp>
      <p:sp>
        <p:nvSpPr>
          <p:cNvPr id="64" name="Rectangle 63"/>
          <p:cNvSpPr/>
          <p:nvPr/>
        </p:nvSpPr>
        <p:spPr>
          <a:xfrm>
            <a:off x="8160782" y="4597241"/>
            <a:ext cx="2065258" cy="401955"/>
          </a:xfrm>
          <a:prstGeom prst="rect">
            <a:avLst/>
          </a:prstGeom>
          <a:solidFill>
            <a:srgbClr val="0097A9">
              <a:alpha val="16000"/>
            </a:srgbClr>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00" b="0" i="0">
                <a:solidFill>
                  <a:srgbClr val="1A1A1A"/>
                </a:solidFill>
                <a:latin typeface="Arial"/>
              </a:rPr>
              <a:t>Skill Bundle Resolver</a:t>
            </a:r>
          </a:p>
          <a:p>
            <a:pPr algn="ctr">
              <a:lnSpc>
                <a:spcPct val="110000"/>
              </a:lnSpc>
              <a:spcBef>
                <a:spcPts val="0"/>
              </a:spcBef>
              <a:spcAft>
                <a:spcPts val="0"/>
              </a:spcAft>
            </a:pPr>
            <a:r>
              <a:rPr sz="620" b="0" i="0">
                <a:solidFill>
                  <a:srgbClr val="63666A"/>
                </a:solidFill>
                <a:latin typeface="Arial"/>
              </a:rPr>
              <a:t>content-hashed</a:t>
            </a:r>
          </a:p>
        </p:txBody>
      </p:sp>
      <p:sp>
        <p:nvSpPr>
          <p:cNvPr id="65" name="Rectangle 64"/>
          <p:cNvSpPr/>
          <p:nvPr/>
        </p:nvSpPr>
        <p:spPr>
          <a:xfrm>
            <a:off x="457200" y="5150168"/>
            <a:ext cx="9768840" cy="494348"/>
          </a:xfrm>
          <a:prstGeom prst="rect">
            <a:avLst/>
          </a:prstGeom>
          <a:solidFill>
            <a:srgbClr val="0097A9">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6" name="TextBox 65"/>
          <p:cNvSpPr txBox="1"/>
          <p:nvPr/>
        </p:nvSpPr>
        <p:spPr>
          <a:xfrm>
            <a:off x="548640" y="5150168"/>
            <a:ext cx="1133475" cy="49434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0097A9"/>
                </a:solidFill>
                <a:latin typeface="Arial"/>
              </a:rPr>
              <a:t>Persistence</a:t>
            </a:r>
          </a:p>
        </p:txBody>
      </p:sp>
      <p:sp>
        <p:nvSpPr>
          <p:cNvPr id="67" name="Rectangle 66"/>
          <p:cNvSpPr/>
          <p:nvPr/>
        </p:nvSpPr>
        <p:spPr>
          <a:xfrm>
            <a:off x="1773555" y="5232559"/>
            <a:ext cx="1639443" cy="329565"/>
          </a:xfrm>
          <a:prstGeom prst="rect">
            <a:avLst/>
          </a:prstGeom>
          <a:solidFill>
            <a:srgbClr val="FFFFFF"/>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PostgreSQL 17</a:t>
            </a:r>
          </a:p>
        </p:txBody>
      </p:sp>
      <p:sp>
        <p:nvSpPr>
          <p:cNvPr id="68" name="Rectangle 67"/>
          <p:cNvSpPr/>
          <p:nvPr/>
        </p:nvSpPr>
        <p:spPr>
          <a:xfrm>
            <a:off x="3476816" y="5232559"/>
            <a:ext cx="1639443" cy="329565"/>
          </a:xfrm>
          <a:prstGeom prst="rect">
            <a:avLst/>
          </a:prstGeom>
          <a:solidFill>
            <a:srgbClr val="FFFFFF"/>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Migration Ledger</a:t>
            </a:r>
          </a:p>
        </p:txBody>
      </p:sp>
      <p:sp>
        <p:nvSpPr>
          <p:cNvPr id="69" name="Rectangle 68"/>
          <p:cNvSpPr/>
          <p:nvPr/>
        </p:nvSpPr>
        <p:spPr>
          <a:xfrm>
            <a:off x="5180076" y="5232559"/>
            <a:ext cx="1639443" cy="329565"/>
          </a:xfrm>
          <a:prstGeom prst="rect">
            <a:avLst/>
          </a:prstGeom>
          <a:solidFill>
            <a:srgbClr val="FFFFFF"/>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Redis (optional)</a:t>
            </a:r>
          </a:p>
        </p:txBody>
      </p:sp>
      <p:sp>
        <p:nvSpPr>
          <p:cNvPr id="70" name="Rectangle 69"/>
          <p:cNvSpPr/>
          <p:nvPr/>
        </p:nvSpPr>
        <p:spPr>
          <a:xfrm>
            <a:off x="6883337" y="5232559"/>
            <a:ext cx="1639443" cy="329565"/>
          </a:xfrm>
          <a:prstGeom prst="rect">
            <a:avLst/>
          </a:prstGeom>
          <a:solidFill>
            <a:srgbClr val="FFFFFF"/>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Object Storage</a:t>
            </a:r>
          </a:p>
        </p:txBody>
      </p:sp>
      <p:sp>
        <p:nvSpPr>
          <p:cNvPr id="71" name="Rectangle 70"/>
          <p:cNvSpPr/>
          <p:nvPr/>
        </p:nvSpPr>
        <p:spPr>
          <a:xfrm>
            <a:off x="8586597" y="5232559"/>
            <a:ext cx="1639443" cy="329565"/>
          </a:xfrm>
          <a:prstGeom prst="rect">
            <a:avLst/>
          </a:prstGeom>
          <a:solidFill>
            <a:srgbClr val="FFFFFF"/>
          </a:solidFill>
          <a:ln w="6350">
            <a:solidFill>
              <a:srgbClr val="0097A9"/>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Local Repo Cache</a:t>
            </a:r>
          </a:p>
        </p:txBody>
      </p:sp>
      <p:sp>
        <p:nvSpPr>
          <p:cNvPr id="72" name="Rectangle 71"/>
          <p:cNvSpPr/>
          <p:nvPr/>
        </p:nvSpPr>
        <p:spPr>
          <a:xfrm>
            <a:off x="457200" y="5713095"/>
            <a:ext cx="9768840" cy="494348"/>
          </a:xfrm>
          <a:prstGeom prst="rect">
            <a:avLst/>
          </a:prstGeom>
          <a:solidFill>
            <a:srgbClr val="97999B">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3" name="TextBox 72"/>
          <p:cNvSpPr txBox="1"/>
          <p:nvPr/>
        </p:nvSpPr>
        <p:spPr>
          <a:xfrm>
            <a:off x="548640" y="5713095"/>
            <a:ext cx="1133475" cy="494348"/>
          </a:xfrm>
          <a:prstGeom prst="rect">
            <a:avLst/>
          </a:prstGeom>
          <a:noFill/>
        </p:spPr>
        <p:txBody>
          <a:bodyPr wrap="square" anchor="ctr" lIns="0" tIns="0" rIns="0" bIns="0">
            <a:noAutofit/>
          </a:bodyPr>
          <a:lstStyle/>
          <a:p>
            <a:pPr algn="l">
              <a:lnSpc>
                <a:spcPct val="115000"/>
              </a:lnSpc>
              <a:spcBef>
                <a:spcPts val="0"/>
              </a:spcBef>
              <a:spcAft>
                <a:spcPts val="0"/>
              </a:spcAft>
            </a:pPr>
            <a:r>
              <a:rPr sz="950" b="1" i="0">
                <a:solidFill>
                  <a:srgbClr val="63666A"/>
                </a:solidFill>
                <a:latin typeface="Arial"/>
              </a:rPr>
              <a:t>Runtime &amp;
Deployment</a:t>
            </a:r>
          </a:p>
        </p:txBody>
      </p:sp>
      <p:sp>
        <p:nvSpPr>
          <p:cNvPr id="74" name="Rectangle 73"/>
          <p:cNvSpPr/>
          <p:nvPr/>
        </p:nvSpPr>
        <p:spPr>
          <a:xfrm>
            <a:off x="1773555" y="5795486"/>
            <a:ext cx="2065258" cy="329565"/>
          </a:xfrm>
          <a:prstGeom prst="rect">
            <a:avLst/>
          </a:prstGeom>
          <a:solidFill>
            <a:srgbClr val="97999B">
              <a:alpha val="16000"/>
            </a:srgbClr>
          </a:solidFill>
          <a:ln w="6350">
            <a:solidFill>
              <a:srgbClr val="97999B"/>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Docker Compose</a:t>
            </a:r>
          </a:p>
        </p:txBody>
      </p:sp>
      <p:sp>
        <p:nvSpPr>
          <p:cNvPr id="75" name="Rectangle 74"/>
          <p:cNvSpPr/>
          <p:nvPr/>
        </p:nvSpPr>
        <p:spPr>
          <a:xfrm>
            <a:off x="3902631" y="5795486"/>
            <a:ext cx="2065258" cy="329565"/>
          </a:xfrm>
          <a:prstGeom prst="rect">
            <a:avLst/>
          </a:prstGeom>
          <a:solidFill>
            <a:srgbClr val="97999B">
              <a:alpha val="16000"/>
            </a:srgbClr>
          </a:solidFill>
          <a:ln w="6350">
            <a:solidFill>
              <a:srgbClr val="97999B"/>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Kubernetes / Helm</a:t>
            </a:r>
          </a:p>
        </p:txBody>
      </p:sp>
      <p:sp>
        <p:nvSpPr>
          <p:cNvPr id="76" name="Rectangle 75"/>
          <p:cNvSpPr/>
          <p:nvPr/>
        </p:nvSpPr>
        <p:spPr>
          <a:xfrm>
            <a:off x="6031706" y="5795486"/>
            <a:ext cx="2065258" cy="329565"/>
          </a:xfrm>
          <a:prstGeom prst="rect">
            <a:avLst/>
          </a:prstGeom>
          <a:solidFill>
            <a:srgbClr val="97999B">
              <a:alpha val="16000"/>
            </a:srgbClr>
          </a:solidFill>
          <a:ln w="6350">
            <a:solidFill>
              <a:srgbClr val="97999B"/>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Managed Cloud</a:t>
            </a:r>
          </a:p>
        </p:txBody>
      </p:sp>
      <p:sp>
        <p:nvSpPr>
          <p:cNvPr id="77" name="Rectangle 76"/>
          <p:cNvSpPr/>
          <p:nvPr/>
        </p:nvSpPr>
        <p:spPr>
          <a:xfrm>
            <a:off x="8160782" y="5795486"/>
            <a:ext cx="2065258" cy="329565"/>
          </a:xfrm>
          <a:prstGeom prst="rect">
            <a:avLst/>
          </a:prstGeom>
          <a:solidFill>
            <a:srgbClr val="97999B">
              <a:alpha val="16000"/>
            </a:srgbClr>
          </a:solidFill>
          <a:ln w="6350">
            <a:solidFill>
              <a:srgbClr val="97999B"/>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819" b="0" i="0">
                <a:solidFill>
                  <a:srgbClr val="1A1A1A"/>
                </a:solidFill>
                <a:latin typeface="Arial"/>
              </a:rPr>
              <a:t>Local Daemon Host</a:t>
            </a:r>
          </a:p>
        </p:txBody>
      </p:sp>
      <p:sp>
        <p:nvSpPr>
          <p:cNvPr id="78" name="Rectangle 77"/>
          <p:cNvSpPr/>
          <p:nvPr/>
        </p:nvSpPr>
        <p:spPr>
          <a:xfrm>
            <a:off x="10344150" y="952500"/>
            <a:ext cx="1389698" cy="5254942"/>
          </a:xfrm>
          <a:prstGeom prst="rect">
            <a:avLst/>
          </a:prstGeom>
          <a:solidFill>
            <a:srgbClr val="86BC25">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9" name="Rectangle 78"/>
          <p:cNvSpPr/>
          <p:nvPr/>
        </p:nvSpPr>
        <p:spPr>
          <a:xfrm>
            <a:off x="10344150" y="952500"/>
            <a:ext cx="1389698" cy="310515"/>
          </a:xfrm>
          <a:prstGeom prst="rect">
            <a:avLst/>
          </a:prstGeom>
          <a:solidFill>
            <a:srgbClr val="86BC25">
              <a:alpha val="2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0" name="TextBox 79"/>
          <p:cNvSpPr txBox="1"/>
          <p:nvPr/>
        </p:nvSpPr>
        <p:spPr>
          <a:xfrm>
            <a:off x="10344150" y="952500"/>
            <a:ext cx="1389698" cy="310515"/>
          </a:xfrm>
          <a:prstGeom prst="rect">
            <a:avLst/>
          </a:prstGeom>
          <a:noFill/>
        </p:spPr>
        <p:txBody>
          <a:bodyPr wrap="square" anchor="ctr" lIns="0" tIns="0" rIns="0" bIns="0">
            <a:noAutofit/>
          </a:bodyPr>
          <a:lstStyle/>
          <a:p>
            <a:pPr algn="ctr">
              <a:lnSpc>
                <a:spcPct val="110000"/>
              </a:lnSpc>
              <a:spcBef>
                <a:spcPts val="0"/>
              </a:spcBef>
              <a:spcAft>
                <a:spcPts val="0"/>
              </a:spcAft>
            </a:pPr>
            <a:r>
              <a:rPr sz="840" b="1" i="0">
                <a:solidFill>
                  <a:srgbClr val="1A1A1A"/>
                </a:solidFill>
                <a:latin typeface="Arial"/>
              </a:rPr>
              <a:t>Security &amp; Observability</a:t>
            </a:r>
          </a:p>
        </p:txBody>
      </p:sp>
      <p:sp>
        <p:nvSpPr>
          <p:cNvPr id="81" name="Rectangle 80"/>
          <p:cNvSpPr/>
          <p:nvPr/>
        </p:nvSpPr>
        <p:spPr>
          <a:xfrm>
            <a:off x="10427018" y="1434465"/>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Session &amp; CSRF</a:t>
            </a:r>
          </a:p>
        </p:txBody>
      </p:sp>
      <p:sp>
        <p:nvSpPr>
          <p:cNvPr id="82" name="Rectangle 81"/>
          <p:cNvSpPr/>
          <p:nvPr/>
        </p:nvSpPr>
        <p:spPr>
          <a:xfrm>
            <a:off x="10427018" y="2056447"/>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Task Token Scope</a:t>
            </a:r>
          </a:p>
        </p:txBody>
      </p:sp>
      <p:sp>
        <p:nvSpPr>
          <p:cNvPr id="83" name="Rectangle 82"/>
          <p:cNvSpPr/>
          <p:nvPr/>
        </p:nvSpPr>
        <p:spPr>
          <a:xfrm>
            <a:off x="10427018" y="2678430"/>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Workspace Filter</a:t>
            </a:r>
          </a:p>
        </p:txBody>
      </p:sp>
      <p:sp>
        <p:nvSpPr>
          <p:cNvPr id="84" name="Rectangle 83"/>
          <p:cNvSpPr/>
          <p:nvPr/>
        </p:nvSpPr>
        <p:spPr>
          <a:xfrm>
            <a:off x="10427018" y="3300412"/>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Structured Logs</a:t>
            </a:r>
          </a:p>
        </p:txBody>
      </p:sp>
      <p:sp>
        <p:nvSpPr>
          <p:cNvPr id="85" name="Rectangle 84"/>
          <p:cNvSpPr/>
          <p:nvPr/>
        </p:nvSpPr>
        <p:spPr>
          <a:xfrm>
            <a:off x="10427018" y="3922395"/>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Prometheus Metrics</a:t>
            </a:r>
          </a:p>
        </p:txBody>
      </p:sp>
      <p:sp>
        <p:nvSpPr>
          <p:cNvPr id="86" name="Rectangle 85"/>
          <p:cNvSpPr/>
          <p:nvPr/>
        </p:nvSpPr>
        <p:spPr>
          <a:xfrm>
            <a:off x="10427018" y="4544378"/>
            <a:ext cx="1224915" cy="475298"/>
          </a:xfrm>
          <a:prstGeom prst="rect">
            <a:avLst/>
          </a:prstGeom>
          <a:solidFill>
            <a:srgbClr val="FFFFFF"/>
          </a:solidFill>
          <a:ln w="63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noAutofit/>
          </a:bodyPr>
          <a:lstStyle/>
          <a:p>
            <a:pPr algn="ctr">
              <a:lnSpc>
                <a:spcPct val="112000"/>
              </a:lnSpc>
              <a:spcBef>
                <a:spcPts val="0"/>
              </a:spcBef>
              <a:spcAft>
                <a:spcPts val="0"/>
              </a:spcAft>
            </a:pPr>
            <a:r>
              <a:rPr sz="740" b="0" i="0">
                <a:solidFill>
                  <a:srgbClr val="1A1A1A"/>
                </a:solidFill>
                <a:latin typeface="Arial"/>
              </a:rPr>
              <a:t>Health &amp; Readiness</a:t>
            </a:r>
          </a:p>
        </p:txBody>
      </p:sp>
      <p:sp>
        <p:nvSpPr>
          <p:cNvPr id="87" name="Rectangle 86"/>
          <p:cNvSpPr/>
          <p:nvPr/>
        </p:nvSpPr>
        <p:spPr>
          <a:xfrm>
            <a:off x="609600" y="6391275"/>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8" name="TextBox 87"/>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89" name="TextBox 88"/>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90" name="TextBox 89"/>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STACK AND DEPLOYMENT</a:t>
            </a:r>
          </a:p>
        </p:txBody>
      </p:sp>
      <p:sp>
        <p:nvSpPr>
          <p:cNvPr id="4" name="TextBox 3"/>
          <p:cNvSpPr txBox="1"/>
          <p:nvPr/>
        </p:nvSpPr>
        <p:spPr>
          <a:xfrm>
            <a:off x="609600" y="1028700"/>
            <a:ext cx="10972800" cy="434340"/>
          </a:xfrm>
          <a:prstGeom prst="rect">
            <a:avLst/>
          </a:prstGeom>
          <a:noFill/>
        </p:spPr>
        <p:txBody>
          <a:bodyPr wrap="square" anchor="t" lIns="0" tIns="0" rIns="0" bIns="0">
            <a:noAutofit/>
          </a:bodyPr>
          <a:lstStyle/>
          <a:p>
            <a:pPr algn="l">
              <a:lnSpc>
                <a:spcPct val="106000"/>
              </a:lnSpc>
              <a:spcBef>
                <a:spcPts val="0"/>
              </a:spcBef>
              <a:spcAft>
                <a:spcPts val="0"/>
              </a:spcAft>
            </a:pPr>
            <a:r>
              <a:rPr sz="2700" b="0" i="0">
                <a:solidFill>
                  <a:srgbClr val="000000"/>
                </a:solidFill>
                <a:latin typeface="Open Sans Light"/>
              </a:rPr>
              <a:t>Three deployment forms, one execution model</a:t>
            </a:r>
          </a:p>
        </p:txBody>
      </p:sp>
      <p:sp>
        <p:nvSpPr>
          <p:cNvPr id="5" name="Rectangle 4"/>
          <p:cNvSpPr/>
          <p:nvPr/>
        </p:nvSpPr>
        <p:spPr>
          <a:xfrm>
            <a:off x="609600" y="1539240"/>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09600" y="2305050"/>
            <a:ext cx="5200650" cy="228600"/>
          </a:xfrm>
          <a:prstGeom prst="rect">
            <a:avLst/>
          </a:prstGeom>
          <a:noFill/>
        </p:spPr>
        <p:txBody>
          <a:bodyPr wrap="square" anchor="t" lIns="0" tIns="0" rIns="0" bIns="0">
            <a:noAutofit/>
          </a:bodyPr>
          <a:lstStyle/>
          <a:p>
            <a:pPr algn="l">
              <a:lnSpc>
                <a:spcPct val="100000"/>
              </a:lnSpc>
              <a:spcBef>
                <a:spcPts val="0"/>
              </a:spcBef>
              <a:spcAft>
                <a:spcPts val="0"/>
              </a:spcAft>
            </a:pPr>
            <a:r>
              <a:rPr sz="975" b="1" i="0" spc="90">
                <a:solidFill>
                  <a:srgbClr val="000000"/>
                </a:solidFill>
                <a:latin typeface="Open Sans"/>
              </a:rPr>
              <a:t>THE STACK</a:t>
            </a:r>
          </a:p>
        </p:txBody>
      </p:sp>
      <p:sp>
        <p:nvSpPr>
          <p:cNvPr id="7" name="TextBox 6"/>
          <p:cNvSpPr txBox="1"/>
          <p:nvPr/>
        </p:nvSpPr>
        <p:spPr>
          <a:xfrm>
            <a:off x="609600" y="2590800"/>
            <a:ext cx="1905000" cy="209550"/>
          </a:xfrm>
          <a:prstGeom prst="rect">
            <a:avLst/>
          </a:prstGeom>
          <a:noFill/>
        </p:spPr>
        <p:txBody>
          <a:bodyPr wrap="square" anchor="t" lIns="0" tIns="0" rIns="0" bIns="0">
            <a:noAutofit/>
          </a:bodyPr>
          <a:lstStyle/>
          <a:p>
            <a:pPr algn="l">
              <a:lnSpc>
                <a:spcPct val="120000"/>
              </a:lnSpc>
              <a:spcBef>
                <a:spcPts val="0"/>
              </a:spcBef>
              <a:spcAft>
                <a:spcPts val="0"/>
              </a:spcAft>
            </a:pPr>
            <a:r>
              <a:rPr sz="975" b="1" i="0">
                <a:solidFill>
                  <a:srgbClr val="000000"/>
                </a:solidFill>
                <a:latin typeface="Open Sans"/>
              </a:rPr>
              <a:t>Backend</a:t>
            </a:r>
          </a:p>
        </p:txBody>
      </p:sp>
      <p:sp>
        <p:nvSpPr>
          <p:cNvPr id="8" name="TextBox 7"/>
          <p:cNvSpPr txBox="1"/>
          <p:nvPr/>
        </p:nvSpPr>
        <p:spPr>
          <a:xfrm>
            <a:off x="2571750" y="2590800"/>
            <a:ext cx="3238500" cy="209550"/>
          </a:xfrm>
          <a:prstGeom prst="rect">
            <a:avLst/>
          </a:prstGeom>
          <a:noFill/>
        </p:spPr>
        <p:txBody>
          <a:bodyPr wrap="square" anchor="t" lIns="0" tIns="0" rIns="0" bIns="0">
            <a:noAutofit/>
          </a:bodyPr>
          <a:lstStyle/>
          <a:p>
            <a:pPr algn="l">
              <a:lnSpc>
                <a:spcPct val="120000"/>
              </a:lnSpc>
              <a:spcBef>
                <a:spcPts val="0"/>
              </a:spcBef>
              <a:spcAft>
                <a:spcPts val="0"/>
              </a:spcAft>
            </a:pPr>
            <a:r>
              <a:rPr sz="975" b="0" i="0">
                <a:solidFill>
                  <a:srgbClr val="53565A"/>
                </a:solidFill>
                <a:latin typeface="Open Sans"/>
              </a:rPr>
              <a:t>Go · Chi · sqlc · pgx · WebSocket</a:t>
            </a:r>
          </a:p>
        </p:txBody>
      </p:sp>
      <p:sp>
        <p:nvSpPr>
          <p:cNvPr id="9" name="Rectangle 8"/>
          <p:cNvSpPr/>
          <p:nvPr/>
        </p:nvSpPr>
        <p:spPr>
          <a:xfrm>
            <a:off x="609600" y="2838450"/>
            <a:ext cx="520065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609600" y="2933700"/>
            <a:ext cx="1905000" cy="209550"/>
          </a:xfrm>
          <a:prstGeom prst="rect">
            <a:avLst/>
          </a:prstGeom>
          <a:noFill/>
        </p:spPr>
        <p:txBody>
          <a:bodyPr wrap="square" anchor="t" lIns="0" tIns="0" rIns="0" bIns="0">
            <a:noAutofit/>
          </a:bodyPr>
          <a:lstStyle/>
          <a:p>
            <a:pPr algn="l">
              <a:lnSpc>
                <a:spcPct val="120000"/>
              </a:lnSpc>
              <a:spcBef>
                <a:spcPts val="0"/>
              </a:spcBef>
              <a:spcAft>
                <a:spcPts val="0"/>
              </a:spcAft>
            </a:pPr>
            <a:r>
              <a:rPr sz="975" b="1" i="0">
                <a:solidFill>
                  <a:srgbClr val="000000"/>
                </a:solidFill>
                <a:latin typeface="Open Sans"/>
              </a:rPr>
              <a:t>Database</a:t>
            </a:r>
          </a:p>
        </p:txBody>
      </p:sp>
      <p:sp>
        <p:nvSpPr>
          <p:cNvPr id="11" name="TextBox 10"/>
          <p:cNvSpPr txBox="1"/>
          <p:nvPr/>
        </p:nvSpPr>
        <p:spPr>
          <a:xfrm>
            <a:off x="2571750" y="2933700"/>
            <a:ext cx="3238500" cy="209550"/>
          </a:xfrm>
          <a:prstGeom prst="rect">
            <a:avLst/>
          </a:prstGeom>
          <a:noFill/>
        </p:spPr>
        <p:txBody>
          <a:bodyPr wrap="square" anchor="t" lIns="0" tIns="0" rIns="0" bIns="0">
            <a:noAutofit/>
          </a:bodyPr>
          <a:lstStyle/>
          <a:p>
            <a:pPr algn="l">
              <a:lnSpc>
                <a:spcPct val="120000"/>
              </a:lnSpc>
              <a:spcBef>
                <a:spcPts val="0"/>
              </a:spcBef>
              <a:spcAft>
                <a:spcPts val="0"/>
              </a:spcAft>
            </a:pPr>
            <a:r>
              <a:rPr sz="975" b="0" i="0">
                <a:solidFill>
                  <a:srgbClr val="53565A"/>
                </a:solidFill>
                <a:latin typeface="Open Sans"/>
              </a:rPr>
              <a:t>PostgreSQL 17</a:t>
            </a:r>
          </a:p>
        </p:txBody>
      </p:sp>
      <p:sp>
        <p:nvSpPr>
          <p:cNvPr id="12" name="Rectangle 11"/>
          <p:cNvSpPr/>
          <p:nvPr/>
        </p:nvSpPr>
        <p:spPr>
          <a:xfrm>
            <a:off x="609600" y="3181350"/>
            <a:ext cx="520065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609600" y="3276600"/>
            <a:ext cx="1905000" cy="209550"/>
          </a:xfrm>
          <a:prstGeom prst="rect">
            <a:avLst/>
          </a:prstGeom>
          <a:noFill/>
        </p:spPr>
        <p:txBody>
          <a:bodyPr wrap="square" anchor="t" lIns="0" tIns="0" rIns="0" bIns="0">
            <a:noAutofit/>
          </a:bodyPr>
          <a:lstStyle/>
          <a:p>
            <a:pPr algn="l">
              <a:lnSpc>
                <a:spcPct val="120000"/>
              </a:lnSpc>
              <a:spcBef>
                <a:spcPts val="0"/>
              </a:spcBef>
              <a:spcAft>
                <a:spcPts val="0"/>
              </a:spcAft>
            </a:pPr>
            <a:r>
              <a:rPr sz="975" b="1" i="0">
                <a:solidFill>
                  <a:srgbClr val="000000"/>
                </a:solidFill>
                <a:latin typeface="Open Sans"/>
              </a:rPr>
              <a:t>Cache and coordination</a:t>
            </a:r>
          </a:p>
        </p:txBody>
      </p:sp>
      <p:sp>
        <p:nvSpPr>
          <p:cNvPr id="14" name="TextBox 13"/>
          <p:cNvSpPr txBox="1"/>
          <p:nvPr/>
        </p:nvSpPr>
        <p:spPr>
          <a:xfrm>
            <a:off x="2571750" y="3276600"/>
            <a:ext cx="3238500" cy="209550"/>
          </a:xfrm>
          <a:prstGeom prst="rect">
            <a:avLst/>
          </a:prstGeom>
          <a:noFill/>
        </p:spPr>
        <p:txBody>
          <a:bodyPr wrap="square" anchor="t" lIns="0" tIns="0" rIns="0" bIns="0">
            <a:noAutofit/>
          </a:bodyPr>
          <a:lstStyle/>
          <a:p>
            <a:pPr algn="l">
              <a:lnSpc>
                <a:spcPct val="120000"/>
              </a:lnSpc>
              <a:spcBef>
                <a:spcPts val="0"/>
              </a:spcBef>
              <a:spcAft>
                <a:spcPts val="0"/>
              </a:spcAft>
            </a:pPr>
            <a:r>
              <a:rPr sz="975" b="0" i="0">
                <a:solidFill>
                  <a:srgbClr val="53565A"/>
                </a:solidFill>
                <a:latin typeface="Open Sans"/>
              </a:rPr>
              <a:t>Redis — optional, degrades cleanly</a:t>
            </a:r>
          </a:p>
        </p:txBody>
      </p:sp>
      <p:sp>
        <p:nvSpPr>
          <p:cNvPr id="15" name="Rectangle 14"/>
          <p:cNvSpPr/>
          <p:nvPr/>
        </p:nvSpPr>
        <p:spPr>
          <a:xfrm>
            <a:off x="609600" y="3524250"/>
            <a:ext cx="520065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609600" y="3619500"/>
            <a:ext cx="1905000" cy="209550"/>
          </a:xfrm>
          <a:prstGeom prst="rect">
            <a:avLst/>
          </a:prstGeom>
          <a:noFill/>
        </p:spPr>
        <p:txBody>
          <a:bodyPr wrap="square" anchor="t" lIns="0" tIns="0" rIns="0" bIns="0">
            <a:noAutofit/>
          </a:bodyPr>
          <a:lstStyle/>
          <a:p>
            <a:pPr algn="l">
              <a:lnSpc>
                <a:spcPct val="120000"/>
              </a:lnSpc>
              <a:spcBef>
                <a:spcPts val="0"/>
              </a:spcBef>
              <a:spcAft>
                <a:spcPts val="0"/>
              </a:spcAft>
            </a:pPr>
            <a:r>
              <a:rPr sz="975" b="1" i="0">
                <a:solidFill>
                  <a:srgbClr val="000000"/>
                </a:solidFill>
                <a:latin typeface="Open Sans"/>
              </a:rPr>
              <a:t>Clients</a:t>
            </a:r>
          </a:p>
        </p:txBody>
      </p:sp>
      <p:sp>
        <p:nvSpPr>
          <p:cNvPr id="17" name="TextBox 16"/>
          <p:cNvSpPr txBox="1"/>
          <p:nvPr/>
        </p:nvSpPr>
        <p:spPr>
          <a:xfrm>
            <a:off x="2571750" y="3619500"/>
            <a:ext cx="3238500" cy="209550"/>
          </a:xfrm>
          <a:prstGeom prst="rect">
            <a:avLst/>
          </a:prstGeom>
          <a:noFill/>
        </p:spPr>
        <p:txBody>
          <a:bodyPr wrap="square" anchor="t" lIns="0" tIns="0" rIns="0" bIns="0">
            <a:noAutofit/>
          </a:bodyPr>
          <a:lstStyle/>
          <a:p>
            <a:pPr algn="l">
              <a:lnSpc>
                <a:spcPct val="120000"/>
              </a:lnSpc>
              <a:spcBef>
                <a:spcPts val="0"/>
              </a:spcBef>
              <a:spcAft>
                <a:spcPts val="0"/>
              </a:spcAft>
            </a:pPr>
            <a:r>
              <a:rPr sz="975" b="0" i="0">
                <a:solidFill>
                  <a:srgbClr val="53565A"/>
                </a:solidFill>
                <a:latin typeface="Open Sans"/>
              </a:rPr>
              <a:t>Next.js · Electron · Expo</a:t>
            </a:r>
          </a:p>
        </p:txBody>
      </p:sp>
      <p:sp>
        <p:nvSpPr>
          <p:cNvPr id="18" name="Rectangle 17"/>
          <p:cNvSpPr/>
          <p:nvPr/>
        </p:nvSpPr>
        <p:spPr>
          <a:xfrm>
            <a:off x="609600" y="3867150"/>
            <a:ext cx="520065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TextBox 18"/>
          <p:cNvSpPr txBox="1"/>
          <p:nvPr/>
        </p:nvSpPr>
        <p:spPr>
          <a:xfrm>
            <a:off x="609600" y="3962400"/>
            <a:ext cx="1905000" cy="209550"/>
          </a:xfrm>
          <a:prstGeom prst="rect">
            <a:avLst/>
          </a:prstGeom>
          <a:noFill/>
        </p:spPr>
        <p:txBody>
          <a:bodyPr wrap="square" anchor="t" lIns="0" tIns="0" rIns="0" bIns="0">
            <a:noAutofit/>
          </a:bodyPr>
          <a:lstStyle/>
          <a:p>
            <a:pPr algn="l">
              <a:lnSpc>
                <a:spcPct val="120000"/>
              </a:lnSpc>
              <a:spcBef>
                <a:spcPts val="0"/>
              </a:spcBef>
              <a:spcAft>
                <a:spcPts val="0"/>
              </a:spcAft>
            </a:pPr>
            <a:r>
              <a:rPr sz="975" b="1" i="0">
                <a:solidFill>
                  <a:srgbClr val="000000"/>
                </a:solidFill>
                <a:latin typeface="Open Sans"/>
              </a:rPr>
              <a:t>Execution</a:t>
            </a:r>
          </a:p>
        </p:txBody>
      </p:sp>
      <p:sp>
        <p:nvSpPr>
          <p:cNvPr id="20" name="TextBox 19"/>
          <p:cNvSpPr txBox="1"/>
          <p:nvPr/>
        </p:nvSpPr>
        <p:spPr>
          <a:xfrm>
            <a:off x="2571750" y="3962400"/>
            <a:ext cx="3238500" cy="209550"/>
          </a:xfrm>
          <a:prstGeom prst="rect">
            <a:avLst/>
          </a:prstGeom>
          <a:noFill/>
        </p:spPr>
        <p:txBody>
          <a:bodyPr wrap="square" anchor="t" lIns="0" tIns="0" rIns="0" bIns="0">
            <a:noAutofit/>
          </a:bodyPr>
          <a:lstStyle/>
          <a:p>
            <a:pPr algn="l">
              <a:lnSpc>
                <a:spcPct val="120000"/>
              </a:lnSpc>
              <a:spcBef>
                <a:spcPts val="0"/>
              </a:spcBef>
              <a:spcAft>
                <a:spcPts val="0"/>
              </a:spcAft>
            </a:pPr>
            <a:r>
              <a:rPr sz="975" b="0" i="0">
                <a:solidFill>
                  <a:srgbClr val="53565A"/>
                </a:solidFill>
                <a:latin typeface="Open Sans"/>
              </a:rPr>
              <a:t>Go daemon + agent CLI subprocesses</a:t>
            </a:r>
          </a:p>
        </p:txBody>
      </p:sp>
      <p:sp>
        <p:nvSpPr>
          <p:cNvPr id="21" name="Rectangle 20"/>
          <p:cNvSpPr/>
          <p:nvPr/>
        </p:nvSpPr>
        <p:spPr>
          <a:xfrm>
            <a:off x="609600" y="4210050"/>
            <a:ext cx="520065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09600" y="4305300"/>
            <a:ext cx="1905000" cy="209550"/>
          </a:xfrm>
          <a:prstGeom prst="rect">
            <a:avLst/>
          </a:prstGeom>
          <a:noFill/>
        </p:spPr>
        <p:txBody>
          <a:bodyPr wrap="square" anchor="t" lIns="0" tIns="0" rIns="0" bIns="0">
            <a:noAutofit/>
          </a:bodyPr>
          <a:lstStyle/>
          <a:p>
            <a:pPr algn="l">
              <a:lnSpc>
                <a:spcPct val="120000"/>
              </a:lnSpc>
              <a:spcBef>
                <a:spcPts val="0"/>
              </a:spcBef>
              <a:spcAft>
                <a:spcPts val="0"/>
              </a:spcAft>
            </a:pPr>
            <a:r>
              <a:rPr sz="975" b="1" i="0">
                <a:solidFill>
                  <a:srgbClr val="000000"/>
                </a:solidFill>
                <a:latin typeface="Open Sans"/>
              </a:rPr>
              <a:t>Observability</a:t>
            </a:r>
          </a:p>
        </p:txBody>
      </p:sp>
      <p:sp>
        <p:nvSpPr>
          <p:cNvPr id="23" name="TextBox 22"/>
          <p:cNvSpPr txBox="1"/>
          <p:nvPr/>
        </p:nvSpPr>
        <p:spPr>
          <a:xfrm>
            <a:off x="2571750" y="4305300"/>
            <a:ext cx="3238500" cy="209550"/>
          </a:xfrm>
          <a:prstGeom prst="rect">
            <a:avLst/>
          </a:prstGeom>
          <a:noFill/>
        </p:spPr>
        <p:txBody>
          <a:bodyPr wrap="square" anchor="t" lIns="0" tIns="0" rIns="0" bIns="0">
            <a:noAutofit/>
          </a:bodyPr>
          <a:lstStyle/>
          <a:p>
            <a:pPr algn="l">
              <a:lnSpc>
                <a:spcPct val="120000"/>
              </a:lnSpc>
              <a:spcBef>
                <a:spcPts val="0"/>
              </a:spcBef>
              <a:spcAft>
                <a:spcPts val="0"/>
              </a:spcAft>
            </a:pPr>
            <a:r>
              <a:rPr sz="975" b="0" i="0">
                <a:solidFill>
                  <a:srgbClr val="53565A"/>
                </a:solidFill>
                <a:latin typeface="Open Sans"/>
              </a:rPr>
              <a:t>Structured logs · Prometheus · tracing</a:t>
            </a:r>
          </a:p>
        </p:txBody>
      </p:sp>
      <p:sp>
        <p:nvSpPr>
          <p:cNvPr id="24" name="Rectangle 23"/>
          <p:cNvSpPr/>
          <p:nvPr/>
        </p:nvSpPr>
        <p:spPr>
          <a:xfrm>
            <a:off x="609600" y="4552950"/>
            <a:ext cx="5200650" cy="9525"/>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ectangle 24"/>
          <p:cNvSpPr/>
          <p:nvPr/>
        </p:nvSpPr>
        <p:spPr>
          <a:xfrm>
            <a:off x="609600" y="4705350"/>
            <a:ext cx="5200650" cy="762000"/>
          </a:xfrm>
          <a:prstGeom prst="rect">
            <a:avLst/>
          </a:prstGeom>
          <a:solidFill>
            <a:srgbClr val="E3F0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781050" y="4819650"/>
            <a:ext cx="4876800" cy="571500"/>
          </a:xfrm>
          <a:prstGeom prst="rect">
            <a:avLst/>
          </a:prstGeom>
          <a:noFill/>
        </p:spPr>
        <p:txBody>
          <a:bodyPr wrap="square" anchor="t" lIns="0" tIns="0" rIns="0" bIns="0">
            <a:noAutofit/>
          </a:bodyPr>
          <a:lstStyle/>
          <a:p>
            <a:pPr algn="l">
              <a:lnSpc>
                <a:spcPct val="135000"/>
              </a:lnSpc>
              <a:spcBef>
                <a:spcPts val="0"/>
              </a:spcBef>
              <a:spcAft>
                <a:spcPts val="0"/>
              </a:spcAft>
            </a:pPr>
            <a:r>
              <a:rPr sz="1500" b="1">
                <a:solidFill>
                  <a:srgbClr val="046A38"/>
                </a:solidFill>
                <a:latin typeface="Consolas"/>
              </a:rPr>
              <a:t>23 </a:t>
            </a:r>
            <a:r>
              <a:rPr sz="937" b="0">
                <a:solidFill>
                  <a:srgbClr val="046A38"/>
                </a:solidFill>
                <a:latin typeface="Open Sans"/>
              </a:rPr>
              <a:t>supported agent CLI protocol families — Claude Code, Codex, Copilot, Cursor, Kimi, Qwen, Grok and more.</a:t>
            </a:r>
          </a:p>
        </p:txBody>
      </p:sp>
      <p:sp>
        <p:nvSpPr>
          <p:cNvPr id="27" name="Rectangle 26"/>
          <p:cNvSpPr/>
          <p:nvPr/>
        </p:nvSpPr>
        <p:spPr>
          <a:xfrm>
            <a:off x="6362700" y="2286000"/>
            <a:ext cx="9525" cy="3333750"/>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6819900" y="2305050"/>
            <a:ext cx="4762500" cy="228600"/>
          </a:xfrm>
          <a:prstGeom prst="rect">
            <a:avLst/>
          </a:prstGeom>
          <a:noFill/>
        </p:spPr>
        <p:txBody>
          <a:bodyPr wrap="square" anchor="t" lIns="0" tIns="0" rIns="0" bIns="0">
            <a:noAutofit/>
          </a:bodyPr>
          <a:lstStyle/>
          <a:p>
            <a:pPr algn="l">
              <a:lnSpc>
                <a:spcPct val="100000"/>
              </a:lnSpc>
              <a:spcBef>
                <a:spcPts val="0"/>
              </a:spcBef>
              <a:spcAft>
                <a:spcPts val="0"/>
              </a:spcAft>
            </a:pPr>
            <a:r>
              <a:rPr sz="975" b="1" i="0" spc="90">
                <a:solidFill>
                  <a:srgbClr val="000000"/>
                </a:solidFill>
                <a:latin typeface="Open Sans"/>
              </a:rPr>
              <a:t>DEPLOYMENT FORMS</a:t>
            </a:r>
          </a:p>
        </p:txBody>
      </p:sp>
      <p:sp>
        <p:nvSpPr>
          <p:cNvPr id="29" name="Rectangle 28"/>
          <p:cNvSpPr/>
          <p:nvPr/>
        </p:nvSpPr>
        <p:spPr>
          <a:xfrm>
            <a:off x="6819900" y="2609850"/>
            <a:ext cx="38100" cy="647700"/>
          </a:xfrm>
          <a:prstGeom prst="rect">
            <a:avLst/>
          </a:prstGeom>
          <a:solidFill>
            <a:srgbClr val="979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7010400" y="2581275"/>
            <a:ext cx="2476500" cy="247650"/>
          </a:xfrm>
          <a:prstGeom prst="rect">
            <a:avLst/>
          </a:prstGeom>
          <a:noFill/>
        </p:spPr>
        <p:txBody>
          <a:bodyPr wrap="square" anchor="t" lIns="0" tIns="0" rIns="0" bIns="0">
            <a:noAutofit/>
          </a:bodyPr>
          <a:lstStyle/>
          <a:p>
            <a:pPr algn="l">
              <a:lnSpc>
                <a:spcPct val="120000"/>
              </a:lnSpc>
              <a:spcBef>
                <a:spcPts val="0"/>
              </a:spcBef>
              <a:spcAft>
                <a:spcPts val="0"/>
              </a:spcAft>
            </a:pPr>
            <a:r>
              <a:rPr sz="1200" b="1" i="0">
                <a:solidFill>
                  <a:srgbClr val="000000"/>
                </a:solidFill>
                <a:latin typeface="Open Sans"/>
              </a:rPr>
              <a:t>Enact Cloud</a:t>
            </a:r>
          </a:p>
        </p:txBody>
      </p:sp>
      <p:sp>
        <p:nvSpPr>
          <p:cNvPr id="31" name="Rectangle 30"/>
          <p:cNvSpPr/>
          <p:nvPr/>
        </p:nvSpPr>
        <p:spPr>
          <a:xfrm>
            <a:off x="9810750" y="2590800"/>
            <a:ext cx="729044" cy="2286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5250" rIns="95250" tIns="0" bIns="0">
            <a:noAutofit/>
          </a:bodyPr>
          <a:lstStyle/>
          <a:p>
            <a:pPr algn="ctr">
              <a:lnSpc>
                <a:spcPct val="100000"/>
              </a:lnSpc>
              <a:spcBef>
                <a:spcPts val="0"/>
              </a:spcBef>
              <a:spcAft>
                <a:spcPts val="0"/>
              </a:spcAft>
            </a:pPr>
            <a:r>
              <a:rPr sz="712" b="1" i="0" spc="60">
                <a:solidFill>
                  <a:srgbClr val="53565A"/>
                </a:solidFill>
                <a:latin typeface="Open Sans"/>
              </a:rPr>
              <a:t>MANAGED</a:t>
            </a:r>
          </a:p>
        </p:txBody>
      </p:sp>
      <p:sp>
        <p:nvSpPr>
          <p:cNvPr id="32" name="TextBox 31"/>
          <p:cNvSpPr txBox="1"/>
          <p:nvPr/>
        </p:nvSpPr>
        <p:spPr>
          <a:xfrm>
            <a:off x="7010400" y="2838450"/>
            <a:ext cx="4476750" cy="419100"/>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Fast start, no infrastructure. The only form where metering is active.</a:t>
            </a:r>
          </a:p>
        </p:txBody>
      </p:sp>
      <p:sp>
        <p:nvSpPr>
          <p:cNvPr id="33" name="Rectangle 32"/>
          <p:cNvSpPr/>
          <p:nvPr/>
        </p:nvSpPr>
        <p:spPr>
          <a:xfrm>
            <a:off x="6819900" y="3448050"/>
            <a:ext cx="38100" cy="647700"/>
          </a:xfrm>
          <a:prstGeom prst="rect">
            <a:avLst/>
          </a:prstGeom>
          <a:solidFill>
            <a:srgbClr val="2689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TextBox 33"/>
          <p:cNvSpPr txBox="1"/>
          <p:nvPr/>
        </p:nvSpPr>
        <p:spPr>
          <a:xfrm>
            <a:off x="7010400" y="3419475"/>
            <a:ext cx="2476500" cy="247650"/>
          </a:xfrm>
          <a:prstGeom prst="rect">
            <a:avLst/>
          </a:prstGeom>
          <a:noFill/>
        </p:spPr>
        <p:txBody>
          <a:bodyPr wrap="square" anchor="t" lIns="0" tIns="0" rIns="0" bIns="0">
            <a:noAutofit/>
          </a:bodyPr>
          <a:lstStyle/>
          <a:p>
            <a:pPr algn="l">
              <a:lnSpc>
                <a:spcPct val="120000"/>
              </a:lnSpc>
              <a:spcBef>
                <a:spcPts val="0"/>
              </a:spcBef>
              <a:spcAft>
                <a:spcPts val="0"/>
              </a:spcAft>
            </a:pPr>
            <a:r>
              <a:rPr sz="1200" b="1" i="0">
                <a:solidFill>
                  <a:srgbClr val="000000"/>
                </a:solidFill>
                <a:latin typeface="Open Sans"/>
              </a:rPr>
              <a:t>Docker Compose</a:t>
            </a:r>
          </a:p>
        </p:txBody>
      </p:sp>
      <p:sp>
        <p:nvSpPr>
          <p:cNvPr id="35" name="Rectangle 34"/>
          <p:cNvSpPr/>
          <p:nvPr/>
        </p:nvSpPr>
        <p:spPr>
          <a:xfrm>
            <a:off x="9810750" y="3429000"/>
            <a:ext cx="1004126" cy="2286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5250" rIns="95250" tIns="0" bIns="0">
            <a:noAutofit/>
          </a:bodyPr>
          <a:lstStyle/>
          <a:p>
            <a:pPr algn="ctr">
              <a:lnSpc>
                <a:spcPct val="100000"/>
              </a:lnSpc>
              <a:spcBef>
                <a:spcPts val="0"/>
              </a:spcBef>
              <a:spcAft>
                <a:spcPts val="0"/>
              </a:spcAft>
            </a:pPr>
            <a:r>
              <a:rPr sz="712" b="1" i="0" spc="60">
                <a:solidFill>
                  <a:srgbClr val="53565A"/>
                </a:solidFill>
                <a:latin typeface="Open Sans"/>
              </a:rPr>
              <a:t>SELF-HOSTED</a:t>
            </a:r>
          </a:p>
        </p:txBody>
      </p:sp>
      <p:sp>
        <p:nvSpPr>
          <p:cNvPr id="36" name="TextBox 35"/>
          <p:cNvSpPr txBox="1"/>
          <p:nvPr/>
        </p:nvSpPr>
        <p:spPr>
          <a:xfrm>
            <a:off x="7010400" y="3676650"/>
            <a:ext cx="4476750" cy="419100"/>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Single machine or small scale. Migrations run on container start.</a:t>
            </a:r>
          </a:p>
        </p:txBody>
      </p:sp>
      <p:sp>
        <p:nvSpPr>
          <p:cNvPr id="37" name="Rectangle 36"/>
          <p:cNvSpPr/>
          <p:nvPr/>
        </p:nvSpPr>
        <p:spPr>
          <a:xfrm>
            <a:off x="6819900" y="4286250"/>
            <a:ext cx="38100" cy="6477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TextBox 37"/>
          <p:cNvSpPr txBox="1"/>
          <p:nvPr/>
        </p:nvSpPr>
        <p:spPr>
          <a:xfrm>
            <a:off x="7010400" y="4257675"/>
            <a:ext cx="2476500" cy="247650"/>
          </a:xfrm>
          <a:prstGeom prst="rect">
            <a:avLst/>
          </a:prstGeom>
          <a:noFill/>
        </p:spPr>
        <p:txBody>
          <a:bodyPr wrap="square" anchor="t" lIns="0" tIns="0" rIns="0" bIns="0">
            <a:noAutofit/>
          </a:bodyPr>
          <a:lstStyle/>
          <a:p>
            <a:pPr algn="l">
              <a:lnSpc>
                <a:spcPct val="120000"/>
              </a:lnSpc>
              <a:spcBef>
                <a:spcPts val="0"/>
              </a:spcBef>
              <a:spcAft>
                <a:spcPts val="0"/>
              </a:spcAft>
            </a:pPr>
            <a:r>
              <a:rPr sz="1200" b="1" i="0">
                <a:solidFill>
                  <a:srgbClr val="000000"/>
                </a:solidFill>
                <a:latin typeface="Open Sans"/>
              </a:rPr>
              <a:t>Kubernetes</a:t>
            </a:r>
          </a:p>
        </p:txBody>
      </p:sp>
      <p:sp>
        <p:nvSpPr>
          <p:cNvPr id="39" name="Rectangle 38"/>
          <p:cNvSpPr/>
          <p:nvPr/>
        </p:nvSpPr>
        <p:spPr>
          <a:xfrm>
            <a:off x="9810750" y="4267200"/>
            <a:ext cx="1004126" cy="2286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5250" rIns="95250" tIns="0" bIns="0">
            <a:noAutofit/>
          </a:bodyPr>
          <a:lstStyle/>
          <a:p>
            <a:pPr algn="ctr">
              <a:lnSpc>
                <a:spcPct val="100000"/>
              </a:lnSpc>
              <a:spcBef>
                <a:spcPts val="0"/>
              </a:spcBef>
              <a:spcAft>
                <a:spcPts val="0"/>
              </a:spcAft>
            </a:pPr>
            <a:r>
              <a:rPr sz="712" b="1" i="0" spc="60">
                <a:solidFill>
                  <a:srgbClr val="53565A"/>
                </a:solidFill>
                <a:latin typeface="Open Sans"/>
              </a:rPr>
              <a:t>SELF-HOSTED</a:t>
            </a:r>
          </a:p>
        </p:txBody>
      </p:sp>
      <p:sp>
        <p:nvSpPr>
          <p:cNvPr id="40" name="TextBox 39"/>
          <p:cNvSpPr txBox="1"/>
          <p:nvPr/>
        </p:nvSpPr>
        <p:spPr>
          <a:xfrm>
            <a:off x="7010400" y="4514850"/>
            <a:ext cx="4476750" cy="419100"/>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Helm chart with backend, frontend, database, ingress, config and alerting.</a:t>
            </a:r>
          </a:p>
        </p:txBody>
      </p:sp>
      <p:sp>
        <p:nvSpPr>
          <p:cNvPr id="41" name="Rectangle 40"/>
          <p:cNvSpPr/>
          <p:nvPr/>
        </p:nvSpPr>
        <p:spPr>
          <a:xfrm>
            <a:off x="6819900" y="5143500"/>
            <a:ext cx="47625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2" name="TextBox 41"/>
          <p:cNvSpPr txBox="1"/>
          <p:nvPr/>
        </p:nvSpPr>
        <p:spPr>
          <a:xfrm>
            <a:off x="6819900" y="5257800"/>
            <a:ext cx="4762500" cy="419100"/>
          </a:xfrm>
          <a:prstGeom prst="rect">
            <a:avLst/>
          </a:prstGeom>
          <a:noFill/>
        </p:spPr>
        <p:txBody>
          <a:bodyPr wrap="square" anchor="t" lIns="0" tIns="0" rIns="0" bIns="0">
            <a:noAutofit/>
          </a:bodyPr>
          <a:lstStyle/>
          <a:p>
            <a:pPr algn="l">
              <a:lnSpc>
                <a:spcPct val="135000"/>
              </a:lnSpc>
              <a:spcBef>
                <a:spcPts val="0"/>
              </a:spcBef>
              <a:spcAft>
                <a:spcPts val="0"/>
              </a:spcAft>
            </a:pPr>
            <a:r>
              <a:rPr sz="937" b="0">
                <a:solidFill>
                  <a:srgbClr val="53565A"/>
                </a:solidFill>
                <a:latin typeface="Open Sans"/>
              </a:rPr>
              <a:t>Orthogonal to all three: </a:t>
            </a:r>
            <a:r>
              <a:rPr sz="937" b="1">
                <a:solidFill>
                  <a:srgbClr val="000000"/>
                </a:solidFill>
                <a:latin typeface="Open Sans"/>
              </a:rPr>
              <a:t>where execution happens</a:t>
            </a:r>
            <a:r>
              <a:rPr sz="937" b="0">
                <a:solidFill>
                  <a:srgbClr val="53565A"/>
                </a:solidFill>
                <a:latin typeface="Open Sans"/>
              </a:rPr>
              <a:t> — your own machines behind the firewall, managed cloud runtimes, or both.</a:t>
            </a:r>
          </a:p>
        </p:txBody>
      </p:sp>
      <p:sp>
        <p:nvSpPr>
          <p:cNvPr id="43" name="TextBox 42"/>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44" name="TextBox 43"/>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45" name="TextBox 44"/>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DATA BOUNDARY</a:t>
            </a:r>
          </a:p>
        </p:txBody>
      </p:sp>
      <p:sp>
        <p:nvSpPr>
          <p:cNvPr id="4" name="TextBox 3"/>
          <p:cNvSpPr txBox="1"/>
          <p:nvPr/>
        </p:nvSpPr>
        <p:spPr>
          <a:xfrm>
            <a:off x="609600" y="1028700"/>
            <a:ext cx="10972800" cy="413385"/>
          </a:xfrm>
          <a:prstGeom prst="rect">
            <a:avLst/>
          </a:prstGeom>
          <a:noFill/>
        </p:spPr>
        <p:txBody>
          <a:bodyPr wrap="square" anchor="t" lIns="0" tIns="0" rIns="0" bIns="0">
            <a:noAutofit/>
          </a:bodyPr>
          <a:lstStyle/>
          <a:p>
            <a:pPr algn="l">
              <a:lnSpc>
                <a:spcPct val="106000"/>
              </a:lnSpc>
              <a:spcBef>
                <a:spcPts val="0"/>
              </a:spcBef>
              <a:spcAft>
                <a:spcPts val="0"/>
              </a:spcAft>
            </a:pPr>
            <a:r>
              <a:rPr sz="2550" b="0" i="0">
                <a:solidFill>
                  <a:srgbClr val="000000"/>
                </a:solidFill>
                <a:latin typeface="Open Sans Light"/>
              </a:rPr>
              <a:t>What stays with Enact, what never leaves your machine</a:t>
            </a:r>
          </a:p>
        </p:txBody>
      </p:sp>
      <p:sp>
        <p:nvSpPr>
          <p:cNvPr id="5" name="Rectangle 4"/>
          <p:cNvSpPr/>
          <p:nvPr/>
        </p:nvSpPr>
        <p:spPr>
          <a:xfrm>
            <a:off x="609600" y="1518285"/>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09600" y="2324100"/>
            <a:ext cx="9525000" cy="247650"/>
          </a:xfrm>
          <a:prstGeom prst="rect">
            <a:avLst/>
          </a:prstGeom>
          <a:noFill/>
        </p:spPr>
        <p:txBody>
          <a:bodyPr wrap="square" anchor="t" lIns="0" tIns="0" rIns="0" bIns="0">
            <a:noAutofit/>
          </a:bodyPr>
          <a:lstStyle/>
          <a:p>
            <a:pPr algn="l">
              <a:lnSpc>
                <a:spcPct val="140000"/>
              </a:lnSpc>
              <a:spcBef>
                <a:spcPts val="0"/>
              </a:spcBef>
              <a:spcAft>
                <a:spcPts val="0"/>
              </a:spcAft>
            </a:pPr>
            <a:r>
              <a:rPr sz="1200" b="0">
                <a:solidFill>
                  <a:srgbClr val="53565A"/>
                </a:solidFill>
                <a:latin typeface="Open Sans"/>
              </a:rPr>
              <a:t>This boundary is </a:t>
            </a:r>
            <a:r>
              <a:rPr sz="1200" b="1">
                <a:solidFill>
                  <a:srgbClr val="000000"/>
                </a:solidFill>
                <a:latin typeface="Open Sans"/>
              </a:rPr>
              <a:t>identical</a:t>
            </a:r>
            <a:r>
              <a:rPr sz="1200" b="0">
                <a:solidFill>
                  <a:srgbClr val="53565A"/>
                </a:solidFill>
                <a:latin typeface="Open Sans"/>
              </a:rPr>
              <a:t> on Enact Cloud and in self-hosted deployments — the security review is done once.</a:t>
            </a:r>
          </a:p>
        </p:txBody>
      </p:sp>
      <p:sp>
        <p:nvSpPr>
          <p:cNvPr id="7" name="Rectangle 6"/>
          <p:cNvSpPr/>
          <p:nvPr/>
        </p:nvSpPr>
        <p:spPr>
          <a:xfrm>
            <a:off x="609600" y="2857500"/>
            <a:ext cx="4953000" cy="200025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Rectangle 7"/>
          <p:cNvSpPr/>
          <p:nvPr/>
        </p:nvSpPr>
        <p:spPr>
          <a:xfrm>
            <a:off x="609600" y="2857500"/>
            <a:ext cx="49530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857250" y="3086100"/>
            <a:ext cx="4457700" cy="266700"/>
          </a:xfrm>
          <a:prstGeom prst="rect">
            <a:avLst/>
          </a:prstGeom>
          <a:noFill/>
        </p:spPr>
        <p:txBody>
          <a:bodyPr wrap="square" anchor="t" lIns="0" tIns="0" rIns="0" bIns="0">
            <a:noAutofit/>
          </a:bodyPr>
          <a:lstStyle/>
          <a:p>
            <a:pPr algn="l">
              <a:lnSpc>
                <a:spcPct val="120000"/>
              </a:lnSpc>
              <a:spcBef>
                <a:spcPts val="0"/>
              </a:spcBef>
              <a:spcAft>
                <a:spcPts val="0"/>
              </a:spcAft>
            </a:pPr>
            <a:r>
              <a:rPr sz="1425" b="1" i="0">
                <a:solidFill>
                  <a:srgbClr val="000000"/>
                </a:solidFill>
                <a:latin typeface="Open Sans"/>
              </a:rPr>
              <a:t>Stays in Enact</a:t>
            </a:r>
          </a:p>
        </p:txBody>
      </p:sp>
      <p:sp>
        <p:nvSpPr>
          <p:cNvPr id="10" name="TextBox 9"/>
          <p:cNvSpPr txBox="1"/>
          <p:nvPr/>
        </p:nvSpPr>
        <p:spPr>
          <a:xfrm>
            <a:off x="857250" y="3352800"/>
            <a:ext cx="4457700" cy="190500"/>
          </a:xfrm>
          <a:prstGeom prst="rect">
            <a:avLst/>
          </a:prstGeom>
          <a:noFill/>
        </p:spPr>
        <p:txBody>
          <a:bodyPr wrap="square" anchor="t" lIns="0" tIns="0" rIns="0" bIns="0">
            <a:noAutofit/>
          </a:bodyPr>
          <a:lstStyle/>
          <a:p>
            <a:pPr algn="l">
              <a:lnSpc>
                <a:spcPct val="100000"/>
              </a:lnSpc>
              <a:spcBef>
                <a:spcPts val="0"/>
              </a:spcBef>
              <a:spcAft>
                <a:spcPts val="0"/>
              </a:spcAft>
            </a:pPr>
            <a:r>
              <a:rPr sz="825" b="1" i="0" spc="90">
                <a:solidFill>
                  <a:srgbClr val="26890D"/>
                </a:solidFill>
                <a:latin typeface="Open Sans"/>
              </a:rPr>
              <a:t>CONTROL PLANE</a:t>
            </a:r>
          </a:p>
        </p:txBody>
      </p:sp>
      <p:sp>
        <p:nvSpPr>
          <p:cNvPr id="11" name="Oval 10"/>
          <p:cNvSpPr/>
          <p:nvPr/>
        </p:nvSpPr>
        <p:spPr>
          <a:xfrm>
            <a:off x="866775" y="3730657"/>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019175" y="3648075"/>
            <a:ext cx="4295775" cy="249793"/>
          </a:xfrm>
          <a:prstGeom prst="rect">
            <a:avLst/>
          </a:prstGeom>
          <a:noFill/>
        </p:spPr>
        <p:txBody>
          <a:bodyPr wrap="square" anchor="t" lIns="0" tIns="0" rIns="0" bIns="0">
            <a:noAutofit/>
          </a:bodyPr>
          <a:lstStyle/>
          <a:p>
            <a:pPr algn="l">
              <a:lnSpc>
                <a:spcPct val="135000"/>
              </a:lnSpc>
              <a:spcBef>
                <a:spcPts val="0"/>
              </a:spcBef>
              <a:spcAft>
                <a:spcPts val="0"/>
              </a:spcAft>
            </a:pPr>
            <a:r>
              <a:rPr sz="1012" b="0" i="0">
                <a:solidFill>
                  <a:srgbClr val="53565A"/>
                </a:solidFill>
                <a:latin typeface="Open Sans"/>
              </a:rPr>
              <a:t>Workspaces, work items, comments and statuses</a:t>
            </a:r>
          </a:p>
        </p:txBody>
      </p:sp>
      <p:sp>
        <p:nvSpPr>
          <p:cNvPr id="13" name="Oval 12"/>
          <p:cNvSpPr/>
          <p:nvPr/>
        </p:nvSpPr>
        <p:spPr>
          <a:xfrm>
            <a:off x="866775" y="4009025"/>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19175" y="3926443"/>
            <a:ext cx="4295775" cy="249793"/>
          </a:xfrm>
          <a:prstGeom prst="rect">
            <a:avLst/>
          </a:prstGeom>
          <a:noFill/>
        </p:spPr>
        <p:txBody>
          <a:bodyPr wrap="square" anchor="t" lIns="0" tIns="0" rIns="0" bIns="0">
            <a:noAutofit/>
          </a:bodyPr>
          <a:lstStyle/>
          <a:p>
            <a:pPr algn="l">
              <a:lnSpc>
                <a:spcPct val="135000"/>
              </a:lnSpc>
              <a:spcBef>
                <a:spcPts val="0"/>
              </a:spcBef>
              <a:spcAft>
                <a:spcPts val="0"/>
              </a:spcAft>
            </a:pPr>
            <a:r>
              <a:rPr sz="1012" b="0" i="0">
                <a:solidFill>
                  <a:srgbClr val="53565A"/>
                </a:solidFill>
                <a:latin typeface="Open Sans"/>
              </a:rPr>
              <a:t>Agent configuration and skills</a:t>
            </a:r>
          </a:p>
        </p:txBody>
      </p:sp>
      <p:sp>
        <p:nvSpPr>
          <p:cNvPr id="15" name="Oval 14"/>
          <p:cNvSpPr/>
          <p:nvPr/>
        </p:nvSpPr>
        <p:spPr>
          <a:xfrm>
            <a:off x="866775" y="4287393"/>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019175" y="4204811"/>
            <a:ext cx="4295775" cy="249793"/>
          </a:xfrm>
          <a:prstGeom prst="rect">
            <a:avLst/>
          </a:prstGeom>
          <a:noFill/>
        </p:spPr>
        <p:txBody>
          <a:bodyPr wrap="square" anchor="t" lIns="0" tIns="0" rIns="0" bIns="0">
            <a:noAutofit/>
          </a:bodyPr>
          <a:lstStyle/>
          <a:p>
            <a:pPr algn="l">
              <a:lnSpc>
                <a:spcPct val="135000"/>
              </a:lnSpc>
              <a:spcBef>
                <a:spcPts val="0"/>
              </a:spcBef>
              <a:spcAft>
                <a:spcPts val="0"/>
              </a:spcAft>
            </a:pPr>
            <a:r>
              <a:rPr sz="1012" b="0" i="0">
                <a:solidFill>
                  <a:srgbClr val="53565A"/>
                </a:solidFill>
                <a:latin typeface="Open Sans"/>
              </a:rPr>
              <a:t>Task status, run records and results</a:t>
            </a:r>
          </a:p>
        </p:txBody>
      </p:sp>
      <p:sp>
        <p:nvSpPr>
          <p:cNvPr id="17" name="Rectangle 16"/>
          <p:cNvSpPr/>
          <p:nvPr/>
        </p:nvSpPr>
        <p:spPr>
          <a:xfrm>
            <a:off x="6629400" y="2857500"/>
            <a:ext cx="4953000" cy="2000250"/>
          </a:xfrm>
          <a:prstGeom prst="rect">
            <a:avLst/>
          </a:prstGeom>
          <a:solidFill>
            <a:srgbClr val="0B1F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Rectangle 17"/>
          <p:cNvSpPr/>
          <p:nvPr/>
        </p:nvSpPr>
        <p:spPr>
          <a:xfrm>
            <a:off x="6629400" y="2857500"/>
            <a:ext cx="49530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TextBox 18"/>
          <p:cNvSpPr txBox="1"/>
          <p:nvPr/>
        </p:nvSpPr>
        <p:spPr>
          <a:xfrm>
            <a:off x="6877050" y="3086100"/>
            <a:ext cx="4457700" cy="266700"/>
          </a:xfrm>
          <a:prstGeom prst="rect">
            <a:avLst/>
          </a:prstGeom>
          <a:noFill/>
        </p:spPr>
        <p:txBody>
          <a:bodyPr wrap="square" anchor="t" lIns="0" tIns="0" rIns="0" bIns="0">
            <a:noAutofit/>
          </a:bodyPr>
          <a:lstStyle/>
          <a:p>
            <a:pPr algn="l">
              <a:lnSpc>
                <a:spcPct val="120000"/>
              </a:lnSpc>
              <a:spcBef>
                <a:spcPts val="0"/>
              </a:spcBef>
              <a:spcAft>
                <a:spcPts val="0"/>
              </a:spcAft>
            </a:pPr>
            <a:r>
              <a:rPr sz="1425" b="1" i="0">
                <a:solidFill>
                  <a:srgbClr val="FFFFFF"/>
                </a:solidFill>
                <a:latin typeface="Open Sans"/>
              </a:rPr>
              <a:t>Stays on your machine</a:t>
            </a:r>
          </a:p>
        </p:txBody>
      </p:sp>
      <p:sp>
        <p:nvSpPr>
          <p:cNvPr id="20" name="TextBox 19"/>
          <p:cNvSpPr txBox="1"/>
          <p:nvPr/>
        </p:nvSpPr>
        <p:spPr>
          <a:xfrm>
            <a:off x="6877050" y="3352800"/>
            <a:ext cx="4457700" cy="190500"/>
          </a:xfrm>
          <a:prstGeom prst="rect">
            <a:avLst/>
          </a:prstGeom>
          <a:noFill/>
        </p:spPr>
        <p:txBody>
          <a:bodyPr wrap="square" anchor="t" lIns="0" tIns="0" rIns="0" bIns="0">
            <a:noAutofit/>
          </a:bodyPr>
          <a:lstStyle/>
          <a:p>
            <a:pPr algn="l">
              <a:lnSpc>
                <a:spcPct val="100000"/>
              </a:lnSpc>
              <a:spcBef>
                <a:spcPts val="0"/>
              </a:spcBef>
              <a:spcAft>
                <a:spcPts val="0"/>
              </a:spcAft>
            </a:pPr>
            <a:r>
              <a:rPr sz="825" b="1" i="0" spc="90">
                <a:solidFill>
                  <a:srgbClr val="C0E08A"/>
                </a:solidFill>
                <a:latin typeface="Open Sans"/>
              </a:rPr>
              <a:t>EXECUTION PLANE</a:t>
            </a:r>
          </a:p>
        </p:txBody>
      </p:sp>
      <p:sp>
        <p:nvSpPr>
          <p:cNvPr id="21" name="Oval 20"/>
          <p:cNvSpPr/>
          <p:nvPr/>
        </p:nvSpPr>
        <p:spPr>
          <a:xfrm>
            <a:off x="6886575" y="3730657"/>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7038975" y="3648075"/>
            <a:ext cx="4295775" cy="249793"/>
          </a:xfrm>
          <a:prstGeom prst="rect">
            <a:avLst/>
          </a:prstGeom>
          <a:noFill/>
        </p:spPr>
        <p:txBody>
          <a:bodyPr wrap="square" anchor="t" lIns="0" tIns="0" rIns="0" bIns="0">
            <a:noAutofit/>
          </a:bodyPr>
          <a:lstStyle/>
          <a:p>
            <a:pPr algn="l">
              <a:lnSpc>
                <a:spcPct val="135000"/>
              </a:lnSpc>
              <a:spcBef>
                <a:spcPts val="0"/>
              </a:spcBef>
              <a:spcAft>
                <a:spcPts val="0"/>
              </a:spcAft>
            </a:pPr>
            <a:r>
              <a:rPr sz="1012" b="0" i="0">
                <a:solidFill>
                  <a:srgbClr val="C9D6CB"/>
                </a:solidFill>
                <a:latin typeface="Open Sans"/>
              </a:rPr>
              <a:t>AI coding tools and their credentials</a:t>
            </a:r>
          </a:p>
        </p:txBody>
      </p:sp>
      <p:sp>
        <p:nvSpPr>
          <p:cNvPr id="23" name="Oval 22"/>
          <p:cNvSpPr/>
          <p:nvPr/>
        </p:nvSpPr>
        <p:spPr>
          <a:xfrm>
            <a:off x="6886575" y="4009025"/>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038975" y="3926443"/>
            <a:ext cx="4295775" cy="249793"/>
          </a:xfrm>
          <a:prstGeom prst="rect">
            <a:avLst/>
          </a:prstGeom>
          <a:noFill/>
        </p:spPr>
        <p:txBody>
          <a:bodyPr wrap="square" anchor="t" lIns="0" tIns="0" rIns="0" bIns="0">
            <a:noAutofit/>
          </a:bodyPr>
          <a:lstStyle/>
          <a:p>
            <a:pPr algn="l">
              <a:lnSpc>
                <a:spcPct val="135000"/>
              </a:lnSpc>
              <a:spcBef>
                <a:spcPts val="0"/>
              </a:spcBef>
              <a:spcAft>
                <a:spcPts val="0"/>
              </a:spcAft>
            </a:pPr>
            <a:r>
              <a:rPr sz="1012" b="0" i="0">
                <a:solidFill>
                  <a:srgbClr val="C9D6CB"/>
                </a:solidFill>
                <a:latin typeface="Open Sans"/>
              </a:rPr>
              <a:t>Code directories and local files</a:t>
            </a:r>
          </a:p>
        </p:txBody>
      </p:sp>
      <p:sp>
        <p:nvSpPr>
          <p:cNvPr id="25" name="Oval 24"/>
          <p:cNvSpPr/>
          <p:nvPr/>
        </p:nvSpPr>
        <p:spPr>
          <a:xfrm>
            <a:off x="6886575" y="4287393"/>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7038975" y="4204811"/>
            <a:ext cx="4295775" cy="249793"/>
          </a:xfrm>
          <a:prstGeom prst="rect">
            <a:avLst/>
          </a:prstGeom>
          <a:noFill/>
        </p:spPr>
        <p:txBody>
          <a:bodyPr wrap="square" anchor="t" lIns="0" tIns="0" rIns="0" bIns="0">
            <a:noAutofit/>
          </a:bodyPr>
          <a:lstStyle/>
          <a:p>
            <a:pPr algn="l">
              <a:lnSpc>
                <a:spcPct val="135000"/>
              </a:lnSpc>
              <a:spcBef>
                <a:spcPts val="0"/>
              </a:spcBef>
              <a:spcAft>
                <a:spcPts val="0"/>
              </a:spcAft>
            </a:pPr>
            <a:r>
              <a:rPr sz="1012" b="0" i="0">
                <a:solidFill>
                  <a:srgbClr val="C9D6CB"/>
                </a:solidFill>
                <a:latin typeface="Open Sans"/>
              </a:rPr>
              <a:t>Actual file changes and command execution</a:t>
            </a:r>
          </a:p>
        </p:txBody>
      </p:sp>
      <p:sp>
        <p:nvSpPr>
          <p:cNvPr id="27" name="Rectangle 26"/>
          <p:cNvSpPr/>
          <p:nvPr/>
        </p:nvSpPr>
        <p:spPr>
          <a:xfrm>
            <a:off x="5791200" y="3771900"/>
            <a:ext cx="114300" cy="28575"/>
          </a:xfrm>
          <a:prstGeom prst="rect">
            <a:avLst/>
          </a:prstGeom>
          <a:solidFill>
            <a:srgbClr val="BBB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ectangle 27"/>
          <p:cNvSpPr/>
          <p:nvPr/>
        </p:nvSpPr>
        <p:spPr>
          <a:xfrm>
            <a:off x="6000750" y="3771900"/>
            <a:ext cx="114300" cy="28575"/>
          </a:xfrm>
          <a:prstGeom prst="rect">
            <a:avLst/>
          </a:prstGeom>
          <a:solidFill>
            <a:srgbClr val="BBB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ectangle 28"/>
          <p:cNvSpPr/>
          <p:nvPr/>
        </p:nvSpPr>
        <p:spPr>
          <a:xfrm>
            <a:off x="6210300" y="3771900"/>
            <a:ext cx="114300" cy="28575"/>
          </a:xfrm>
          <a:prstGeom prst="rect">
            <a:avLst/>
          </a:prstGeom>
          <a:solidFill>
            <a:srgbClr val="BBB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5638800" y="3943350"/>
            <a:ext cx="914400" cy="323850"/>
          </a:xfrm>
          <a:prstGeom prst="rect">
            <a:avLst/>
          </a:prstGeom>
          <a:noFill/>
        </p:spPr>
        <p:txBody>
          <a:bodyPr wrap="square" anchor="t" lIns="0" tIns="0" rIns="0" bIns="0">
            <a:noAutofit/>
          </a:bodyPr>
          <a:lstStyle/>
          <a:p>
            <a:pPr algn="ctr">
              <a:lnSpc>
                <a:spcPct val="125000"/>
              </a:lnSpc>
              <a:spcBef>
                <a:spcPts val="0"/>
              </a:spcBef>
              <a:spcAft>
                <a:spcPts val="0"/>
              </a:spcAft>
            </a:pPr>
            <a:r>
              <a:rPr sz="787" b="0" i="0">
                <a:solidFill>
                  <a:srgbClr val="75787B"/>
                </a:solidFill>
                <a:latin typeface="Open Sans"/>
              </a:rPr>
              <a:t>dispatch
results</a:t>
            </a:r>
          </a:p>
        </p:txBody>
      </p:sp>
      <p:sp>
        <p:nvSpPr>
          <p:cNvPr id="31" name="Rectangle 30"/>
          <p:cNvSpPr/>
          <p:nvPr/>
        </p:nvSpPr>
        <p:spPr>
          <a:xfrm>
            <a:off x="609600" y="5162550"/>
            <a:ext cx="10972800" cy="647700"/>
          </a:xfrm>
          <a:prstGeom prst="rect">
            <a:avLst/>
          </a:prstGeom>
          <a:solidFill>
            <a:srgbClr val="FDF3E0"/>
          </a:solidFill>
          <a:ln w="12700">
            <a:solidFill>
              <a:srgbClr val="ED8B00"/>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ectangle 31"/>
          <p:cNvSpPr/>
          <p:nvPr/>
        </p:nvSpPr>
        <p:spPr>
          <a:xfrm>
            <a:off x="609600" y="5162550"/>
            <a:ext cx="38100" cy="647700"/>
          </a:xfrm>
          <a:prstGeom prst="rect">
            <a:avLst/>
          </a:prstGeom>
          <a:solidFill>
            <a:srgbClr val="ED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TextBox 32"/>
          <p:cNvSpPr txBox="1"/>
          <p:nvPr/>
        </p:nvSpPr>
        <p:spPr>
          <a:xfrm>
            <a:off x="819150" y="5276850"/>
            <a:ext cx="1905000" cy="209550"/>
          </a:xfrm>
          <a:prstGeom prst="rect">
            <a:avLst/>
          </a:prstGeom>
          <a:noFill/>
        </p:spPr>
        <p:txBody>
          <a:bodyPr wrap="square" anchor="t" lIns="0" tIns="0" rIns="0" bIns="0">
            <a:noAutofit/>
          </a:bodyPr>
          <a:lstStyle/>
          <a:p>
            <a:pPr algn="l">
              <a:lnSpc>
                <a:spcPct val="100000"/>
              </a:lnSpc>
              <a:spcBef>
                <a:spcPts val="0"/>
              </a:spcBef>
              <a:spcAft>
                <a:spcPts val="0"/>
              </a:spcAft>
            </a:pPr>
            <a:r>
              <a:rPr sz="937" b="1" i="0" spc="80">
                <a:solidFill>
                  <a:srgbClr val="8A5200"/>
                </a:solidFill>
                <a:latin typeface="Open Sans"/>
              </a:rPr>
              <a:t>ONE EXCEPTION</a:t>
            </a:r>
          </a:p>
        </p:txBody>
      </p:sp>
      <p:sp>
        <p:nvSpPr>
          <p:cNvPr id="34" name="TextBox 33"/>
          <p:cNvSpPr txBox="1"/>
          <p:nvPr/>
        </p:nvSpPr>
        <p:spPr>
          <a:xfrm>
            <a:off x="819150" y="5467350"/>
            <a:ext cx="10553700" cy="285750"/>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6B4000"/>
                </a:solidFill>
                <a:latin typeface="Open Sans"/>
              </a:rPr>
              <a:t>Anything saved into an agent’s custom environment variables is stored on the Enact server and passed to the runtime at execution time. Do not put secrets there that must never leave your machine.</a:t>
            </a:r>
          </a:p>
        </p:txBody>
      </p:sp>
      <p:sp>
        <p:nvSpPr>
          <p:cNvPr id="35" name="TextBox 34"/>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36" name="TextBox 35"/>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37" name="TextBox 36"/>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SECURITY</a:t>
            </a:r>
          </a:p>
        </p:txBody>
      </p:sp>
      <p:sp>
        <p:nvSpPr>
          <p:cNvPr id="4" name="TextBox 3"/>
          <p:cNvSpPr txBox="1"/>
          <p:nvPr/>
        </p:nvSpPr>
        <p:spPr>
          <a:xfrm>
            <a:off x="609600" y="1028700"/>
            <a:ext cx="10972800" cy="434340"/>
          </a:xfrm>
          <a:prstGeom prst="rect">
            <a:avLst/>
          </a:prstGeom>
          <a:noFill/>
        </p:spPr>
        <p:txBody>
          <a:bodyPr wrap="square" anchor="t" lIns="0" tIns="0" rIns="0" bIns="0">
            <a:noAutofit/>
          </a:bodyPr>
          <a:lstStyle/>
          <a:p>
            <a:pPr algn="l">
              <a:lnSpc>
                <a:spcPct val="106000"/>
              </a:lnSpc>
              <a:spcBef>
                <a:spcPts val="0"/>
              </a:spcBef>
              <a:spcAft>
                <a:spcPts val="0"/>
              </a:spcAft>
            </a:pPr>
            <a:r>
              <a:rPr sz="2700" b="0" i="0">
                <a:solidFill>
                  <a:srgbClr val="000000"/>
                </a:solidFill>
                <a:latin typeface="Open Sans Light"/>
              </a:rPr>
              <a:t>Tiered credentials and layered authorisation</a:t>
            </a:r>
          </a:p>
        </p:txBody>
      </p:sp>
      <p:sp>
        <p:nvSpPr>
          <p:cNvPr id="5" name="Rectangle 4"/>
          <p:cNvSpPr/>
          <p:nvPr/>
        </p:nvSpPr>
        <p:spPr>
          <a:xfrm>
            <a:off x="609600" y="1539240"/>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09600" y="2305050"/>
            <a:ext cx="5200650" cy="228600"/>
          </a:xfrm>
          <a:prstGeom prst="rect">
            <a:avLst/>
          </a:prstGeom>
          <a:noFill/>
        </p:spPr>
        <p:txBody>
          <a:bodyPr wrap="square" anchor="t" lIns="0" tIns="0" rIns="0" bIns="0">
            <a:noAutofit/>
          </a:bodyPr>
          <a:lstStyle/>
          <a:p>
            <a:pPr algn="l">
              <a:lnSpc>
                <a:spcPct val="100000"/>
              </a:lnSpc>
              <a:spcBef>
                <a:spcPts val="0"/>
              </a:spcBef>
              <a:spcAft>
                <a:spcPts val="0"/>
              </a:spcAft>
            </a:pPr>
            <a:r>
              <a:rPr sz="975" b="1" i="0" spc="90">
                <a:solidFill>
                  <a:srgbClr val="000000"/>
                </a:solidFill>
                <a:latin typeface="Open Sans"/>
              </a:rPr>
              <a:t>CREDENTIAL TIERS</a:t>
            </a:r>
          </a:p>
        </p:txBody>
      </p:sp>
      <p:sp>
        <p:nvSpPr>
          <p:cNvPr id="7" name="TextBox 6"/>
          <p:cNvSpPr txBox="1"/>
          <p:nvPr/>
        </p:nvSpPr>
        <p:spPr>
          <a:xfrm>
            <a:off x="609600" y="2590800"/>
            <a:ext cx="1809750" cy="209550"/>
          </a:xfrm>
          <a:prstGeom prst="rect">
            <a:avLst/>
          </a:prstGeom>
          <a:noFill/>
        </p:spPr>
        <p:txBody>
          <a:bodyPr wrap="square" anchor="t" lIns="0" tIns="0" rIns="0" bIns="0">
            <a:noAutofit/>
          </a:bodyPr>
          <a:lstStyle/>
          <a:p>
            <a:pPr algn="l">
              <a:lnSpc>
                <a:spcPct val="120000"/>
              </a:lnSpc>
              <a:spcBef>
                <a:spcPts val="0"/>
              </a:spcBef>
              <a:spcAft>
                <a:spcPts val="0"/>
              </a:spcAft>
            </a:pPr>
            <a:r>
              <a:rPr sz="975" b="1" i="0">
                <a:solidFill>
                  <a:srgbClr val="000000"/>
                </a:solidFill>
                <a:latin typeface="Open Sans"/>
              </a:rPr>
              <a:t>Session</a:t>
            </a:r>
          </a:p>
        </p:txBody>
      </p:sp>
      <p:sp>
        <p:nvSpPr>
          <p:cNvPr id="8" name="TextBox 7"/>
          <p:cNvSpPr txBox="1"/>
          <p:nvPr/>
        </p:nvSpPr>
        <p:spPr>
          <a:xfrm>
            <a:off x="2476500" y="2581275"/>
            <a:ext cx="3333750" cy="381000"/>
          </a:xfrm>
          <a:prstGeom prst="rect">
            <a:avLst/>
          </a:prstGeom>
          <a:noFill/>
        </p:spPr>
        <p:txBody>
          <a:bodyPr wrap="square" anchor="t" lIns="0" tIns="0" rIns="0" bIns="0">
            <a:noAutofit/>
          </a:bodyPr>
          <a:lstStyle/>
          <a:p>
            <a:pPr algn="l">
              <a:lnSpc>
                <a:spcPct val="130000"/>
              </a:lnSpc>
              <a:spcBef>
                <a:spcPts val="0"/>
              </a:spcBef>
              <a:spcAft>
                <a:spcPts val="0"/>
              </a:spcAft>
            </a:pPr>
            <a:r>
              <a:rPr sz="937" b="0" i="0">
                <a:solidFill>
                  <a:srgbClr val="53565A"/>
                </a:solidFill>
                <a:latin typeface="Open Sans"/>
              </a:rPr>
              <a:t>JWT in an HttpOnly cookie; CSRF on state change</a:t>
            </a:r>
          </a:p>
        </p:txBody>
      </p:sp>
      <p:sp>
        <p:nvSpPr>
          <p:cNvPr id="9" name="TextBox 8"/>
          <p:cNvSpPr txBox="1"/>
          <p:nvPr/>
        </p:nvSpPr>
        <p:spPr>
          <a:xfrm>
            <a:off x="609600" y="3009900"/>
            <a:ext cx="1809750" cy="209550"/>
          </a:xfrm>
          <a:prstGeom prst="rect">
            <a:avLst/>
          </a:prstGeom>
          <a:noFill/>
        </p:spPr>
        <p:txBody>
          <a:bodyPr wrap="square" anchor="t" lIns="0" tIns="0" rIns="0" bIns="0">
            <a:noAutofit/>
          </a:bodyPr>
          <a:lstStyle/>
          <a:p>
            <a:pPr algn="l">
              <a:lnSpc>
                <a:spcPct val="120000"/>
              </a:lnSpc>
              <a:spcBef>
                <a:spcPts val="0"/>
              </a:spcBef>
              <a:spcAft>
                <a:spcPts val="0"/>
              </a:spcAft>
            </a:pPr>
            <a:r>
              <a:rPr sz="975" b="1" i="0">
                <a:solidFill>
                  <a:srgbClr val="000000"/>
                </a:solidFill>
                <a:latin typeface="Open Sans"/>
              </a:rPr>
              <a:t>Personal access token</a:t>
            </a:r>
          </a:p>
        </p:txBody>
      </p:sp>
      <p:sp>
        <p:nvSpPr>
          <p:cNvPr id="10" name="TextBox 9"/>
          <p:cNvSpPr txBox="1"/>
          <p:nvPr/>
        </p:nvSpPr>
        <p:spPr>
          <a:xfrm>
            <a:off x="2476500" y="3000375"/>
            <a:ext cx="3333750" cy="381000"/>
          </a:xfrm>
          <a:prstGeom prst="rect">
            <a:avLst/>
          </a:prstGeom>
          <a:noFill/>
        </p:spPr>
        <p:txBody>
          <a:bodyPr wrap="square" anchor="t" lIns="0" tIns="0" rIns="0" bIns="0">
            <a:noAutofit/>
          </a:bodyPr>
          <a:lstStyle/>
          <a:p>
            <a:pPr algn="l">
              <a:lnSpc>
                <a:spcPct val="130000"/>
              </a:lnSpc>
              <a:spcBef>
                <a:spcPts val="0"/>
              </a:spcBef>
              <a:spcAft>
                <a:spcPts val="0"/>
              </a:spcAft>
            </a:pPr>
            <a:r>
              <a:rPr sz="937" b="0" i="0">
                <a:solidFill>
                  <a:srgbClr val="53565A"/>
                </a:solidFill>
                <a:latin typeface="Open Sans"/>
              </a:rPr>
              <a:t>CLI, scripts and automation; revocable</a:t>
            </a:r>
          </a:p>
        </p:txBody>
      </p:sp>
      <p:sp>
        <p:nvSpPr>
          <p:cNvPr id="11" name="Rectangle 10"/>
          <p:cNvSpPr/>
          <p:nvPr/>
        </p:nvSpPr>
        <p:spPr>
          <a:xfrm>
            <a:off x="533400" y="3371850"/>
            <a:ext cx="5353050" cy="381000"/>
          </a:xfrm>
          <a:prstGeom prst="rect">
            <a:avLst/>
          </a:prstGeom>
          <a:solidFill>
            <a:srgbClr val="E3F0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609600" y="3429000"/>
            <a:ext cx="1809750" cy="209550"/>
          </a:xfrm>
          <a:prstGeom prst="rect">
            <a:avLst/>
          </a:prstGeom>
          <a:noFill/>
        </p:spPr>
        <p:txBody>
          <a:bodyPr wrap="square" anchor="t" lIns="0" tIns="0" rIns="0" bIns="0">
            <a:noAutofit/>
          </a:bodyPr>
          <a:lstStyle/>
          <a:p>
            <a:pPr algn="l">
              <a:lnSpc>
                <a:spcPct val="120000"/>
              </a:lnSpc>
              <a:spcBef>
                <a:spcPts val="0"/>
              </a:spcBef>
              <a:spcAft>
                <a:spcPts val="0"/>
              </a:spcAft>
            </a:pPr>
            <a:r>
              <a:rPr sz="975" b="1" i="0">
                <a:solidFill>
                  <a:srgbClr val="046A38"/>
                </a:solidFill>
                <a:latin typeface="Open Sans"/>
              </a:rPr>
              <a:t>Task token</a:t>
            </a:r>
          </a:p>
        </p:txBody>
      </p:sp>
      <p:sp>
        <p:nvSpPr>
          <p:cNvPr id="13" name="TextBox 12"/>
          <p:cNvSpPr txBox="1"/>
          <p:nvPr/>
        </p:nvSpPr>
        <p:spPr>
          <a:xfrm>
            <a:off x="2476500" y="3419475"/>
            <a:ext cx="3333750" cy="381000"/>
          </a:xfrm>
          <a:prstGeom prst="rect">
            <a:avLst/>
          </a:prstGeom>
          <a:noFill/>
        </p:spPr>
        <p:txBody>
          <a:bodyPr wrap="square" anchor="t" lIns="0" tIns="0" rIns="0" bIns="0">
            <a:noAutofit/>
          </a:bodyPr>
          <a:lstStyle/>
          <a:p>
            <a:pPr algn="l">
              <a:lnSpc>
                <a:spcPct val="130000"/>
              </a:lnSpc>
              <a:spcBef>
                <a:spcPts val="0"/>
              </a:spcBef>
              <a:spcAft>
                <a:spcPts val="0"/>
              </a:spcAft>
            </a:pPr>
            <a:r>
              <a:rPr sz="937" b="0" i="0">
                <a:solidFill>
                  <a:srgbClr val="53565A"/>
                </a:solidFill>
                <a:latin typeface="Open Sans"/>
              </a:rPr>
              <a:t>Bound to user, agent, task and workspace; expires with the run</a:t>
            </a:r>
          </a:p>
        </p:txBody>
      </p:sp>
      <p:sp>
        <p:nvSpPr>
          <p:cNvPr id="14" name="TextBox 13"/>
          <p:cNvSpPr txBox="1"/>
          <p:nvPr/>
        </p:nvSpPr>
        <p:spPr>
          <a:xfrm>
            <a:off x="609600" y="3848100"/>
            <a:ext cx="1809750" cy="209550"/>
          </a:xfrm>
          <a:prstGeom prst="rect">
            <a:avLst/>
          </a:prstGeom>
          <a:noFill/>
        </p:spPr>
        <p:txBody>
          <a:bodyPr wrap="square" anchor="t" lIns="0" tIns="0" rIns="0" bIns="0">
            <a:noAutofit/>
          </a:bodyPr>
          <a:lstStyle/>
          <a:p>
            <a:pPr algn="l">
              <a:lnSpc>
                <a:spcPct val="120000"/>
              </a:lnSpc>
              <a:spcBef>
                <a:spcPts val="0"/>
              </a:spcBef>
              <a:spcAft>
                <a:spcPts val="0"/>
              </a:spcAft>
            </a:pPr>
            <a:r>
              <a:rPr sz="975" b="1" i="0">
                <a:solidFill>
                  <a:srgbClr val="000000"/>
                </a:solidFill>
                <a:latin typeface="Open Sans"/>
              </a:rPr>
              <a:t>Daemon token</a:t>
            </a:r>
          </a:p>
        </p:txBody>
      </p:sp>
      <p:sp>
        <p:nvSpPr>
          <p:cNvPr id="15" name="TextBox 14"/>
          <p:cNvSpPr txBox="1"/>
          <p:nvPr/>
        </p:nvSpPr>
        <p:spPr>
          <a:xfrm>
            <a:off x="2476500" y="3838575"/>
            <a:ext cx="3333750" cy="381000"/>
          </a:xfrm>
          <a:prstGeom prst="rect">
            <a:avLst/>
          </a:prstGeom>
          <a:noFill/>
        </p:spPr>
        <p:txBody>
          <a:bodyPr wrap="square" anchor="t" lIns="0" tIns="0" rIns="0" bIns="0">
            <a:noAutofit/>
          </a:bodyPr>
          <a:lstStyle/>
          <a:p>
            <a:pPr algn="l">
              <a:lnSpc>
                <a:spcPct val="130000"/>
              </a:lnSpc>
              <a:spcBef>
                <a:spcPts val="0"/>
              </a:spcBef>
              <a:spcAft>
                <a:spcPts val="0"/>
              </a:spcAft>
            </a:pPr>
            <a:r>
              <a:rPr sz="937" b="0" i="0">
                <a:solidFill>
                  <a:srgbClr val="53565A"/>
                </a:solidFill>
                <a:latin typeface="Open Sans"/>
              </a:rPr>
              <a:t>Execution-machine identity, established by pairing</a:t>
            </a:r>
          </a:p>
        </p:txBody>
      </p:sp>
      <p:sp>
        <p:nvSpPr>
          <p:cNvPr id="16" name="TextBox 15"/>
          <p:cNvSpPr txBox="1"/>
          <p:nvPr/>
        </p:nvSpPr>
        <p:spPr>
          <a:xfrm>
            <a:off x="609600" y="4267200"/>
            <a:ext cx="1809750" cy="209550"/>
          </a:xfrm>
          <a:prstGeom prst="rect">
            <a:avLst/>
          </a:prstGeom>
          <a:noFill/>
        </p:spPr>
        <p:txBody>
          <a:bodyPr wrap="square" anchor="t" lIns="0" tIns="0" rIns="0" bIns="0">
            <a:noAutofit/>
          </a:bodyPr>
          <a:lstStyle/>
          <a:p>
            <a:pPr algn="l">
              <a:lnSpc>
                <a:spcPct val="120000"/>
              </a:lnSpc>
              <a:spcBef>
                <a:spcPts val="0"/>
              </a:spcBef>
              <a:spcAft>
                <a:spcPts val="0"/>
              </a:spcAft>
            </a:pPr>
            <a:r>
              <a:rPr sz="975" b="1" i="0">
                <a:solidFill>
                  <a:srgbClr val="000000"/>
                </a:solidFill>
                <a:latin typeface="Open Sans"/>
              </a:rPr>
              <a:t>Plugin token</a:t>
            </a:r>
          </a:p>
        </p:txBody>
      </p:sp>
      <p:sp>
        <p:nvSpPr>
          <p:cNvPr id="17" name="TextBox 16"/>
          <p:cNvSpPr txBox="1"/>
          <p:nvPr/>
        </p:nvSpPr>
        <p:spPr>
          <a:xfrm>
            <a:off x="2476500" y="4257675"/>
            <a:ext cx="3333750" cy="381000"/>
          </a:xfrm>
          <a:prstGeom prst="rect">
            <a:avLst/>
          </a:prstGeom>
          <a:noFill/>
        </p:spPr>
        <p:txBody>
          <a:bodyPr wrap="square" anchor="t" lIns="0" tIns="0" rIns="0" bIns="0">
            <a:noAutofit/>
          </a:bodyPr>
          <a:lstStyle/>
          <a:p>
            <a:pPr algn="l">
              <a:lnSpc>
                <a:spcPct val="130000"/>
              </a:lnSpc>
              <a:spcBef>
                <a:spcPts val="0"/>
              </a:spcBef>
              <a:spcAft>
                <a:spcPts val="0"/>
              </a:spcAft>
            </a:pPr>
            <a:r>
              <a:rPr sz="937" b="0" i="0">
                <a:solidFill>
                  <a:srgbClr val="53565A"/>
                </a:solidFill>
                <a:latin typeface="Open Sans"/>
              </a:rPr>
              <a:t>Action API calls; rotatable and revocable</a:t>
            </a:r>
          </a:p>
        </p:txBody>
      </p:sp>
      <p:sp>
        <p:nvSpPr>
          <p:cNvPr id="18" name="TextBox 17"/>
          <p:cNvSpPr txBox="1"/>
          <p:nvPr/>
        </p:nvSpPr>
        <p:spPr>
          <a:xfrm>
            <a:off x="609600" y="4686300"/>
            <a:ext cx="1809750" cy="209550"/>
          </a:xfrm>
          <a:prstGeom prst="rect">
            <a:avLst/>
          </a:prstGeom>
          <a:noFill/>
        </p:spPr>
        <p:txBody>
          <a:bodyPr wrap="square" anchor="t" lIns="0" tIns="0" rIns="0" bIns="0">
            <a:noAutofit/>
          </a:bodyPr>
          <a:lstStyle/>
          <a:p>
            <a:pPr algn="l">
              <a:lnSpc>
                <a:spcPct val="120000"/>
              </a:lnSpc>
              <a:spcBef>
                <a:spcPts val="0"/>
              </a:spcBef>
              <a:spcAft>
                <a:spcPts val="0"/>
              </a:spcAft>
            </a:pPr>
            <a:r>
              <a:rPr sz="975" b="1" i="0">
                <a:solidFill>
                  <a:srgbClr val="000000"/>
                </a:solidFill>
                <a:latin typeface="Open Sans"/>
              </a:rPr>
              <a:t>Signed capability URL</a:t>
            </a:r>
          </a:p>
        </p:txBody>
      </p:sp>
      <p:sp>
        <p:nvSpPr>
          <p:cNvPr id="19" name="TextBox 18"/>
          <p:cNvSpPr txBox="1"/>
          <p:nvPr/>
        </p:nvSpPr>
        <p:spPr>
          <a:xfrm>
            <a:off x="2476500" y="4676775"/>
            <a:ext cx="3333750" cy="381000"/>
          </a:xfrm>
          <a:prstGeom prst="rect">
            <a:avLst/>
          </a:prstGeom>
          <a:noFill/>
        </p:spPr>
        <p:txBody>
          <a:bodyPr wrap="square" anchor="t" lIns="0" tIns="0" rIns="0" bIns="0">
            <a:noAutofit/>
          </a:bodyPr>
          <a:lstStyle/>
          <a:p>
            <a:pPr algn="l">
              <a:lnSpc>
                <a:spcPct val="130000"/>
              </a:lnSpc>
              <a:spcBef>
                <a:spcPts val="0"/>
              </a:spcBef>
              <a:spcAft>
                <a:spcPts val="0"/>
              </a:spcAft>
            </a:pPr>
            <a:r>
              <a:rPr sz="937" b="0" i="0">
                <a:solidFill>
                  <a:srgbClr val="53565A"/>
                </a:solidFill>
                <a:latin typeface="Open Sans"/>
              </a:rPr>
              <a:t>Attachments and avatars, where headers cannot travel</a:t>
            </a:r>
          </a:p>
        </p:txBody>
      </p:sp>
      <p:sp>
        <p:nvSpPr>
          <p:cNvPr id="20" name="Rectangle 19"/>
          <p:cNvSpPr/>
          <p:nvPr/>
        </p:nvSpPr>
        <p:spPr>
          <a:xfrm>
            <a:off x="609600" y="5219700"/>
            <a:ext cx="520065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609600" y="5334000"/>
            <a:ext cx="5200650" cy="419100"/>
          </a:xfrm>
          <a:prstGeom prst="rect">
            <a:avLst/>
          </a:prstGeom>
          <a:noFill/>
        </p:spPr>
        <p:txBody>
          <a:bodyPr wrap="square" anchor="t" lIns="0" tIns="0" rIns="0" bIns="0">
            <a:noAutofit/>
          </a:bodyPr>
          <a:lstStyle/>
          <a:p>
            <a:pPr algn="l">
              <a:lnSpc>
                <a:spcPct val="135000"/>
              </a:lnSpc>
              <a:spcBef>
                <a:spcPts val="0"/>
              </a:spcBef>
              <a:spcAft>
                <a:spcPts val="0"/>
              </a:spcAft>
            </a:pPr>
            <a:r>
              <a:rPr sz="937" b="1">
                <a:solidFill>
                  <a:srgbClr val="000000"/>
                </a:solidFill>
                <a:latin typeface="Open Sans"/>
              </a:rPr>
              <a:t>Task tokens are denied access to billing endpoints. </a:t>
            </a:r>
            <a:r>
              <a:rPr sz="937" b="0">
                <a:solidFill>
                  <a:srgbClr val="53565A"/>
                </a:solidFill>
                <a:latin typeface="Open Sans"/>
              </a:rPr>
              <a:t>An agent cannot read or act on its owner’s account.</a:t>
            </a:r>
          </a:p>
        </p:txBody>
      </p:sp>
      <p:sp>
        <p:nvSpPr>
          <p:cNvPr id="22" name="Rectangle 21"/>
          <p:cNvSpPr/>
          <p:nvPr/>
        </p:nvSpPr>
        <p:spPr>
          <a:xfrm>
            <a:off x="6362700" y="2286000"/>
            <a:ext cx="9525" cy="3543300"/>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819900" y="2305050"/>
            <a:ext cx="4762500" cy="228600"/>
          </a:xfrm>
          <a:prstGeom prst="rect">
            <a:avLst/>
          </a:prstGeom>
          <a:noFill/>
        </p:spPr>
        <p:txBody>
          <a:bodyPr wrap="square" anchor="t" lIns="0" tIns="0" rIns="0" bIns="0">
            <a:noAutofit/>
          </a:bodyPr>
          <a:lstStyle/>
          <a:p>
            <a:pPr algn="l">
              <a:lnSpc>
                <a:spcPct val="100000"/>
              </a:lnSpc>
              <a:spcBef>
                <a:spcPts val="0"/>
              </a:spcBef>
              <a:spcAft>
                <a:spcPts val="0"/>
              </a:spcAft>
            </a:pPr>
            <a:r>
              <a:rPr sz="975" b="1" i="0" spc="90">
                <a:solidFill>
                  <a:srgbClr val="000000"/>
                </a:solidFill>
                <a:latin typeface="Open Sans"/>
              </a:rPr>
              <a:t>AUTHORISATION — FOUR LAYERS</a:t>
            </a:r>
          </a:p>
        </p:txBody>
      </p:sp>
      <p:sp>
        <p:nvSpPr>
          <p:cNvPr id="24" name="Rectangle 23"/>
          <p:cNvSpPr/>
          <p:nvPr/>
        </p:nvSpPr>
        <p:spPr>
          <a:xfrm>
            <a:off x="6819900" y="2647950"/>
            <a:ext cx="4762500" cy="514350"/>
          </a:xfrm>
          <a:prstGeom prst="rect">
            <a:avLst/>
          </a:prstGeom>
          <a:solidFill>
            <a:srgbClr val="F4F4F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TextBox 24"/>
          <p:cNvSpPr txBox="1"/>
          <p:nvPr/>
        </p:nvSpPr>
        <p:spPr>
          <a:xfrm>
            <a:off x="6972300" y="2724150"/>
            <a:ext cx="4457700" cy="209550"/>
          </a:xfrm>
          <a:prstGeom prst="rect">
            <a:avLst/>
          </a:prstGeom>
          <a:noFill/>
        </p:spPr>
        <p:txBody>
          <a:bodyPr wrap="square" anchor="t" lIns="0" tIns="0" rIns="0" bIns="0">
            <a:noAutofit/>
          </a:bodyPr>
          <a:lstStyle/>
          <a:p>
            <a:pPr algn="l">
              <a:lnSpc>
                <a:spcPct val="115000"/>
              </a:lnSpc>
              <a:spcBef>
                <a:spcPts val="0"/>
              </a:spcBef>
              <a:spcAft>
                <a:spcPts val="0"/>
              </a:spcAft>
            </a:pPr>
            <a:r>
              <a:rPr sz="1012" b="1" i="0">
                <a:solidFill>
                  <a:srgbClr val="000000"/>
                </a:solidFill>
                <a:latin typeface="Open Sans"/>
              </a:rPr>
              <a:t>Workspace membership</a:t>
            </a:r>
          </a:p>
        </p:txBody>
      </p:sp>
      <p:sp>
        <p:nvSpPr>
          <p:cNvPr id="26" name="TextBox 25"/>
          <p:cNvSpPr txBox="1"/>
          <p:nvPr/>
        </p:nvSpPr>
        <p:spPr>
          <a:xfrm>
            <a:off x="6972300" y="2914650"/>
            <a:ext cx="4457700" cy="190500"/>
          </a:xfrm>
          <a:prstGeom prst="rect">
            <a:avLst/>
          </a:prstGeom>
          <a:noFill/>
        </p:spPr>
        <p:txBody>
          <a:bodyPr wrap="square" anchor="t" lIns="0" tIns="0" rIns="0" bIns="0">
            <a:noAutofit/>
          </a:bodyPr>
          <a:lstStyle/>
          <a:p>
            <a:pPr algn="l">
              <a:lnSpc>
                <a:spcPct val="115000"/>
              </a:lnSpc>
              <a:spcBef>
                <a:spcPts val="0"/>
              </a:spcBef>
              <a:spcAft>
                <a:spcPts val="0"/>
              </a:spcAft>
            </a:pPr>
            <a:r>
              <a:rPr sz="862" b="0" i="0">
                <a:solidFill>
                  <a:srgbClr val="53565A"/>
                </a:solidFill>
                <a:latin typeface="Open Sans"/>
              </a:rPr>
              <a:t>Every query is filtered by workspace</a:t>
            </a:r>
          </a:p>
        </p:txBody>
      </p:sp>
      <p:sp>
        <p:nvSpPr>
          <p:cNvPr id="27" name="Rectangle 26"/>
          <p:cNvSpPr/>
          <p:nvPr/>
        </p:nvSpPr>
        <p:spPr>
          <a:xfrm>
            <a:off x="6819900" y="3276600"/>
            <a:ext cx="4419600" cy="514350"/>
          </a:xfrm>
          <a:prstGeom prst="rect">
            <a:avLst/>
          </a:prstGeom>
          <a:solidFill>
            <a:srgbClr val="ECECEC"/>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6972300" y="3352800"/>
            <a:ext cx="4114800" cy="209550"/>
          </a:xfrm>
          <a:prstGeom prst="rect">
            <a:avLst/>
          </a:prstGeom>
          <a:noFill/>
        </p:spPr>
        <p:txBody>
          <a:bodyPr wrap="square" anchor="t" lIns="0" tIns="0" rIns="0" bIns="0">
            <a:noAutofit/>
          </a:bodyPr>
          <a:lstStyle/>
          <a:p>
            <a:pPr algn="l">
              <a:lnSpc>
                <a:spcPct val="115000"/>
              </a:lnSpc>
              <a:spcBef>
                <a:spcPts val="0"/>
              </a:spcBef>
              <a:spcAft>
                <a:spcPts val="0"/>
              </a:spcAft>
            </a:pPr>
            <a:r>
              <a:rPr sz="1012" b="1" i="0">
                <a:solidFill>
                  <a:srgbClr val="000000"/>
                </a:solidFill>
                <a:latin typeface="Open Sans"/>
              </a:rPr>
              <a:t>Organisation role</a:t>
            </a:r>
          </a:p>
        </p:txBody>
      </p:sp>
      <p:sp>
        <p:nvSpPr>
          <p:cNvPr id="29" name="TextBox 28"/>
          <p:cNvSpPr txBox="1"/>
          <p:nvPr/>
        </p:nvSpPr>
        <p:spPr>
          <a:xfrm>
            <a:off x="6972300" y="3543300"/>
            <a:ext cx="4114800" cy="190500"/>
          </a:xfrm>
          <a:prstGeom prst="rect">
            <a:avLst/>
          </a:prstGeom>
          <a:noFill/>
        </p:spPr>
        <p:txBody>
          <a:bodyPr wrap="square" anchor="t" lIns="0" tIns="0" rIns="0" bIns="0">
            <a:noAutofit/>
          </a:bodyPr>
          <a:lstStyle/>
          <a:p>
            <a:pPr algn="l">
              <a:lnSpc>
                <a:spcPct val="115000"/>
              </a:lnSpc>
              <a:spcBef>
                <a:spcPts val="0"/>
              </a:spcBef>
              <a:spcAft>
                <a:spcPts val="0"/>
              </a:spcAft>
            </a:pPr>
            <a:r>
              <a:rPr sz="862" b="0" i="0">
                <a:solidFill>
                  <a:srgbClr val="53565A"/>
                </a:solidFill>
                <a:latin typeface="Open Sans"/>
              </a:rPr>
              <a:t>owner / admin / member govern settings</a:t>
            </a:r>
          </a:p>
        </p:txBody>
      </p:sp>
      <p:sp>
        <p:nvSpPr>
          <p:cNvPr id="30" name="Rectangle 29"/>
          <p:cNvSpPr/>
          <p:nvPr/>
        </p:nvSpPr>
        <p:spPr>
          <a:xfrm>
            <a:off x="6819900" y="3905250"/>
            <a:ext cx="4076700" cy="514350"/>
          </a:xfrm>
          <a:prstGeom prst="rect">
            <a:avLst/>
          </a:prstGeom>
          <a:solidFill>
            <a:srgbClr val="E3F0D4"/>
          </a:solidFill>
          <a:ln w="12700">
            <a:solidFill>
              <a:srgbClr val="C0E08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6972300" y="3981450"/>
            <a:ext cx="3771900" cy="209550"/>
          </a:xfrm>
          <a:prstGeom prst="rect">
            <a:avLst/>
          </a:prstGeom>
          <a:noFill/>
        </p:spPr>
        <p:txBody>
          <a:bodyPr wrap="square" anchor="t" lIns="0" tIns="0" rIns="0" bIns="0">
            <a:noAutofit/>
          </a:bodyPr>
          <a:lstStyle/>
          <a:p>
            <a:pPr algn="l">
              <a:lnSpc>
                <a:spcPct val="115000"/>
              </a:lnSpc>
              <a:spcBef>
                <a:spcPts val="0"/>
              </a:spcBef>
              <a:spcAft>
                <a:spcPts val="0"/>
              </a:spcAft>
            </a:pPr>
            <a:r>
              <a:rPr sz="1012" b="1" i="0">
                <a:solidFill>
                  <a:srgbClr val="000000"/>
                </a:solidFill>
                <a:latin typeface="Open Sans"/>
              </a:rPr>
              <a:t>Per-resource Access</a:t>
            </a:r>
          </a:p>
        </p:txBody>
      </p:sp>
      <p:sp>
        <p:nvSpPr>
          <p:cNvPr id="32" name="TextBox 31"/>
          <p:cNvSpPr txBox="1"/>
          <p:nvPr/>
        </p:nvSpPr>
        <p:spPr>
          <a:xfrm>
            <a:off x="6972300" y="4171950"/>
            <a:ext cx="3771900" cy="190500"/>
          </a:xfrm>
          <a:prstGeom prst="rect">
            <a:avLst/>
          </a:prstGeom>
          <a:noFill/>
        </p:spPr>
        <p:txBody>
          <a:bodyPr wrap="square" anchor="t" lIns="0" tIns="0" rIns="0" bIns="0">
            <a:noAutofit/>
          </a:bodyPr>
          <a:lstStyle/>
          <a:p>
            <a:pPr algn="l">
              <a:lnSpc>
                <a:spcPct val="115000"/>
              </a:lnSpc>
              <a:spcBef>
                <a:spcPts val="0"/>
              </a:spcBef>
              <a:spcAft>
                <a:spcPts val="0"/>
              </a:spcAft>
            </a:pPr>
            <a:r>
              <a:rPr sz="862" b="0" i="0">
                <a:solidFill>
                  <a:srgbClr val="53565A"/>
                </a:solidFill>
                <a:latin typeface="Open Sans"/>
              </a:rPr>
              <a:t>Admins can manage but cannot bypass</a:t>
            </a:r>
          </a:p>
        </p:txBody>
      </p:sp>
      <p:sp>
        <p:nvSpPr>
          <p:cNvPr id="33" name="Rectangle 32"/>
          <p:cNvSpPr/>
          <p:nvPr/>
        </p:nvSpPr>
        <p:spPr>
          <a:xfrm>
            <a:off x="6819900" y="4533900"/>
            <a:ext cx="3733800" cy="514350"/>
          </a:xfrm>
          <a:prstGeom prst="rect">
            <a:avLst/>
          </a:prstGeom>
          <a:solidFill>
            <a:srgbClr val="C0E08A"/>
          </a:solidFill>
          <a:ln w="12700">
            <a:solidFill>
              <a:srgbClr val="C0E08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TextBox 33"/>
          <p:cNvSpPr txBox="1"/>
          <p:nvPr/>
        </p:nvSpPr>
        <p:spPr>
          <a:xfrm>
            <a:off x="6972300" y="4610100"/>
            <a:ext cx="3429000" cy="209550"/>
          </a:xfrm>
          <a:prstGeom prst="rect">
            <a:avLst/>
          </a:prstGeom>
          <a:noFill/>
        </p:spPr>
        <p:txBody>
          <a:bodyPr wrap="square" anchor="t" lIns="0" tIns="0" rIns="0" bIns="0">
            <a:noAutofit/>
          </a:bodyPr>
          <a:lstStyle/>
          <a:p>
            <a:pPr algn="l">
              <a:lnSpc>
                <a:spcPct val="115000"/>
              </a:lnSpc>
              <a:spcBef>
                <a:spcPts val="0"/>
              </a:spcBef>
              <a:spcAft>
                <a:spcPts val="0"/>
              </a:spcAft>
            </a:pPr>
            <a:r>
              <a:rPr sz="1012" b="1" i="0">
                <a:solidFill>
                  <a:srgbClr val="000000"/>
                </a:solidFill>
                <a:latin typeface="Open Sans"/>
              </a:rPr>
              <a:t>Principal type</a:t>
            </a:r>
          </a:p>
        </p:txBody>
      </p:sp>
      <p:sp>
        <p:nvSpPr>
          <p:cNvPr id="35" name="TextBox 34"/>
          <p:cNvSpPr txBox="1"/>
          <p:nvPr/>
        </p:nvSpPr>
        <p:spPr>
          <a:xfrm>
            <a:off x="6972300" y="4800600"/>
            <a:ext cx="3429000" cy="190500"/>
          </a:xfrm>
          <a:prstGeom prst="rect">
            <a:avLst/>
          </a:prstGeom>
          <a:noFill/>
        </p:spPr>
        <p:txBody>
          <a:bodyPr wrap="square" anchor="t" lIns="0" tIns="0" rIns="0" bIns="0">
            <a:noAutofit/>
          </a:bodyPr>
          <a:lstStyle/>
          <a:p>
            <a:pPr algn="l">
              <a:lnSpc>
                <a:spcPct val="115000"/>
              </a:lnSpc>
              <a:spcBef>
                <a:spcPts val="0"/>
              </a:spcBef>
              <a:spcAft>
                <a:spcPts val="0"/>
              </a:spcAft>
            </a:pPr>
            <a:r>
              <a:rPr sz="862" b="0" i="0">
                <a:solidFill>
                  <a:srgbClr val="53565A"/>
                </a:solidFill>
                <a:latin typeface="Open Sans"/>
              </a:rPr>
              <a:t>Sensitive endpoints require a human principal</a:t>
            </a:r>
          </a:p>
        </p:txBody>
      </p:sp>
      <p:sp>
        <p:nvSpPr>
          <p:cNvPr id="36" name="TextBox 35"/>
          <p:cNvSpPr txBox="1"/>
          <p:nvPr/>
        </p:nvSpPr>
        <p:spPr>
          <a:xfrm>
            <a:off x="6819900" y="5257800"/>
            <a:ext cx="4762500" cy="419100"/>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Enterprise identity: SSO via OIDC or SAML, SCIM provisioning, domain allowlists, and a global switch for self-service workspace creation.</a:t>
            </a:r>
          </a:p>
        </p:txBody>
      </p:sp>
      <p:sp>
        <p:nvSpPr>
          <p:cNvPr id="37" name="TextBox 36"/>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38" name="TextBox 37"/>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39" name="TextBox 38"/>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SECURITY</a:t>
            </a:r>
          </a:p>
        </p:txBody>
      </p:sp>
      <p:sp>
        <p:nvSpPr>
          <p:cNvPr id="4" name="TextBox 3"/>
          <p:cNvSpPr txBox="1"/>
          <p:nvPr/>
        </p:nvSpPr>
        <p:spPr>
          <a:xfrm>
            <a:off x="609600" y="1028700"/>
            <a:ext cx="10972800" cy="434340"/>
          </a:xfrm>
          <a:prstGeom prst="rect">
            <a:avLst/>
          </a:prstGeom>
          <a:noFill/>
        </p:spPr>
        <p:txBody>
          <a:bodyPr wrap="square" anchor="t" lIns="0" tIns="0" rIns="0" bIns="0">
            <a:noAutofit/>
          </a:bodyPr>
          <a:lstStyle/>
          <a:p>
            <a:pPr algn="l">
              <a:lnSpc>
                <a:spcPct val="106000"/>
              </a:lnSpc>
              <a:spcBef>
                <a:spcPts val="0"/>
              </a:spcBef>
              <a:spcAft>
                <a:spcPts val="0"/>
              </a:spcAft>
            </a:pPr>
            <a:r>
              <a:rPr sz="2700" b="0" i="0">
                <a:solidFill>
                  <a:srgbClr val="000000"/>
                </a:solidFill>
                <a:latin typeface="Open Sans Light"/>
              </a:rPr>
              <a:t>Where the real boundary sits</a:t>
            </a:r>
          </a:p>
        </p:txBody>
      </p:sp>
      <p:sp>
        <p:nvSpPr>
          <p:cNvPr id="5" name="Rectangle 4"/>
          <p:cNvSpPr/>
          <p:nvPr/>
        </p:nvSpPr>
        <p:spPr>
          <a:xfrm>
            <a:off x="609600" y="1539240"/>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Rectangle 5"/>
          <p:cNvSpPr/>
          <p:nvPr/>
        </p:nvSpPr>
        <p:spPr>
          <a:xfrm>
            <a:off x="609600" y="2286000"/>
            <a:ext cx="10972800" cy="80010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Rectangle 6"/>
          <p:cNvSpPr/>
          <p:nvPr/>
        </p:nvSpPr>
        <p:spPr>
          <a:xfrm>
            <a:off x="609600" y="2286000"/>
            <a:ext cx="38100" cy="80010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838200" y="2419350"/>
            <a:ext cx="10515600" cy="247650"/>
          </a:xfrm>
          <a:prstGeom prst="rect">
            <a:avLst/>
          </a:prstGeom>
          <a:noFill/>
        </p:spPr>
        <p:txBody>
          <a:bodyPr wrap="square" anchor="t" lIns="0" tIns="0" rIns="0" bIns="0">
            <a:noAutofit/>
          </a:bodyPr>
          <a:lstStyle/>
          <a:p>
            <a:pPr algn="l">
              <a:lnSpc>
                <a:spcPct val="120000"/>
              </a:lnSpc>
              <a:spcBef>
                <a:spcPts val="0"/>
              </a:spcBef>
              <a:spcAft>
                <a:spcPts val="0"/>
              </a:spcAft>
            </a:pPr>
            <a:r>
              <a:rPr sz="1275" b="1" i="0">
                <a:solidFill>
                  <a:srgbClr val="000000"/>
                </a:solidFill>
                <a:latin typeface="Open Sans"/>
              </a:rPr>
              <a:t>Enact does not promise a filesystem sandbox — and says so deliberately.</a:t>
            </a:r>
          </a:p>
        </p:txBody>
      </p:sp>
      <p:sp>
        <p:nvSpPr>
          <p:cNvPr id="9" name="TextBox 8"/>
          <p:cNvSpPr txBox="1"/>
          <p:nvPr/>
        </p:nvSpPr>
        <p:spPr>
          <a:xfrm>
            <a:off x="838200" y="2686050"/>
            <a:ext cx="10515600" cy="323850"/>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A partial sandbox breaks the toolchains agents legitimately need — installing dependencies, running builds, using cloud CLIs — while still failing to stop a task from reading credentials and sending them over the network.</a:t>
            </a:r>
          </a:p>
        </p:txBody>
      </p:sp>
      <p:sp>
        <p:nvSpPr>
          <p:cNvPr id="10" name="TextBox 9"/>
          <p:cNvSpPr txBox="1"/>
          <p:nvPr/>
        </p:nvSpPr>
        <p:spPr>
          <a:xfrm>
            <a:off x="609600" y="3314700"/>
            <a:ext cx="5334000" cy="228600"/>
          </a:xfrm>
          <a:prstGeom prst="rect">
            <a:avLst/>
          </a:prstGeom>
          <a:noFill/>
        </p:spPr>
        <p:txBody>
          <a:bodyPr wrap="square" anchor="t" lIns="0" tIns="0" rIns="0" bIns="0">
            <a:noAutofit/>
          </a:bodyPr>
          <a:lstStyle/>
          <a:p>
            <a:pPr algn="l">
              <a:lnSpc>
                <a:spcPct val="100000"/>
              </a:lnSpc>
              <a:spcBef>
                <a:spcPts val="0"/>
              </a:spcBef>
              <a:spcAft>
                <a:spcPts val="0"/>
              </a:spcAft>
            </a:pPr>
            <a:r>
              <a:rPr sz="975" b="1" i="0" spc="90">
                <a:solidFill>
                  <a:srgbClr val="000000"/>
                </a:solidFill>
                <a:latin typeface="Open Sans"/>
              </a:rPr>
              <a:t>WHAT THE PLATFORM DOES PROVIDE</a:t>
            </a:r>
          </a:p>
        </p:txBody>
      </p:sp>
      <p:sp>
        <p:nvSpPr>
          <p:cNvPr id="11" name="Oval 10"/>
          <p:cNvSpPr/>
          <p:nvPr/>
        </p:nvSpPr>
        <p:spPr>
          <a:xfrm>
            <a:off x="619125" y="3671506"/>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71525" y="3590925"/>
            <a:ext cx="5172075" cy="410528"/>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Per-task git worktree — the agent sees your changes, never writes your directory, never discards work</a:t>
            </a:r>
          </a:p>
        </p:txBody>
      </p:sp>
      <p:sp>
        <p:nvSpPr>
          <p:cNvPr id="13" name="Oval 12"/>
          <p:cNvSpPr/>
          <p:nvPr/>
        </p:nvSpPr>
        <p:spPr>
          <a:xfrm>
            <a:off x="619125" y="4120134"/>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771525" y="4039552"/>
            <a:ext cx="5172075" cy="243364"/>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Per-task tool state and temporary directories</a:t>
            </a:r>
          </a:p>
        </p:txBody>
      </p:sp>
      <p:sp>
        <p:nvSpPr>
          <p:cNvPr id="15" name="Oval 14"/>
          <p:cNvSpPr/>
          <p:nvPr/>
        </p:nvSpPr>
        <p:spPr>
          <a:xfrm>
            <a:off x="619125" y="4401598"/>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771525" y="4321016"/>
            <a:ext cx="5172075" cy="243364"/>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Task-scoped credentials that cannot impersonate anyone</a:t>
            </a:r>
          </a:p>
        </p:txBody>
      </p:sp>
      <p:sp>
        <p:nvSpPr>
          <p:cNvPr id="17" name="Oval 16"/>
          <p:cNvSpPr/>
          <p:nvPr/>
        </p:nvSpPr>
        <p:spPr>
          <a:xfrm>
            <a:off x="619125" y="4683062"/>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71525" y="4602480"/>
            <a:ext cx="5172075" cy="243364"/>
          </a:xfrm>
          <a:prstGeom prst="rect">
            <a:avLst/>
          </a:prstGeom>
          <a:noFill/>
        </p:spPr>
        <p:txBody>
          <a:bodyPr wrap="square" anchor="t" lIns="0" tIns="0" rIns="0" bIns="0">
            <a:noAutofit/>
          </a:bodyPr>
          <a:lstStyle/>
          <a:p>
            <a:pPr algn="l">
              <a:lnSpc>
                <a:spcPct val="135000"/>
              </a:lnSpc>
              <a:spcBef>
                <a:spcPts val="0"/>
              </a:spcBef>
              <a:spcAft>
                <a:spcPts val="0"/>
              </a:spcAft>
            </a:pPr>
            <a:r>
              <a:rPr sz="975" b="0" i="0">
                <a:solidFill>
                  <a:srgbClr val="53565A"/>
                </a:solidFill>
                <a:latin typeface="Open Sans"/>
              </a:rPr>
              <a:t>Preparation in an isolated process group with layered watchdogs</a:t>
            </a:r>
          </a:p>
        </p:txBody>
      </p:sp>
      <p:sp>
        <p:nvSpPr>
          <p:cNvPr id="19" name="TextBox 18"/>
          <p:cNvSpPr txBox="1"/>
          <p:nvPr/>
        </p:nvSpPr>
        <p:spPr>
          <a:xfrm>
            <a:off x="609600" y="5010150"/>
            <a:ext cx="5334000" cy="438150"/>
          </a:xfrm>
          <a:prstGeom prst="rect">
            <a:avLst/>
          </a:prstGeom>
          <a:noFill/>
        </p:spPr>
        <p:txBody>
          <a:bodyPr wrap="square" anchor="t" lIns="0" tIns="0" rIns="0" bIns="0">
            <a:noAutofit/>
          </a:bodyPr>
          <a:lstStyle/>
          <a:p>
            <a:pPr algn="l">
              <a:lnSpc>
                <a:spcPct val="135000"/>
              </a:lnSpc>
              <a:spcBef>
                <a:spcPts val="0"/>
              </a:spcBef>
              <a:spcAft>
                <a:spcPts val="0"/>
              </a:spcAft>
            </a:pPr>
            <a:r>
              <a:rPr sz="937" b="1">
                <a:solidFill>
                  <a:srgbClr val="000000"/>
                </a:solidFill>
                <a:latin typeface="Open Sans"/>
              </a:rPr>
              <a:t>These reduce blast radius. </a:t>
            </a:r>
            <a:r>
              <a:rPr sz="937" b="0">
                <a:solidFill>
                  <a:srgbClr val="53565A"/>
                </a:solidFill>
                <a:latin typeface="Open Sans"/>
              </a:rPr>
              <a:t>They are not an adversarial security boundary.</a:t>
            </a:r>
          </a:p>
        </p:txBody>
      </p:sp>
      <p:sp>
        <p:nvSpPr>
          <p:cNvPr id="20" name="TextBox 19"/>
          <p:cNvSpPr txBox="1"/>
          <p:nvPr/>
        </p:nvSpPr>
        <p:spPr>
          <a:xfrm>
            <a:off x="6667500" y="3314700"/>
            <a:ext cx="4914900" cy="228600"/>
          </a:xfrm>
          <a:prstGeom prst="rect">
            <a:avLst/>
          </a:prstGeom>
          <a:noFill/>
        </p:spPr>
        <p:txBody>
          <a:bodyPr wrap="square" anchor="t" lIns="0" tIns="0" rIns="0" bIns="0">
            <a:noAutofit/>
          </a:bodyPr>
          <a:lstStyle/>
          <a:p>
            <a:pPr algn="l">
              <a:lnSpc>
                <a:spcPct val="100000"/>
              </a:lnSpc>
              <a:spcBef>
                <a:spcPts val="0"/>
              </a:spcBef>
              <a:spcAft>
                <a:spcPts val="0"/>
              </a:spcAft>
            </a:pPr>
            <a:r>
              <a:rPr sz="975" b="1" i="0" spc="90">
                <a:solidFill>
                  <a:srgbClr val="000000"/>
                </a:solidFill>
                <a:latin typeface="Open Sans"/>
              </a:rPr>
              <a:t>WHERE TO PUT THE BOUNDARY</a:t>
            </a:r>
          </a:p>
        </p:txBody>
      </p:sp>
      <p:sp>
        <p:nvSpPr>
          <p:cNvPr id="21" name="TextBox 20"/>
          <p:cNvSpPr txBox="1"/>
          <p:nvPr/>
        </p:nvSpPr>
        <p:spPr>
          <a:xfrm>
            <a:off x="6667500" y="3543300"/>
            <a:ext cx="4914900" cy="323850"/>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A task runs with the full permissions of the operating-system user running the daemon. Build the boundary outside it.</a:t>
            </a:r>
          </a:p>
        </p:txBody>
      </p:sp>
      <p:sp>
        <p:nvSpPr>
          <p:cNvPr id="22" name="Rectangle 21"/>
          <p:cNvSpPr/>
          <p:nvPr/>
        </p:nvSpPr>
        <p:spPr>
          <a:xfrm>
            <a:off x="6667500" y="3981450"/>
            <a:ext cx="4914900" cy="51435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ectangle 22"/>
          <p:cNvSpPr/>
          <p:nvPr/>
        </p:nvSpPr>
        <p:spPr>
          <a:xfrm>
            <a:off x="6667500" y="3981450"/>
            <a:ext cx="38100" cy="514350"/>
          </a:xfrm>
          <a:prstGeom prst="rect">
            <a:avLst/>
          </a:prstGeom>
          <a:solidFill>
            <a:srgbClr val="979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858000" y="4057650"/>
            <a:ext cx="2381250" cy="209550"/>
          </a:xfrm>
          <a:prstGeom prst="rect">
            <a:avLst/>
          </a:prstGeom>
          <a:noFill/>
        </p:spPr>
        <p:txBody>
          <a:bodyPr wrap="square" anchor="t" lIns="0" tIns="0" rIns="0" bIns="0">
            <a:noAutofit/>
          </a:bodyPr>
          <a:lstStyle/>
          <a:p>
            <a:pPr algn="l">
              <a:lnSpc>
                <a:spcPct val="115000"/>
              </a:lnSpc>
              <a:spcBef>
                <a:spcPts val="0"/>
              </a:spcBef>
              <a:spcAft>
                <a:spcPts val="0"/>
              </a:spcAft>
            </a:pPr>
            <a:r>
              <a:rPr sz="1012" b="1" i="0">
                <a:solidFill>
                  <a:srgbClr val="000000"/>
                </a:solidFill>
                <a:latin typeface="Open Sans"/>
              </a:rPr>
              <a:t>Dedicated system user</a:t>
            </a:r>
          </a:p>
        </p:txBody>
      </p:sp>
      <p:sp>
        <p:nvSpPr>
          <p:cNvPr id="25" name="Rectangle 24"/>
          <p:cNvSpPr/>
          <p:nvPr/>
        </p:nvSpPr>
        <p:spPr>
          <a:xfrm>
            <a:off x="10668000" y="4114800"/>
            <a:ext cx="768858" cy="228600"/>
          </a:xfrm>
          <a:prstGeom prst="rect">
            <a:avLst/>
          </a:prstGeom>
          <a:solidFill>
            <a:srgbClr val="979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5250" rIns="95250" tIns="0" bIns="0">
            <a:noAutofit/>
          </a:bodyPr>
          <a:lstStyle/>
          <a:p>
            <a:pPr algn="ctr">
              <a:lnSpc>
                <a:spcPct val="100000"/>
              </a:lnSpc>
              <a:spcBef>
                <a:spcPts val="0"/>
              </a:spcBef>
              <a:spcAft>
                <a:spcPts val="0"/>
              </a:spcAft>
            </a:pPr>
            <a:r>
              <a:rPr sz="675" b="1" i="0" spc="60">
                <a:solidFill>
                  <a:srgbClr val="FFFFFF"/>
                </a:solidFill>
                <a:latin typeface="Open Sans"/>
              </a:rPr>
              <a:t>BASELINE</a:t>
            </a:r>
          </a:p>
        </p:txBody>
      </p:sp>
      <p:sp>
        <p:nvSpPr>
          <p:cNvPr id="26" name="TextBox 25"/>
          <p:cNvSpPr txBox="1"/>
          <p:nvPr/>
        </p:nvSpPr>
        <p:spPr>
          <a:xfrm>
            <a:off x="6858000" y="4248150"/>
            <a:ext cx="3619500" cy="190500"/>
          </a:xfrm>
          <a:prstGeom prst="rect">
            <a:avLst/>
          </a:prstGeom>
          <a:noFill/>
        </p:spPr>
        <p:txBody>
          <a:bodyPr wrap="square" anchor="t" lIns="0" tIns="0" rIns="0" bIns="0">
            <a:noAutofit/>
          </a:bodyPr>
          <a:lstStyle/>
          <a:p>
            <a:pPr algn="l">
              <a:lnSpc>
                <a:spcPct val="115000"/>
              </a:lnSpc>
              <a:spcBef>
                <a:spcPts val="0"/>
              </a:spcBef>
              <a:spcAft>
                <a:spcPts val="0"/>
              </a:spcAft>
            </a:pPr>
            <a:r>
              <a:rPr sz="862" b="0" i="0">
                <a:solidFill>
                  <a:srgbClr val="53565A"/>
                </a:solidFill>
                <a:latin typeface="Open Sans"/>
              </a:rPr>
              <a:t>Only the repositories and credentials the agents need</a:t>
            </a:r>
          </a:p>
        </p:txBody>
      </p:sp>
      <p:sp>
        <p:nvSpPr>
          <p:cNvPr id="27" name="Rectangle 26"/>
          <p:cNvSpPr/>
          <p:nvPr/>
        </p:nvSpPr>
        <p:spPr>
          <a:xfrm>
            <a:off x="6667500" y="4572000"/>
            <a:ext cx="4914900" cy="51435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ectangle 27"/>
          <p:cNvSpPr/>
          <p:nvPr/>
        </p:nvSpPr>
        <p:spPr>
          <a:xfrm>
            <a:off x="6667500" y="4572000"/>
            <a:ext cx="38100" cy="514350"/>
          </a:xfrm>
          <a:prstGeom prst="rect">
            <a:avLst/>
          </a:prstGeom>
          <a:solidFill>
            <a:srgbClr val="2689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6858000" y="4648200"/>
            <a:ext cx="2381250" cy="209550"/>
          </a:xfrm>
          <a:prstGeom prst="rect">
            <a:avLst/>
          </a:prstGeom>
          <a:noFill/>
        </p:spPr>
        <p:txBody>
          <a:bodyPr wrap="square" anchor="t" lIns="0" tIns="0" rIns="0" bIns="0">
            <a:noAutofit/>
          </a:bodyPr>
          <a:lstStyle/>
          <a:p>
            <a:pPr algn="l">
              <a:lnSpc>
                <a:spcPct val="115000"/>
              </a:lnSpc>
              <a:spcBef>
                <a:spcPts val="0"/>
              </a:spcBef>
              <a:spcAft>
                <a:spcPts val="0"/>
              </a:spcAft>
            </a:pPr>
            <a:r>
              <a:rPr sz="1012" b="1" i="0">
                <a:solidFill>
                  <a:srgbClr val="000000"/>
                </a:solidFill>
                <a:latin typeface="Open Sans"/>
              </a:rPr>
              <a:t>Container</a:t>
            </a:r>
          </a:p>
        </p:txBody>
      </p:sp>
      <p:sp>
        <p:nvSpPr>
          <p:cNvPr id="30" name="Rectangle 29"/>
          <p:cNvSpPr/>
          <p:nvPr/>
        </p:nvSpPr>
        <p:spPr>
          <a:xfrm>
            <a:off x="10668000" y="4705350"/>
            <a:ext cx="638556" cy="228600"/>
          </a:xfrm>
          <a:prstGeom prst="rect">
            <a:avLst/>
          </a:prstGeom>
          <a:solidFill>
            <a:srgbClr val="2689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5250" rIns="95250" tIns="0" bIns="0">
            <a:noAutofit/>
          </a:bodyPr>
          <a:lstStyle/>
          <a:p>
            <a:pPr algn="ctr">
              <a:lnSpc>
                <a:spcPct val="100000"/>
              </a:lnSpc>
              <a:spcBef>
                <a:spcPts val="0"/>
              </a:spcBef>
              <a:spcAft>
                <a:spcPts val="0"/>
              </a:spcAft>
            </a:pPr>
            <a:r>
              <a:rPr sz="675" b="1" i="0" spc="60">
                <a:solidFill>
                  <a:srgbClr val="FFFFFF"/>
                </a:solidFill>
                <a:latin typeface="Open Sans"/>
              </a:rPr>
              <a:t>MEDIUM</a:t>
            </a:r>
          </a:p>
        </p:txBody>
      </p:sp>
      <p:sp>
        <p:nvSpPr>
          <p:cNvPr id="31" name="TextBox 30"/>
          <p:cNvSpPr txBox="1"/>
          <p:nvPr/>
        </p:nvSpPr>
        <p:spPr>
          <a:xfrm>
            <a:off x="6858000" y="4838700"/>
            <a:ext cx="3619500" cy="190500"/>
          </a:xfrm>
          <a:prstGeom prst="rect">
            <a:avLst/>
          </a:prstGeom>
          <a:noFill/>
        </p:spPr>
        <p:txBody>
          <a:bodyPr wrap="square" anchor="t" lIns="0" tIns="0" rIns="0" bIns="0">
            <a:noAutofit/>
          </a:bodyPr>
          <a:lstStyle/>
          <a:p>
            <a:pPr algn="l">
              <a:lnSpc>
                <a:spcPct val="115000"/>
              </a:lnSpc>
              <a:spcBef>
                <a:spcPts val="0"/>
              </a:spcBef>
              <a:spcAft>
                <a:spcPts val="0"/>
              </a:spcAft>
            </a:pPr>
            <a:r>
              <a:rPr sz="862" b="0" i="0">
                <a:solidFill>
                  <a:srgbClr val="53565A"/>
                </a:solidFill>
                <a:latin typeface="Open Sans"/>
              </a:rPr>
              <a:t>Only the mounts and secrets required</a:t>
            </a:r>
          </a:p>
        </p:txBody>
      </p:sp>
      <p:sp>
        <p:nvSpPr>
          <p:cNvPr id="32" name="Rectangle 31"/>
          <p:cNvSpPr/>
          <p:nvPr/>
        </p:nvSpPr>
        <p:spPr>
          <a:xfrm>
            <a:off x="6667500" y="5162550"/>
            <a:ext cx="4914900" cy="514350"/>
          </a:xfrm>
          <a:prstGeom prst="rect">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ectangle 32"/>
          <p:cNvSpPr/>
          <p:nvPr/>
        </p:nvSpPr>
        <p:spPr>
          <a:xfrm>
            <a:off x="6667500" y="5162550"/>
            <a:ext cx="38100" cy="51435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TextBox 33"/>
          <p:cNvSpPr txBox="1"/>
          <p:nvPr/>
        </p:nvSpPr>
        <p:spPr>
          <a:xfrm>
            <a:off x="6858000" y="5238750"/>
            <a:ext cx="2381250" cy="209550"/>
          </a:xfrm>
          <a:prstGeom prst="rect">
            <a:avLst/>
          </a:prstGeom>
          <a:noFill/>
        </p:spPr>
        <p:txBody>
          <a:bodyPr wrap="square" anchor="t" lIns="0" tIns="0" rIns="0" bIns="0">
            <a:noAutofit/>
          </a:bodyPr>
          <a:lstStyle/>
          <a:p>
            <a:pPr algn="l">
              <a:lnSpc>
                <a:spcPct val="115000"/>
              </a:lnSpc>
              <a:spcBef>
                <a:spcPts val="0"/>
              </a:spcBef>
              <a:spcAft>
                <a:spcPts val="0"/>
              </a:spcAft>
            </a:pPr>
            <a:r>
              <a:rPr sz="1012" b="1" i="0">
                <a:solidFill>
                  <a:srgbClr val="000000"/>
                </a:solidFill>
                <a:latin typeface="Open Sans"/>
              </a:rPr>
              <a:t>Virtual machine</a:t>
            </a:r>
          </a:p>
        </p:txBody>
      </p:sp>
      <p:sp>
        <p:nvSpPr>
          <p:cNvPr id="35" name="Rectangle 34"/>
          <p:cNvSpPr/>
          <p:nvPr/>
        </p:nvSpPr>
        <p:spPr>
          <a:xfrm>
            <a:off x="10668000" y="5295900"/>
            <a:ext cx="638556" cy="2286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5250" rIns="95250" tIns="0" bIns="0">
            <a:noAutofit/>
          </a:bodyPr>
          <a:lstStyle/>
          <a:p>
            <a:pPr algn="ctr">
              <a:lnSpc>
                <a:spcPct val="100000"/>
              </a:lnSpc>
              <a:spcBef>
                <a:spcPts val="0"/>
              </a:spcBef>
              <a:spcAft>
                <a:spcPts val="0"/>
              </a:spcAft>
            </a:pPr>
            <a:r>
              <a:rPr sz="675" b="1" i="0" spc="60">
                <a:solidFill>
                  <a:srgbClr val="FFFFFF"/>
                </a:solidFill>
                <a:latin typeface="Open Sans"/>
              </a:rPr>
              <a:t>STRONG</a:t>
            </a:r>
          </a:p>
        </p:txBody>
      </p:sp>
      <p:sp>
        <p:nvSpPr>
          <p:cNvPr id="36" name="TextBox 35"/>
          <p:cNvSpPr txBox="1"/>
          <p:nvPr/>
        </p:nvSpPr>
        <p:spPr>
          <a:xfrm>
            <a:off x="6858000" y="5429250"/>
            <a:ext cx="3619500" cy="190500"/>
          </a:xfrm>
          <a:prstGeom prst="rect">
            <a:avLst/>
          </a:prstGeom>
          <a:noFill/>
        </p:spPr>
        <p:txBody>
          <a:bodyPr wrap="square" anchor="t" lIns="0" tIns="0" rIns="0" bIns="0">
            <a:noAutofit/>
          </a:bodyPr>
          <a:lstStyle/>
          <a:p>
            <a:pPr algn="l">
              <a:lnSpc>
                <a:spcPct val="115000"/>
              </a:lnSpc>
              <a:spcBef>
                <a:spcPts val="0"/>
              </a:spcBef>
              <a:spcAft>
                <a:spcPts val="0"/>
              </a:spcAft>
            </a:pPr>
            <a:r>
              <a:rPr sz="862" b="0" i="0">
                <a:solidFill>
                  <a:srgbClr val="53565A"/>
                </a:solidFill>
                <a:latin typeface="Open Sans"/>
              </a:rPr>
              <a:t>Full isolation, at the cost of a machine</a:t>
            </a:r>
          </a:p>
        </p:txBody>
      </p:sp>
      <p:sp>
        <p:nvSpPr>
          <p:cNvPr id="37" name="TextBox 36"/>
          <p:cNvSpPr txBox="1"/>
          <p:nvPr/>
        </p:nvSpPr>
        <p:spPr>
          <a:xfrm>
            <a:off x="6667500" y="5753100"/>
            <a:ext cx="4914900" cy="190500"/>
          </a:xfrm>
          <a:prstGeom prst="rect">
            <a:avLst/>
          </a:prstGeom>
          <a:noFill/>
        </p:spPr>
        <p:txBody>
          <a:bodyPr wrap="square" anchor="t" lIns="0" tIns="0" rIns="0" bIns="0">
            <a:noAutofit/>
          </a:bodyPr>
          <a:lstStyle/>
          <a:p>
            <a:pPr algn="l">
              <a:lnSpc>
                <a:spcPct val="120000"/>
              </a:lnSpc>
              <a:spcBef>
                <a:spcPts val="0"/>
              </a:spcBef>
              <a:spcAft>
                <a:spcPts val="0"/>
              </a:spcAft>
            </a:pPr>
            <a:r>
              <a:rPr sz="862" b="0" i="0">
                <a:solidFill>
                  <a:srgbClr val="75787B"/>
                </a:solidFill>
                <a:latin typeface="Open Sans"/>
              </a:rPr>
              <a:t>Treat every credential reachable from that environment as one the agent may use.</a:t>
            </a:r>
          </a:p>
        </p:txBody>
      </p:sp>
      <p:sp>
        <p:nvSpPr>
          <p:cNvPr id="38" name="TextBox 37"/>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39" name="TextBox 38"/>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40" name="TextBox 39"/>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609600" y="800100"/>
            <a:ext cx="10972800" cy="209550"/>
          </a:xfrm>
          <a:prstGeom prst="rect">
            <a:avLst/>
          </a:prstGeom>
          <a:noFill/>
        </p:spPr>
        <p:txBody>
          <a:bodyPr wrap="square" anchor="t" lIns="0" tIns="0" rIns="0" bIns="0">
            <a:noAutofit/>
          </a:bodyPr>
          <a:lstStyle/>
          <a:p>
            <a:pPr algn="l">
              <a:lnSpc>
                <a:spcPct val="100000"/>
              </a:lnSpc>
              <a:spcBef>
                <a:spcPts val="0"/>
              </a:spcBef>
              <a:spcAft>
                <a:spcPts val="0"/>
              </a:spcAft>
            </a:pPr>
            <a:r>
              <a:rPr sz="862" b="1" i="0" spc="140">
                <a:solidFill>
                  <a:srgbClr val="26890D"/>
                </a:solidFill>
                <a:latin typeface="Open Sans"/>
              </a:rPr>
              <a:t>RELIABILITY</a:t>
            </a:r>
          </a:p>
        </p:txBody>
      </p:sp>
      <p:sp>
        <p:nvSpPr>
          <p:cNvPr id="4" name="TextBox 3"/>
          <p:cNvSpPr txBox="1"/>
          <p:nvPr/>
        </p:nvSpPr>
        <p:spPr>
          <a:xfrm>
            <a:off x="609600" y="1028700"/>
            <a:ext cx="10972800" cy="434340"/>
          </a:xfrm>
          <a:prstGeom prst="rect">
            <a:avLst/>
          </a:prstGeom>
          <a:noFill/>
        </p:spPr>
        <p:txBody>
          <a:bodyPr wrap="square" anchor="t" lIns="0" tIns="0" rIns="0" bIns="0">
            <a:noAutofit/>
          </a:bodyPr>
          <a:lstStyle/>
          <a:p>
            <a:pPr algn="l">
              <a:lnSpc>
                <a:spcPct val="106000"/>
              </a:lnSpc>
              <a:spcBef>
                <a:spcPts val="0"/>
              </a:spcBef>
              <a:spcAft>
                <a:spcPts val="0"/>
              </a:spcAft>
            </a:pPr>
            <a:r>
              <a:rPr sz="2700" b="0" i="0">
                <a:solidFill>
                  <a:srgbClr val="000000"/>
                </a:solidFill>
                <a:latin typeface="Open Sans Light"/>
              </a:rPr>
              <a:t>Optional subsystems degrade — they do not fail</a:t>
            </a:r>
          </a:p>
        </p:txBody>
      </p:sp>
      <p:sp>
        <p:nvSpPr>
          <p:cNvPr id="5" name="Rectangle 4"/>
          <p:cNvSpPr/>
          <p:nvPr/>
        </p:nvSpPr>
        <p:spPr>
          <a:xfrm>
            <a:off x="609600" y="1539240"/>
            <a:ext cx="5334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23900" y="2343150"/>
            <a:ext cx="1809750" cy="361950"/>
          </a:xfrm>
          <a:prstGeom prst="rect">
            <a:avLst/>
          </a:prstGeom>
          <a:noFill/>
        </p:spPr>
        <p:txBody>
          <a:bodyPr wrap="square" anchor="ctr" lIns="0" tIns="0" rIns="0" bIns="0">
            <a:noAutofit/>
          </a:bodyPr>
          <a:lstStyle/>
          <a:p>
            <a:pPr algn="l">
              <a:lnSpc>
                <a:spcPct val="115000"/>
              </a:lnSpc>
              <a:spcBef>
                <a:spcPts val="0"/>
              </a:spcBef>
              <a:spcAft>
                <a:spcPts val="0"/>
              </a:spcAft>
            </a:pPr>
            <a:r>
              <a:rPr sz="825" b="1" i="0" spc="50">
                <a:solidFill>
                  <a:srgbClr val="53565A"/>
                </a:solidFill>
                <a:latin typeface="Open Sans"/>
              </a:rPr>
              <a:t>IF THIS IS ABSENT</a:t>
            </a:r>
          </a:p>
        </p:txBody>
      </p:sp>
      <p:sp>
        <p:nvSpPr>
          <p:cNvPr id="7" name="Rectangle 6"/>
          <p:cNvSpPr/>
          <p:nvPr/>
        </p:nvSpPr>
        <p:spPr>
          <a:xfrm>
            <a:off x="2609850" y="2343150"/>
            <a:ext cx="4486275" cy="361950"/>
          </a:xfrm>
          <a:prstGeom prst="rect">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2724150" y="2343150"/>
            <a:ext cx="4295775" cy="361950"/>
          </a:xfrm>
          <a:prstGeom prst="rect">
            <a:avLst/>
          </a:prstGeom>
          <a:noFill/>
        </p:spPr>
        <p:txBody>
          <a:bodyPr wrap="square" anchor="ctr" lIns="0" tIns="0" rIns="0" bIns="0">
            <a:noAutofit/>
          </a:bodyPr>
          <a:lstStyle/>
          <a:p>
            <a:pPr algn="l">
              <a:lnSpc>
                <a:spcPct val="115000"/>
              </a:lnSpc>
              <a:spcBef>
                <a:spcPts val="0"/>
              </a:spcBef>
              <a:spcAft>
                <a:spcPts val="0"/>
              </a:spcAft>
            </a:pPr>
            <a:r>
              <a:rPr sz="825" b="1" i="0" spc="50">
                <a:solidFill>
                  <a:srgbClr val="FFFFFF"/>
                </a:solidFill>
                <a:latin typeface="Open Sans"/>
              </a:rPr>
              <a:t>DEGRADED BEHAVIOUR</a:t>
            </a:r>
          </a:p>
        </p:txBody>
      </p:sp>
      <p:sp>
        <p:nvSpPr>
          <p:cNvPr id="9" name="Rectangle 8"/>
          <p:cNvSpPr/>
          <p:nvPr/>
        </p:nvSpPr>
        <p:spPr>
          <a:xfrm>
            <a:off x="7096125" y="2343150"/>
            <a:ext cx="4486275" cy="36195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7210425" y="2343150"/>
            <a:ext cx="4295775" cy="361950"/>
          </a:xfrm>
          <a:prstGeom prst="rect">
            <a:avLst/>
          </a:prstGeom>
          <a:noFill/>
        </p:spPr>
        <p:txBody>
          <a:bodyPr wrap="square" anchor="ctr" lIns="0" tIns="0" rIns="0" bIns="0">
            <a:noAutofit/>
          </a:bodyPr>
          <a:lstStyle/>
          <a:p>
            <a:pPr algn="l">
              <a:lnSpc>
                <a:spcPct val="115000"/>
              </a:lnSpc>
              <a:spcBef>
                <a:spcPts val="0"/>
              </a:spcBef>
              <a:spcAft>
                <a:spcPts val="0"/>
              </a:spcAft>
            </a:pPr>
            <a:r>
              <a:rPr sz="825" b="1" i="0" spc="50">
                <a:solidFill>
                  <a:srgbClr val="FFFFFF"/>
                </a:solidFill>
                <a:latin typeface="Open Sans"/>
              </a:rPr>
              <a:t>IMPACT</a:t>
            </a:r>
          </a:p>
        </p:txBody>
      </p:sp>
      <p:sp>
        <p:nvSpPr>
          <p:cNvPr id="11" name="Rectangle 10"/>
          <p:cNvSpPr/>
          <p:nvPr/>
        </p:nvSpPr>
        <p:spPr>
          <a:xfrm>
            <a:off x="609600" y="2705100"/>
            <a:ext cx="2000250" cy="531019"/>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23900" y="2790825"/>
            <a:ext cx="1771650" cy="531019"/>
          </a:xfrm>
          <a:prstGeom prst="rect">
            <a:avLst/>
          </a:prstGeom>
          <a:noFill/>
        </p:spPr>
        <p:txBody>
          <a:bodyPr wrap="square" anchor="t" lIns="0" tIns="0" rIns="0" bIns="0">
            <a:noAutofit/>
          </a:bodyPr>
          <a:lstStyle/>
          <a:p>
            <a:pPr algn="l">
              <a:lnSpc>
                <a:spcPct val="135000"/>
              </a:lnSpc>
              <a:spcBef>
                <a:spcPts val="0"/>
              </a:spcBef>
              <a:spcAft>
                <a:spcPts val="0"/>
              </a:spcAft>
            </a:pPr>
            <a:r>
              <a:rPr sz="937" b="1" i="0">
                <a:solidFill>
                  <a:srgbClr val="000000"/>
                </a:solidFill>
                <a:latin typeface="Open Sans"/>
              </a:rPr>
              <a:t>Redis</a:t>
            </a:r>
          </a:p>
        </p:txBody>
      </p:sp>
      <p:sp>
        <p:nvSpPr>
          <p:cNvPr id="13" name="TextBox 12"/>
          <p:cNvSpPr txBox="1"/>
          <p:nvPr/>
        </p:nvSpPr>
        <p:spPr>
          <a:xfrm>
            <a:off x="2724150" y="2790825"/>
            <a:ext cx="4257675" cy="531019"/>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Single-node in-memory realtime; no rate limiting; claim caches query the database</a:t>
            </a:r>
          </a:p>
        </p:txBody>
      </p:sp>
      <p:sp>
        <p:nvSpPr>
          <p:cNvPr id="14" name="Rectangle 13"/>
          <p:cNvSpPr/>
          <p:nvPr/>
        </p:nvSpPr>
        <p:spPr>
          <a:xfrm>
            <a:off x="2609850" y="2705100"/>
            <a:ext cx="9525" cy="5310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Rectangle 14"/>
          <p:cNvSpPr/>
          <p:nvPr/>
        </p:nvSpPr>
        <p:spPr>
          <a:xfrm>
            <a:off x="7096125" y="2705100"/>
            <a:ext cx="4486275" cy="531019"/>
          </a:xfrm>
          <a:prstGeom prst="rect">
            <a:avLst/>
          </a:prstGeom>
          <a:solidFill>
            <a:srgbClr val="E3F0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7210425" y="2790825"/>
            <a:ext cx="4257675" cy="531019"/>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046A38"/>
                </a:solidFill>
                <a:latin typeface="Open Sans"/>
              </a:rPr>
              <a:t>Events do not cross nodes in a multi-replica setup</a:t>
            </a:r>
          </a:p>
        </p:txBody>
      </p:sp>
      <p:sp>
        <p:nvSpPr>
          <p:cNvPr id="17" name="Rectangle 16"/>
          <p:cNvSpPr/>
          <p:nvPr/>
        </p:nvSpPr>
        <p:spPr>
          <a:xfrm>
            <a:off x="7096125" y="2705100"/>
            <a:ext cx="9525" cy="5310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Rectangle 17"/>
          <p:cNvSpPr/>
          <p:nvPr/>
        </p:nvSpPr>
        <p:spPr>
          <a:xfrm>
            <a:off x="609600" y="3236119"/>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ectangle 18"/>
          <p:cNvSpPr/>
          <p:nvPr/>
        </p:nvSpPr>
        <p:spPr>
          <a:xfrm>
            <a:off x="609600" y="3245644"/>
            <a:ext cx="2000250" cy="3702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723900" y="3331369"/>
            <a:ext cx="1771650" cy="370284"/>
          </a:xfrm>
          <a:prstGeom prst="rect">
            <a:avLst/>
          </a:prstGeom>
          <a:noFill/>
        </p:spPr>
        <p:txBody>
          <a:bodyPr wrap="square" anchor="t" lIns="0" tIns="0" rIns="0" bIns="0">
            <a:noAutofit/>
          </a:bodyPr>
          <a:lstStyle/>
          <a:p>
            <a:pPr algn="l">
              <a:lnSpc>
                <a:spcPct val="135000"/>
              </a:lnSpc>
              <a:spcBef>
                <a:spcPts val="0"/>
              </a:spcBef>
              <a:spcAft>
                <a:spcPts val="0"/>
              </a:spcAft>
            </a:pPr>
            <a:r>
              <a:rPr sz="937" b="1" i="0">
                <a:solidFill>
                  <a:srgbClr val="000000"/>
                </a:solidFill>
                <a:latin typeface="Open Sans"/>
              </a:rPr>
              <a:t>Model gateway</a:t>
            </a:r>
          </a:p>
        </p:txBody>
      </p:sp>
      <p:sp>
        <p:nvSpPr>
          <p:cNvPr id="21" name="TextBox 20"/>
          <p:cNvSpPr txBox="1"/>
          <p:nvPr/>
        </p:nvSpPr>
        <p:spPr>
          <a:xfrm>
            <a:off x="2724150" y="3331369"/>
            <a:ext cx="4257675" cy="370284"/>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No session titles or quick-action suggestions</a:t>
            </a:r>
          </a:p>
        </p:txBody>
      </p:sp>
      <p:sp>
        <p:nvSpPr>
          <p:cNvPr id="22" name="Rectangle 21"/>
          <p:cNvSpPr/>
          <p:nvPr/>
        </p:nvSpPr>
        <p:spPr>
          <a:xfrm>
            <a:off x="2609850" y="3245644"/>
            <a:ext cx="9525" cy="370284"/>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ectangle 22"/>
          <p:cNvSpPr/>
          <p:nvPr/>
        </p:nvSpPr>
        <p:spPr>
          <a:xfrm>
            <a:off x="7096125" y="3245644"/>
            <a:ext cx="4486275" cy="370284"/>
          </a:xfrm>
          <a:prstGeom prst="rect">
            <a:avLst/>
          </a:prstGeom>
          <a:solidFill>
            <a:srgbClr val="E3F0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210425" y="3331369"/>
            <a:ext cx="4257675" cy="370284"/>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046A38"/>
                </a:solidFill>
                <a:latin typeface="Open Sans"/>
              </a:rPr>
              <a:t>Convenience features only</a:t>
            </a:r>
          </a:p>
        </p:txBody>
      </p:sp>
      <p:sp>
        <p:nvSpPr>
          <p:cNvPr id="25" name="Rectangle 24"/>
          <p:cNvSpPr/>
          <p:nvPr/>
        </p:nvSpPr>
        <p:spPr>
          <a:xfrm>
            <a:off x="7096125" y="3245644"/>
            <a:ext cx="9525" cy="370284"/>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ectangle 25"/>
          <p:cNvSpPr/>
          <p:nvPr/>
        </p:nvSpPr>
        <p:spPr>
          <a:xfrm>
            <a:off x="609600" y="3615928"/>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609600" y="3625453"/>
            <a:ext cx="2000250" cy="3702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723900" y="3711178"/>
            <a:ext cx="1771650" cy="370284"/>
          </a:xfrm>
          <a:prstGeom prst="rect">
            <a:avLst/>
          </a:prstGeom>
          <a:noFill/>
        </p:spPr>
        <p:txBody>
          <a:bodyPr wrap="square" anchor="t" lIns="0" tIns="0" rIns="0" bIns="0">
            <a:noAutofit/>
          </a:bodyPr>
          <a:lstStyle/>
          <a:p>
            <a:pPr algn="l">
              <a:lnSpc>
                <a:spcPct val="135000"/>
              </a:lnSpc>
              <a:spcBef>
                <a:spcPts val="0"/>
              </a:spcBef>
              <a:spcAft>
                <a:spcPts val="0"/>
              </a:spcAft>
            </a:pPr>
            <a:r>
              <a:rPr sz="937" b="1" i="0">
                <a:solidFill>
                  <a:srgbClr val="000000"/>
                </a:solidFill>
                <a:latin typeface="Open Sans"/>
              </a:rPr>
              <a:t>Metrics address</a:t>
            </a:r>
          </a:p>
        </p:txBody>
      </p:sp>
      <p:sp>
        <p:nvSpPr>
          <p:cNvPr id="29" name="TextBox 28"/>
          <p:cNvSpPr txBox="1"/>
          <p:nvPr/>
        </p:nvSpPr>
        <p:spPr>
          <a:xfrm>
            <a:off x="2724150" y="3711178"/>
            <a:ext cx="4257675" cy="370284"/>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No metrics endpoint exposed</a:t>
            </a:r>
          </a:p>
        </p:txBody>
      </p:sp>
      <p:sp>
        <p:nvSpPr>
          <p:cNvPr id="30" name="Rectangle 29"/>
          <p:cNvSpPr/>
          <p:nvPr/>
        </p:nvSpPr>
        <p:spPr>
          <a:xfrm>
            <a:off x="2609850" y="3625453"/>
            <a:ext cx="9525" cy="370284"/>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ectangle 30"/>
          <p:cNvSpPr/>
          <p:nvPr/>
        </p:nvSpPr>
        <p:spPr>
          <a:xfrm>
            <a:off x="7096125" y="3625453"/>
            <a:ext cx="4486275" cy="370284"/>
          </a:xfrm>
          <a:prstGeom prst="rect">
            <a:avLst/>
          </a:prstGeom>
          <a:solidFill>
            <a:srgbClr val="E3F0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TextBox 31"/>
          <p:cNvSpPr txBox="1"/>
          <p:nvPr/>
        </p:nvSpPr>
        <p:spPr>
          <a:xfrm>
            <a:off x="7210425" y="3711178"/>
            <a:ext cx="4257675" cy="370284"/>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046A38"/>
                </a:solidFill>
                <a:latin typeface="Open Sans"/>
              </a:rPr>
              <a:t>Observability only</a:t>
            </a:r>
          </a:p>
        </p:txBody>
      </p:sp>
      <p:sp>
        <p:nvSpPr>
          <p:cNvPr id="33" name="Rectangle 32"/>
          <p:cNvSpPr/>
          <p:nvPr/>
        </p:nvSpPr>
        <p:spPr>
          <a:xfrm>
            <a:off x="7096125" y="3625453"/>
            <a:ext cx="9525" cy="370284"/>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Rectangle 33"/>
          <p:cNvSpPr/>
          <p:nvPr/>
        </p:nvSpPr>
        <p:spPr>
          <a:xfrm>
            <a:off x="609600" y="3995738"/>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ectangle 34"/>
          <p:cNvSpPr/>
          <p:nvPr/>
        </p:nvSpPr>
        <p:spPr>
          <a:xfrm>
            <a:off x="609600" y="4005262"/>
            <a:ext cx="2000250" cy="3702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TextBox 35"/>
          <p:cNvSpPr txBox="1"/>
          <p:nvPr/>
        </p:nvSpPr>
        <p:spPr>
          <a:xfrm>
            <a:off x="723900" y="4090987"/>
            <a:ext cx="1771650" cy="370284"/>
          </a:xfrm>
          <a:prstGeom prst="rect">
            <a:avLst/>
          </a:prstGeom>
          <a:noFill/>
        </p:spPr>
        <p:txBody>
          <a:bodyPr wrap="square" anchor="t" lIns="0" tIns="0" rIns="0" bIns="0">
            <a:noAutofit/>
          </a:bodyPr>
          <a:lstStyle/>
          <a:p>
            <a:pPr algn="l">
              <a:lnSpc>
                <a:spcPct val="135000"/>
              </a:lnSpc>
              <a:spcBef>
                <a:spcPts val="0"/>
              </a:spcBef>
              <a:spcAft>
                <a:spcPts val="0"/>
              </a:spcAft>
            </a:pPr>
            <a:r>
              <a:rPr sz="937" b="1" i="0">
                <a:solidFill>
                  <a:srgbClr val="000000"/>
                </a:solidFill>
                <a:latin typeface="Open Sans"/>
              </a:rPr>
              <a:t>A channel key</a:t>
            </a:r>
          </a:p>
        </p:txBody>
      </p:sp>
      <p:sp>
        <p:nvSpPr>
          <p:cNvPr id="37" name="TextBox 36"/>
          <p:cNvSpPr txBox="1"/>
          <p:nvPr/>
        </p:nvSpPr>
        <p:spPr>
          <a:xfrm>
            <a:off x="2724150" y="4090987"/>
            <a:ext cx="4257675" cy="370284"/>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That channel’s endpoints return service unavailable</a:t>
            </a:r>
          </a:p>
        </p:txBody>
      </p:sp>
      <p:sp>
        <p:nvSpPr>
          <p:cNvPr id="38" name="Rectangle 37"/>
          <p:cNvSpPr/>
          <p:nvPr/>
        </p:nvSpPr>
        <p:spPr>
          <a:xfrm>
            <a:off x="2609850" y="4005262"/>
            <a:ext cx="9525" cy="370284"/>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9" name="Rectangle 38"/>
          <p:cNvSpPr/>
          <p:nvPr/>
        </p:nvSpPr>
        <p:spPr>
          <a:xfrm>
            <a:off x="7096125" y="4005262"/>
            <a:ext cx="4486275" cy="370284"/>
          </a:xfrm>
          <a:prstGeom prst="rect">
            <a:avLst/>
          </a:prstGeom>
          <a:solidFill>
            <a:srgbClr val="E3F0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0" name="TextBox 39"/>
          <p:cNvSpPr txBox="1"/>
          <p:nvPr/>
        </p:nvSpPr>
        <p:spPr>
          <a:xfrm>
            <a:off x="7210425" y="4090987"/>
            <a:ext cx="4257675" cy="370284"/>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046A38"/>
                </a:solidFill>
                <a:latin typeface="Open Sans"/>
              </a:rPr>
              <a:t>That channel only</a:t>
            </a:r>
          </a:p>
        </p:txBody>
      </p:sp>
      <p:sp>
        <p:nvSpPr>
          <p:cNvPr id="41" name="Rectangle 40"/>
          <p:cNvSpPr/>
          <p:nvPr/>
        </p:nvSpPr>
        <p:spPr>
          <a:xfrm>
            <a:off x="7096125" y="4005262"/>
            <a:ext cx="9525" cy="370284"/>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2" name="Rectangle 41"/>
          <p:cNvSpPr/>
          <p:nvPr/>
        </p:nvSpPr>
        <p:spPr>
          <a:xfrm>
            <a:off x="609600" y="4375547"/>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Rectangle 42"/>
          <p:cNvSpPr/>
          <p:nvPr/>
        </p:nvSpPr>
        <p:spPr>
          <a:xfrm>
            <a:off x="609600" y="4385072"/>
            <a:ext cx="2000250" cy="3702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TextBox 43"/>
          <p:cNvSpPr txBox="1"/>
          <p:nvPr/>
        </p:nvSpPr>
        <p:spPr>
          <a:xfrm>
            <a:off x="723900" y="4470797"/>
            <a:ext cx="1771650" cy="370284"/>
          </a:xfrm>
          <a:prstGeom prst="rect">
            <a:avLst/>
          </a:prstGeom>
          <a:noFill/>
        </p:spPr>
        <p:txBody>
          <a:bodyPr wrap="square" anchor="t" lIns="0" tIns="0" rIns="0" bIns="0">
            <a:noAutofit/>
          </a:bodyPr>
          <a:lstStyle/>
          <a:p>
            <a:pPr algn="l">
              <a:lnSpc>
                <a:spcPct val="135000"/>
              </a:lnSpc>
              <a:spcBef>
                <a:spcPts val="0"/>
              </a:spcBef>
              <a:spcAft>
                <a:spcPts val="0"/>
              </a:spcAft>
            </a:pPr>
            <a:r>
              <a:rPr sz="937" b="1" i="0">
                <a:solidFill>
                  <a:srgbClr val="000000"/>
                </a:solidFill>
                <a:latin typeface="Open Sans"/>
              </a:rPr>
              <a:t>Email service</a:t>
            </a:r>
          </a:p>
        </p:txBody>
      </p:sp>
      <p:sp>
        <p:nvSpPr>
          <p:cNvPr id="45" name="TextBox 44"/>
          <p:cNvSpPr txBox="1"/>
          <p:nvPr/>
        </p:nvSpPr>
        <p:spPr>
          <a:xfrm>
            <a:off x="2724150" y="4470797"/>
            <a:ext cx="4257675" cy="370284"/>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Invitation links are logged for manual distribution</a:t>
            </a:r>
          </a:p>
        </p:txBody>
      </p:sp>
      <p:sp>
        <p:nvSpPr>
          <p:cNvPr id="46" name="Rectangle 45"/>
          <p:cNvSpPr/>
          <p:nvPr/>
        </p:nvSpPr>
        <p:spPr>
          <a:xfrm>
            <a:off x="2609850" y="4385072"/>
            <a:ext cx="9525" cy="370284"/>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Rectangle 46"/>
          <p:cNvSpPr/>
          <p:nvPr/>
        </p:nvSpPr>
        <p:spPr>
          <a:xfrm>
            <a:off x="7096125" y="4385072"/>
            <a:ext cx="4486275" cy="370284"/>
          </a:xfrm>
          <a:prstGeom prst="rect">
            <a:avLst/>
          </a:prstGeom>
          <a:solidFill>
            <a:srgbClr val="E3F0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8" name="TextBox 47"/>
          <p:cNvSpPr txBox="1"/>
          <p:nvPr/>
        </p:nvSpPr>
        <p:spPr>
          <a:xfrm>
            <a:off x="7210425" y="4470797"/>
            <a:ext cx="4257675" cy="370284"/>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046A38"/>
                </a:solidFill>
                <a:latin typeface="Open Sans"/>
              </a:rPr>
              <a:t>Invitations need a manual step</a:t>
            </a:r>
          </a:p>
        </p:txBody>
      </p:sp>
      <p:sp>
        <p:nvSpPr>
          <p:cNvPr id="49" name="Rectangle 48"/>
          <p:cNvSpPr/>
          <p:nvPr/>
        </p:nvSpPr>
        <p:spPr>
          <a:xfrm>
            <a:off x="7096125" y="4385072"/>
            <a:ext cx="9525" cy="370284"/>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Rectangle 49"/>
          <p:cNvSpPr/>
          <p:nvPr/>
        </p:nvSpPr>
        <p:spPr>
          <a:xfrm>
            <a:off x="609600" y="4755356"/>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1" name="Rectangle 50"/>
          <p:cNvSpPr/>
          <p:nvPr/>
        </p:nvSpPr>
        <p:spPr>
          <a:xfrm>
            <a:off x="609600" y="4764881"/>
            <a:ext cx="2000250" cy="3702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2" name="TextBox 51"/>
          <p:cNvSpPr txBox="1"/>
          <p:nvPr/>
        </p:nvSpPr>
        <p:spPr>
          <a:xfrm>
            <a:off x="723900" y="4850606"/>
            <a:ext cx="1771650" cy="370284"/>
          </a:xfrm>
          <a:prstGeom prst="rect">
            <a:avLst/>
          </a:prstGeom>
          <a:noFill/>
        </p:spPr>
        <p:txBody>
          <a:bodyPr wrap="square" anchor="t" lIns="0" tIns="0" rIns="0" bIns="0">
            <a:noAutofit/>
          </a:bodyPr>
          <a:lstStyle/>
          <a:p>
            <a:pPr algn="l">
              <a:lnSpc>
                <a:spcPct val="135000"/>
              </a:lnSpc>
              <a:spcBef>
                <a:spcPts val="0"/>
              </a:spcBef>
              <a:spcAft>
                <a:spcPts val="0"/>
              </a:spcAft>
            </a:pPr>
            <a:r>
              <a:rPr sz="937" b="1" i="0">
                <a:solidFill>
                  <a:srgbClr val="000000"/>
                </a:solidFill>
                <a:latin typeface="Open Sans"/>
              </a:rPr>
              <a:t>Any online runtime</a:t>
            </a:r>
          </a:p>
        </p:txBody>
      </p:sp>
      <p:sp>
        <p:nvSpPr>
          <p:cNvPr id="53" name="TextBox 52"/>
          <p:cNvSpPr txBox="1"/>
          <p:nvPr/>
        </p:nvSpPr>
        <p:spPr>
          <a:xfrm>
            <a:off x="2724150" y="4850606"/>
            <a:ext cx="4257675" cy="370284"/>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53565A"/>
                </a:solidFill>
                <a:latin typeface="Open Sans"/>
              </a:rPr>
              <a:t>Work waits in the queue</a:t>
            </a:r>
          </a:p>
        </p:txBody>
      </p:sp>
      <p:sp>
        <p:nvSpPr>
          <p:cNvPr id="54" name="Rectangle 53"/>
          <p:cNvSpPr/>
          <p:nvPr/>
        </p:nvSpPr>
        <p:spPr>
          <a:xfrm>
            <a:off x="2609850" y="4764881"/>
            <a:ext cx="9525" cy="370284"/>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5" name="Rectangle 54"/>
          <p:cNvSpPr/>
          <p:nvPr/>
        </p:nvSpPr>
        <p:spPr>
          <a:xfrm>
            <a:off x="7096125" y="4764881"/>
            <a:ext cx="4486275" cy="370284"/>
          </a:xfrm>
          <a:prstGeom prst="rect">
            <a:avLst/>
          </a:prstGeom>
          <a:solidFill>
            <a:srgbClr val="E3F0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6" name="TextBox 55"/>
          <p:cNvSpPr txBox="1"/>
          <p:nvPr/>
        </p:nvSpPr>
        <p:spPr>
          <a:xfrm>
            <a:off x="7210425" y="4850606"/>
            <a:ext cx="4257675" cy="370284"/>
          </a:xfrm>
          <a:prstGeom prst="rect">
            <a:avLst/>
          </a:prstGeom>
          <a:noFill/>
        </p:spPr>
        <p:txBody>
          <a:bodyPr wrap="square" anchor="t" lIns="0" tIns="0" rIns="0" bIns="0">
            <a:noAutofit/>
          </a:bodyPr>
          <a:lstStyle/>
          <a:p>
            <a:pPr algn="l">
              <a:lnSpc>
                <a:spcPct val="135000"/>
              </a:lnSpc>
              <a:spcBef>
                <a:spcPts val="0"/>
              </a:spcBef>
              <a:spcAft>
                <a:spcPts val="0"/>
              </a:spcAft>
            </a:pPr>
            <a:r>
              <a:rPr sz="937" b="0" i="0">
                <a:solidFill>
                  <a:srgbClr val="046A38"/>
                </a:solidFill>
                <a:latin typeface="Open Sans"/>
              </a:rPr>
              <a:t>Nothing is lost; claimed when a runtime returns</a:t>
            </a:r>
          </a:p>
        </p:txBody>
      </p:sp>
      <p:sp>
        <p:nvSpPr>
          <p:cNvPr id="57" name="Rectangle 56"/>
          <p:cNvSpPr/>
          <p:nvPr/>
        </p:nvSpPr>
        <p:spPr>
          <a:xfrm>
            <a:off x="7096125" y="4764881"/>
            <a:ext cx="9525" cy="370284"/>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8" name="Rectangle 57"/>
          <p:cNvSpPr/>
          <p:nvPr/>
        </p:nvSpPr>
        <p:spPr>
          <a:xfrm>
            <a:off x="609600" y="5135166"/>
            <a:ext cx="10972800" cy="9525"/>
          </a:xfrm>
          <a:prstGeom prst="rect">
            <a:avLst/>
          </a:prstGeom>
          <a:solidFill>
            <a:srgbClr val="D0D0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9" name="TextBox 58"/>
          <p:cNvSpPr txBox="1"/>
          <p:nvPr/>
        </p:nvSpPr>
        <p:spPr>
          <a:xfrm>
            <a:off x="609600" y="5335191"/>
            <a:ext cx="10972800" cy="247650"/>
          </a:xfrm>
          <a:prstGeom prst="rect">
            <a:avLst/>
          </a:prstGeom>
          <a:noFill/>
        </p:spPr>
        <p:txBody>
          <a:bodyPr wrap="square" anchor="t" lIns="0" tIns="0" rIns="0" bIns="0">
            <a:noAutofit/>
          </a:bodyPr>
          <a:lstStyle/>
          <a:p>
            <a:pPr algn="l">
              <a:lnSpc>
                <a:spcPct val="135000"/>
              </a:lnSpc>
              <a:spcBef>
                <a:spcPts val="0"/>
              </a:spcBef>
              <a:spcAft>
                <a:spcPts val="0"/>
              </a:spcAft>
            </a:pPr>
            <a:r>
              <a:rPr sz="1050" b="0">
                <a:solidFill>
                  <a:srgbClr val="53565A"/>
                </a:solidFill>
                <a:latin typeface="Open Sans"/>
              </a:rPr>
              <a:t>Minimal deployments work, and local faults never escalate into outages. </a:t>
            </a:r>
            <a:r>
              <a:rPr sz="1050" b="0">
                <a:solidFill>
                  <a:srgbClr val="53565A"/>
                </a:solidFill>
                <a:latin typeface="Open Sans"/>
              </a:rPr>
              <a:t>Execution adds leases, layered watchdogs, failure classification, orphan recovery and cancellation acknowledgement.</a:t>
            </a:r>
          </a:p>
        </p:txBody>
      </p:sp>
      <p:sp>
        <p:nvSpPr>
          <p:cNvPr id="60" name="TextBox 59"/>
          <p:cNvSpPr txBox="1"/>
          <p:nvPr/>
        </p:nvSpPr>
        <p:spPr>
          <a:xfrm>
            <a:off x="609600" y="6457950"/>
            <a:ext cx="1524000" cy="209550"/>
          </a:xfrm>
          <a:prstGeom prst="rect">
            <a:avLst/>
          </a:prstGeom>
          <a:noFill/>
        </p:spPr>
        <p:txBody>
          <a:bodyPr wrap="square" anchor="t" lIns="0" tIns="0" rIns="0" bIns="0">
            <a:noAutofit/>
          </a:bodyPr>
          <a:lstStyle/>
          <a:p>
            <a:pPr algn="l">
              <a:lnSpc>
                <a:spcPct val="100000"/>
              </a:lnSpc>
              <a:spcBef>
                <a:spcPts val="0"/>
              </a:spcBef>
              <a:spcAft>
                <a:spcPts val="0"/>
              </a:spcAft>
            </a:pPr>
            <a:r>
              <a:rPr sz="900" b="1">
                <a:solidFill>
                  <a:srgbClr val="000000"/>
                </a:solidFill>
                <a:latin typeface="Open Sans"/>
              </a:rPr>
              <a:t>Deloitte</a:t>
            </a:r>
            <a:r>
              <a:rPr sz="975" b="1">
                <a:solidFill>
                  <a:srgbClr val="86BC25"/>
                </a:solidFill>
                <a:latin typeface="Open Sans"/>
              </a:rPr>
              <a:t>.</a:t>
            </a:r>
          </a:p>
        </p:txBody>
      </p:sp>
      <p:sp>
        <p:nvSpPr>
          <p:cNvPr id="61" name="TextBox 60"/>
          <p:cNvSpPr txBox="1"/>
          <p:nvPr/>
        </p:nvSpPr>
        <p:spPr>
          <a:xfrm>
            <a:off x="4000500" y="6496050"/>
            <a:ext cx="4191000" cy="171450"/>
          </a:xfrm>
          <a:prstGeom prst="rect">
            <a:avLst/>
          </a:prstGeom>
          <a:noFill/>
        </p:spPr>
        <p:txBody>
          <a:bodyPr wrap="square" anchor="t" lIns="0" tIns="0" rIns="0" bIns="0">
            <a:noAutofit/>
          </a:bodyPr>
          <a:lstStyle/>
          <a:p>
            <a:pPr algn="ctr">
              <a:lnSpc>
                <a:spcPct val="100000"/>
              </a:lnSpc>
              <a:spcBef>
                <a:spcPts val="0"/>
              </a:spcBef>
              <a:spcAft>
                <a:spcPts val="0"/>
              </a:spcAft>
            </a:pPr>
            <a:r>
              <a:rPr sz="825" b="0" i="0">
                <a:solidFill>
                  <a:srgbClr val="75787B"/>
                </a:solidFill>
                <a:latin typeface="Open Sans"/>
              </a:rPr>
              <a:t>Information Classification: Confidential</a:t>
            </a:r>
          </a:p>
        </p:txBody>
      </p:sp>
      <p:sp>
        <p:nvSpPr>
          <p:cNvPr id="62" name="TextBox 61"/>
          <p:cNvSpPr txBox="1"/>
          <p:nvPr/>
        </p:nvSpPr>
        <p:spPr>
          <a:xfrm>
            <a:off x="8343900" y="6496050"/>
            <a:ext cx="3238500" cy="171450"/>
          </a:xfrm>
          <a:prstGeom prst="rect">
            <a:avLst/>
          </a:prstGeom>
          <a:noFill/>
        </p:spPr>
        <p:txBody>
          <a:bodyPr wrap="square" anchor="t" lIns="0" tIns="0" rIns="0" bIns="0">
            <a:noAutofit/>
          </a:bodyPr>
          <a:lstStyle/>
          <a:p>
            <a:pPr algn="r">
              <a:lnSpc>
                <a:spcPct val="100000"/>
              </a:lnSpc>
              <a:spcBef>
                <a:spcPts val="0"/>
              </a:spcBef>
              <a:spcAft>
                <a:spcPts val="0"/>
              </a:spcAft>
            </a:pPr>
            <a:r>
              <a:rPr sz="825" b="0" i="0">
                <a:solidFill>
                  <a:srgbClr val="75787B"/>
                </a:solidFill>
                <a:latin typeface="Open Sans"/>
              </a:rPr>
              <a:t>© 2026 Deloitte. For internal use only.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1F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pic>
        <p:nvPicPr>
          <p:cNvPr id="3" name="Picture 2" descr="green-abstract-1.png"/>
          <p:cNvPicPr>
            <a:picLocks noChangeAspect="1"/>
          </p:cNvPicPr>
          <p:nvPr/>
        </p:nvPicPr>
        <p:blipFill>
          <a:blip r:embed="rId2"/>
          <a:srcRect l="30831" r="30831"/>
          <a:stretch>
            <a:fillRect/>
          </a:stretch>
        </p:blipFill>
        <p:spPr>
          <a:xfrm>
            <a:off x="7277100" y="0"/>
            <a:ext cx="4914900" cy="6858000"/>
          </a:xfrm>
          <a:prstGeom prst="rect">
            <a:avLst/>
          </a:prstGeom>
        </p:spPr>
      </p:pic>
      <p:sp>
        <p:nvSpPr>
          <p:cNvPr id="4" name="Rectangle 3"/>
          <p:cNvSpPr/>
          <p:nvPr/>
        </p:nvSpPr>
        <p:spPr>
          <a:xfrm>
            <a:off x="6667500" y="0"/>
            <a:ext cx="5524500" cy="6858000"/>
          </a:xfrm>
          <a:prstGeom prst="rect">
            <a:avLst/>
          </a:prstGeom>
          <a:gradFill rotWithShape="1">
            <a:gsLst>
              <a:gs pos="0">
                <a:srgbClr val="0B1F12">
                  <a:alpha val="96000"/>
                </a:srgbClr>
              </a:gs>
              <a:gs pos="100000">
                <a:srgbClr val="0B1F12">
                  <a:alpha val="4000"/>
                </a:srgbClr>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09600" y="495300"/>
            <a:ext cx="1905000" cy="360045"/>
          </a:xfrm>
          <a:prstGeom prst="rect">
            <a:avLst/>
          </a:prstGeom>
          <a:noFill/>
        </p:spPr>
        <p:txBody>
          <a:bodyPr wrap="square" anchor="t" lIns="0" tIns="0" rIns="0" bIns="0">
            <a:noAutofit/>
          </a:bodyPr>
          <a:lstStyle/>
          <a:p>
            <a:pPr algn="l">
              <a:lnSpc>
                <a:spcPct val="100000"/>
              </a:lnSpc>
              <a:spcBef>
                <a:spcPts val="0"/>
              </a:spcBef>
              <a:spcAft>
                <a:spcPts val="0"/>
              </a:spcAft>
            </a:pPr>
            <a:r>
              <a:rPr sz="1575" b="1">
                <a:solidFill>
                  <a:srgbClr val="FFFFFF"/>
                </a:solidFill>
                <a:latin typeface="Open Sans"/>
              </a:rPr>
              <a:t>Deloitte</a:t>
            </a:r>
            <a:r>
              <a:rPr sz="1575" b="1">
                <a:solidFill>
                  <a:srgbClr val="86BC25"/>
                </a:solidFill>
                <a:latin typeface="Open Sans"/>
              </a:rPr>
              <a:t>.</a:t>
            </a:r>
          </a:p>
        </p:txBody>
      </p:sp>
      <p:sp>
        <p:nvSpPr>
          <p:cNvPr id="6" name="TextBox 5"/>
          <p:cNvSpPr txBox="1"/>
          <p:nvPr/>
        </p:nvSpPr>
        <p:spPr>
          <a:xfrm>
            <a:off x="609600" y="2247900"/>
            <a:ext cx="6096000" cy="228600"/>
          </a:xfrm>
          <a:prstGeom prst="rect">
            <a:avLst/>
          </a:prstGeom>
          <a:noFill/>
        </p:spPr>
        <p:txBody>
          <a:bodyPr wrap="square" anchor="t" lIns="0" tIns="0" rIns="0" bIns="0">
            <a:noAutofit/>
          </a:bodyPr>
          <a:lstStyle/>
          <a:p>
            <a:pPr algn="l">
              <a:lnSpc>
                <a:spcPct val="100000"/>
              </a:lnSpc>
              <a:spcBef>
                <a:spcPts val="0"/>
              </a:spcBef>
              <a:spcAft>
                <a:spcPts val="0"/>
              </a:spcAft>
            </a:pPr>
            <a:r>
              <a:rPr sz="900" b="1" i="0" spc="140">
                <a:solidFill>
                  <a:srgbClr val="86BC25"/>
                </a:solidFill>
                <a:latin typeface="Open Sans"/>
              </a:rPr>
              <a:t>IN SUMMARY</a:t>
            </a:r>
          </a:p>
        </p:txBody>
      </p:sp>
      <p:sp>
        <p:nvSpPr>
          <p:cNvPr id="7" name="TextBox 6"/>
          <p:cNvSpPr txBox="1"/>
          <p:nvPr/>
        </p:nvSpPr>
        <p:spPr>
          <a:xfrm>
            <a:off x="609600" y="2533650"/>
            <a:ext cx="6286500" cy="1238250"/>
          </a:xfrm>
          <a:prstGeom prst="rect">
            <a:avLst/>
          </a:prstGeom>
          <a:noFill/>
        </p:spPr>
        <p:txBody>
          <a:bodyPr wrap="square" anchor="t" lIns="0" tIns="0" rIns="0" bIns="0">
            <a:noAutofit/>
          </a:bodyPr>
          <a:lstStyle/>
          <a:p>
            <a:pPr algn="l">
              <a:lnSpc>
                <a:spcPct val="106000"/>
              </a:lnSpc>
              <a:spcBef>
                <a:spcPts val="0"/>
              </a:spcBef>
              <a:spcAft>
                <a:spcPts val="0"/>
              </a:spcAft>
            </a:pPr>
            <a:r>
              <a:rPr sz="3150" b="0" i="0">
                <a:solidFill>
                  <a:srgbClr val="FFFFFF"/>
                </a:solidFill>
                <a:latin typeface="Open Sans Light"/>
              </a:rPr>
              <a:t>The layer that gets</a:t>
            </a:r>
          </a:p>
          <a:p>
            <a:pPr>
              <a:lnSpc>
                <a:spcPct val="106000"/>
              </a:lnSpc>
              <a:spcBef>
                <a:spcPts val="0"/>
              </a:spcBef>
              <a:spcAft>
                <a:spcPts val="0"/>
              </a:spcAft>
            </a:pPr>
            <a:r>
              <a:rPr sz="3150" b="1">
                <a:solidFill>
                  <a:srgbClr val="FFFFFF"/>
                </a:solidFill>
                <a:latin typeface="Open Sans"/>
              </a:rPr>
              <a:t>more valuable</a:t>
            </a:r>
            <a:r>
              <a:rPr sz="3150" b="0">
                <a:solidFill>
                  <a:srgbClr val="FFFFFF"/>
                </a:solidFill>
                <a:latin typeface="Open Sans Light"/>
              </a:rPr>
              <a:t> as agents</a:t>
            </a:r>
          </a:p>
          <a:p>
            <a:pPr>
              <a:lnSpc>
                <a:spcPct val="106000"/>
              </a:lnSpc>
              <a:spcBef>
                <a:spcPts val="0"/>
              </a:spcBef>
              <a:spcAft>
                <a:spcPts val="0"/>
              </a:spcAft>
            </a:pPr>
            <a:r>
              <a:rPr sz="3150" b="0" i="0">
                <a:solidFill>
                  <a:srgbClr val="FFFFFF"/>
                </a:solidFill>
                <a:latin typeface="Open Sans Light"/>
              </a:rPr>
              <a:t>get stronger</a:t>
            </a:r>
          </a:p>
        </p:txBody>
      </p:sp>
      <p:sp>
        <p:nvSpPr>
          <p:cNvPr id="8" name="Rectangle 7"/>
          <p:cNvSpPr/>
          <p:nvPr/>
        </p:nvSpPr>
        <p:spPr>
          <a:xfrm>
            <a:off x="609600" y="4305300"/>
            <a:ext cx="609600" cy="3810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Oval 8"/>
          <p:cNvSpPr/>
          <p:nvPr/>
        </p:nvSpPr>
        <p:spPr>
          <a:xfrm>
            <a:off x="619125" y="4687157"/>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771525" y="4600575"/>
            <a:ext cx="5743575" cy="262652"/>
          </a:xfrm>
          <a:prstGeom prst="rect">
            <a:avLst/>
          </a:prstGeom>
          <a:noFill/>
        </p:spPr>
        <p:txBody>
          <a:bodyPr wrap="square" anchor="t" lIns="0" tIns="0" rIns="0" bIns="0">
            <a:noAutofit/>
          </a:bodyPr>
          <a:lstStyle/>
          <a:p>
            <a:pPr algn="l">
              <a:lnSpc>
                <a:spcPct val="135000"/>
              </a:lnSpc>
              <a:spcBef>
                <a:spcPts val="0"/>
              </a:spcBef>
              <a:spcAft>
                <a:spcPts val="0"/>
              </a:spcAft>
            </a:pPr>
            <a:r>
              <a:rPr sz="1087" b="0" i="0">
                <a:solidFill>
                  <a:srgbClr val="C9D6CB"/>
                </a:solidFill>
                <a:latin typeface="Open Sans"/>
              </a:rPr>
              <a:t>Agents as accountable teammates, not tools on a panel</a:t>
            </a:r>
          </a:p>
        </p:txBody>
      </p:sp>
      <p:sp>
        <p:nvSpPr>
          <p:cNvPr id="11" name="Oval 10"/>
          <p:cNvSpPr/>
          <p:nvPr/>
        </p:nvSpPr>
        <p:spPr>
          <a:xfrm>
            <a:off x="619125" y="4997434"/>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71525" y="4910852"/>
            <a:ext cx="5743575" cy="262652"/>
          </a:xfrm>
          <a:prstGeom prst="rect">
            <a:avLst/>
          </a:prstGeom>
          <a:noFill/>
        </p:spPr>
        <p:txBody>
          <a:bodyPr wrap="square" anchor="t" lIns="0" tIns="0" rIns="0" bIns="0">
            <a:noAutofit/>
          </a:bodyPr>
          <a:lstStyle/>
          <a:p>
            <a:pPr algn="l">
              <a:lnSpc>
                <a:spcPct val="135000"/>
              </a:lnSpc>
              <a:spcBef>
                <a:spcPts val="0"/>
              </a:spcBef>
              <a:spcAft>
                <a:spcPts val="0"/>
              </a:spcAft>
            </a:pPr>
            <a:r>
              <a:rPr sz="1087" b="0" i="0">
                <a:solidFill>
                  <a:srgbClr val="C9D6CB"/>
                </a:solidFill>
                <a:latin typeface="Open Sans"/>
              </a:rPr>
              <a:t>A data boundary that is identical on cloud and self-hosted</a:t>
            </a:r>
          </a:p>
        </p:txBody>
      </p:sp>
      <p:sp>
        <p:nvSpPr>
          <p:cNvPr id="13" name="Oval 12"/>
          <p:cNvSpPr/>
          <p:nvPr/>
        </p:nvSpPr>
        <p:spPr>
          <a:xfrm>
            <a:off x="619125" y="5307711"/>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771525" y="5221129"/>
            <a:ext cx="5743575" cy="262652"/>
          </a:xfrm>
          <a:prstGeom prst="rect">
            <a:avLst/>
          </a:prstGeom>
          <a:noFill/>
        </p:spPr>
        <p:txBody>
          <a:bodyPr wrap="square" anchor="t" lIns="0" tIns="0" rIns="0" bIns="0">
            <a:noAutofit/>
          </a:bodyPr>
          <a:lstStyle/>
          <a:p>
            <a:pPr algn="l">
              <a:lnSpc>
                <a:spcPct val="135000"/>
              </a:lnSpc>
              <a:spcBef>
                <a:spcPts val="0"/>
              </a:spcBef>
              <a:spcAft>
                <a:spcPts val="0"/>
              </a:spcAft>
            </a:pPr>
            <a:r>
              <a:rPr sz="1087" b="0" i="0">
                <a:solidFill>
                  <a:srgbClr val="C9D6CB"/>
                </a:solidFill>
                <a:latin typeface="Open Sans"/>
              </a:rPr>
              <a:t>Governance the enterprise controls: gates, evidence, isolation</a:t>
            </a:r>
          </a:p>
        </p:txBody>
      </p:sp>
      <p:sp>
        <p:nvSpPr>
          <p:cNvPr id="15" name="Oval 14"/>
          <p:cNvSpPr/>
          <p:nvPr/>
        </p:nvSpPr>
        <p:spPr>
          <a:xfrm>
            <a:off x="619125" y="5617988"/>
            <a:ext cx="57150" cy="5715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771525" y="5531406"/>
            <a:ext cx="5743575" cy="262652"/>
          </a:xfrm>
          <a:prstGeom prst="rect">
            <a:avLst/>
          </a:prstGeom>
          <a:noFill/>
        </p:spPr>
        <p:txBody>
          <a:bodyPr wrap="square" anchor="t" lIns="0" tIns="0" rIns="0" bIns="0">
            <a:noAutofit/>
          </a:bodyPr>
          <a:lstStyle/>
          <a:p>
            <a:pPr algn="l">
              <a:lnSpc>
                <a:spcPct val="135000"/>
              </a:lnSpc>
              <a:spcBef>
                <a:spcPts val="0"/>
              </a:spcBef>
              <a:spcAft>
                <a:spcPts val="0"/>
              </a:spcAft>
            </a:pPr>
            <a:r>
              <a:rPr sz="1087" b="0" i="0">
                <a:solidFill>
                  <a:srgbClr val="C9D6CB"/>
                </a:solidFill>
                <a:latin typeface="Open Sans"/>
              </a:rPr>
              <a:t>Open core — internal self-hosted use needs no commercial licence</a:t>
            </a:r>
          </a:p>
        </p:txBody>
      </p:sp>
      <p:sp>
        <p:nvSpPr>
          <p:cNvPr id="17" name="Rectangle 16"/>
          <p:cNvSpPr/>
          <p:nvPr/>
        </p:nvSpPr>
        <p:spPr>
          <a:xfrm>
            <a:off x="609600" y="5905500"/>
            <a:ext cx="6286500" cy="9525"/>
          </a:xfrm>
          <a:prstGeom prst="rect">
            <a:avLst/>
          </a:prstGeom>
          <a:solidFill>
            <a:srgbClr val="334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09600" y="6038850"/>
            <a:ext cx="4762500" cy="228600"/>
          </a:xfrm>
          <a:prstGeom prst="rect">
            <a:avLst/>
          </a:prstGeom>
          <a:noFill/>
        </p:spPr>
        <p:txBody>
          <a:bodyPr wrap="square" anchor="t" lIns="0" tIns="0" rIns="0" bIns="0">
            <a:noAutofit/>
          </a:bodyPr>
          <a:lstStyle/>
          <a:p>
            <a:pPr algn="l">
              <a:lnSpc>
                <a:spcPct val="100000"/>
              </a:lnSpc>
              <a:spcBef>
                <a:spcPts val="0"/>
              </a:spcBef>
              <a:spcAft>
                <a:spcPts val="0"/>
              </a:spcAft>
            </a:pPr>
            <a:r>
              <a:rPr sz="937" b="0" i="0">
                <a:solidFill>
                  <a:srgbClr val="C9CEC9"/>
                </a:solidFill>
                <a:latin typeface="Open Sans"/>
              </a:rPr>
              <a:t>Deloitte Consulting</a:t>
            </a:r>
          </a:p>
        </p:txBody>
      </p:sp>
      <p:sp>
        <p:nvSpPr>
          <p:cNvPr id="19" name="TextBox 18"/>
          <p:cNvSpPr txBox="1"/>
          <p:nvPr/>
        </p:nvSpPr>
        <p:spPr>
          <a:xfrm>
            <a:off x="7620000" y="6038850"/>
            <a:ext cx="3962400" cy="228600"/>
          </a:xfrm>
          <a:prstGeom prst="rect">
            <a:avLst/>
          </a:prstGeom>
          <a:noFill/>
        </p:spPr>
        <p:txBody>
          <a:bodyPr wrap="square" anchor="t" lIns="0" tIns="0" rIns="0" bIns="0">
            <a:noAutofit/>
          </a:bodyPr>
          <a:lstStyle/>
          <a:p>
            <a:pPr algn="r">
              <a:lnSpc>
                <a:spcPct val="100000"/>
              </a:lnSpc>
              <a:spcBef>
                <a:spcPts val="0"/>
              </a:spcBef>
              <a:spcAft>
                <a:spcPts val="0"/>
              </a:spcAft>
            </a:pPr>
            <a:r>
              <a:rPr sz="675" b="0" i="0">
                <a:solidFill>
                  <a:srgbClr val="8A948C"/>
                </a:solidFill>
                <a:latin typeface="Open Sans"/>
              </a:rPr>
              <a:t>Information Classification: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