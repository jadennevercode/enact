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84822"/>
            <a:ext cx="119063" cy="119063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5325" y="361950"/>
            <a:ext cx="7858125" cy="419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800" y="361950"/>
            <a:ext cx="4572000" cy="419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66A"/>
                </a:solidFill>
                <a:latin typeface="Arial"/>
              </a:rPr>
              <a:t>View 01 of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52500"/>
            <a:ext cx="9768840" cy="494348"/>
          </a:xfrm>
          <a:prstGeom prst="rect">
            <a:avLst/>
          </a:prstGeom>
          <a:solidFill>
            <a:srgbClr val="63666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2500"/>
            <a:ext cx="1133475" cy="4943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3666A"/>
                </a:solidFill>
                <a:latin typeface="Arial"/>
              </a:rPr>
              <a:t>Users &amp;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3555" y="1034891"/>
            <a:ext cx="1000720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A1A1A"/>
                </a:solidFill>
                <a:latin typeface="Arial"/>
              </a:rPr>
              <a:t>Workspace 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8093" y="1034891"/>
            <a:ext cx="1000720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A1A1A"/>
                </a:solidFill>
                <a:latin typeface="Arial"/>
              </a:rPr>
              <a:t>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2631" y="1034891"/>
            <a:ext cx="1000720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A1A1A"/>
                </a:solidFill>
                <a:latin typeface="Arial"/>
              </a:rPr>
              <a:t>Member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67168" y="1034891"/>
            <a:ext cx="1000720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A1A1A"/>
                </a:solidFill>
                <a:latin typeface="Arial"/>
              </a:rPr>
              <a:t>Delivery 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1706" y="1034891"/>
            <a:ext cx="1000720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A1A1A"/>
                </a:solidFill>
                <a:latin typeface="Arial"/>
              </a:rPr>
              <a:t>Domain Expert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6244" y="1034891"/>
            <a:ext cx="1000720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A1A1A"/>
                </a:solidFill>
                <a:latin typeface="Arial"/>
              </a:rPr>
              <a:t>Orchestration Engineer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0782" y="1034891"/>
            <a:ext cx="1000720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A1A1A"/>
                </a:solidFill>
                <a:latin typeface="Arial"/>
              </a:rPr>
              <a:t>Reviewer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25320" y="1034891"/>
            <a:ext cx="1000720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A1A1A"/>
                </a:solidFill>
                <a:latin typeface="Arial"/>
              </a:rPr>
              <a:t>Risk &amp; Audit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515428"/>
            <a:ext cx="9768840" cy="566738"/>
          </a:xfrm>
          <a:prstGeom prst="rect">
            <a:avLst/>
          </a:prstGeom>
          <a:solidFill>
            <a:srgbClr val="043B2C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515428"/>
            <a:ext cx="1133475" cy="56673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43B2C"/>
                </a:solidFill>
                <a:latin typeface="Arial"/>
              </a:rPr>
              <a:t>Non-human
Participants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73555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Agent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triggered, never resident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6816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Squad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agent-led coordination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0076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Autopilot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schedule · webhook ·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3337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Skill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how a kind of work is 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86597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Ontology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domain semantics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50745"/>
            <a:ext cx="9768840" cy="1576388"/>
          </a:xfrm>
          <a:prstGeom prst="rect">
            <a:avLst/>
          </a:prstGeom>
          <a:solidFill>
            <a:srgbClr val="86BC2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50745"/>
            <a:ext cx="1133475" cy="15763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6BC25"/>
                </a:solidFill>
                <a:latin typeface="Arial"/>
              </a:rPr>
              <a:t>Business
Capabilities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3555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Work Governance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73555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Work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3555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Projects &amp; Resources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73555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Views &amp; Search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73555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Statuses &amp;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73555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Workspace 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6816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Agent Operations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6816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Agent Definition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6816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Skill Authoring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6816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Squad Composition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6816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Delivery Families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6816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Access &amp; Visibility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80076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Execution &amp; Runtime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80076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Delegation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0076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Task Lifecycle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80076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Runtime Registry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0076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Isolation &amp; Leases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80076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Usage &amp; Cost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83337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Collaboration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83337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Comments &amp; Mentions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83337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Subscriptions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83337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Inbox &amp; Notifications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83337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Chat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83337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Messaging Channels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86597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Trust &amp; Evidence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86597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Identity &amp; Access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86597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Audit Trail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86597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Run Evidence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86597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Attribution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86597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Entitlements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95712"/>
            <a:ext cx="9768840" cy="494348"/>
          </a:xfrm>
          <a:prstGeom prst="rect">
            <a:avLst/>
          </a:prstGeom>
          <a:solidFill>
            <a:srgbClr val="0097A9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3795712"/>
            <a:ext cx="1133475" cy="4943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7A9"/>
                </a:solidFill>
                <a:latin typeface="Arial"/>
              </a:rPr>
              <a:t>Delegation &amp;
Contract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73555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Assignment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6816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@-Mention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0076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Chat Turn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83337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Autopilot Trigger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86597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Human Gate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358640"/>
            <a:ext cx="9768840" cy="494348"/>
          </a:xfrm>
          <a:prstGeom prst="rect">
            <a:avLst/>
          </a:prstGeom>
          <a:solidFill>
            <a:srgbClr val="0097A9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358640"/>
            <a:ext cx="1133475" cy="4943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7A9"/>
                </a:solidFill>
                <a:latin typeface="Arial"/>
              </a:rPr>
              <a:t>Quality &amp;
Release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73555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Review Gate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6816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Evidence Assembly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80076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Pull Request Link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83337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Retry &amp; Recovery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86597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Release Decision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921568"/>
            <a:ext cx="9768840" cy="777240"/>
          </a:xfrm>
          <a:prstGeom prst="rect">
            <a:avLst/>
          </a:prstGeom>
          <a:solidFill>
            <a:srgbClr val="63666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4921568"/>
            <a:ext cx="1133475" cy="7772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3666A"/>
                </a:solidFill>
                <a:latin typeface="Arial"/>
              </a:rPr>
              <a:t>Business Objects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73555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Workspace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92939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Issue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2322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Project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1706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Comment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51090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Agent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870474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Squad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73555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Skill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92939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Runtime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12322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Task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31706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Autopilot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51090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Inbox Item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70474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Evidence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767388"/>
            <a:ext cx="9768840" cy="494348"/>
          </a:xfrm>
          <a:prstGeom prst="rect">
            <a:avLst/>
          </a:prstGeom>
          <a:solidFill>
            <a:srgbClr val="97999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5767388"/>
            <a:ext cx="1133475" cy="4943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3666A"/>
                </a:solidFill>
                <a:latin typeface="Arial"/>
              </a:rPr>
              <a:t>Value Stream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73555" y="5849779"/>
            <a:ext cx="2065258" cy="329565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Capability Supply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02631" y="5849779"/>
            <a:ext cx="2065258" cy="329565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Delegation &amp; Execution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31706" y="5849779"/>
            <a:ext cx="2065258" cy="329565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Review &amp; Decision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60782" y="5849779"/>
            <a:ext cx="2065258" cy="329565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Capture &amp; Reuse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344150" y="952500"/>
            <a:ext cx="1389698" cy="5309235"/>
          </a:xfrm>
          <a:prstGeom prst="rect">
            <a:avLst/>
          </a:prstGeom>
          <a:solidFill>
            <a:srgbClr val="86BC2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344150" y="952500"/>
            <a:ext cx="1389698" cy="310515"/>
          </a:xfrm>
          <a:prstGeom prst="rect">
            <a:avLst/>
          </a:prstGeom>
          <a:solidFill>
            <a:srgbClr val="86BC25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344150" y="952500"/>
            <a:ext cx="1389698" cy="31051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A1A1A"/>
                </a:solidFill>
                <a:latin typeface="Arial"/>
              </a:rPr>
              <a:t>Value Metrics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27018" y="1434465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Lead Time to Outcome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427018" y="2056447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First-pass Review Rate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27018" y="2678430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Rework Rate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427018" y="3300412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Gate Wait Time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427018" y="3922395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Skill Reuse Rate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427018" y="4544378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Run Cost per Outcome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D0D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600" y="6457950"/>
            <a:ext cx="1524000" cy="209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Open Sans"/>
              </a:rPr>
              <a:t>Deloitte</a:t>
            </a:r>
            <a:r>
              <a:rPr sz="975" b="1">
                <a:solidFill>
                  <a:srgbClr val="86BC25"/>
                </a:solidFill>
                <a:latin typeface="Open Sans"/>
              </a:rPr>
              <a:t>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00500" y="6496050"/>
            <a:ext cx="41910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Information Classification: Confidential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43900" y="6496050"/>
            <a:ext cx="32385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© 2026 Deloitte. For internal use only.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84822"/>
            <a:ext cx="119063" cy="119063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5325" y="361950"/>
            <a:ext cx="7858125" cy="419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800" y="361950"/>
            <a:ext cx="4572000" cy="419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66A"/>
                </a:solidFill>
                <a:latin typeface="Arial"/>
              </a:rPr>
              <a:t>View 02 of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52500"/>
            <a:ext cx="9768840" cy="494348"/>
          </a:xfrm>
          <a:prstGeom prst="rect">
            <a:avLst/>
          </a:prstGeom>
          <a:solidFill>
            <a:srgbClr val="63666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2500"/>
            <a:ext cx="1133475" cy="4943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3666A"/>
                </a:solidFill>
                <a:latin typeface="Arial"/>
              </a:rPr>
              <a:t>Access Channels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3555" y="103489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6816" y="103489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Desktop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0076" y="103489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3337" y="103489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86597" y="103489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Programmatic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15428"/>
            <a:ext cx="9768840" cy="566738"/>
          </a:xfrm>
          <a:prstGeom prst="rect">
            <a:avLst/>
          </a:prstGeom>
          <a:solidFill>
            <a:srgbClr val="043B2C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15428"/>
            <a:ext cx="1133475" cy="56673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43B2C"/>
                </a:solidFill>
                <a:latin typeface="Arial"/>
              </a:rPr>
              <a:t>Shared Client
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3555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core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headless business 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6816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views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product surfaces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0076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ui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primitives and tokens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83337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Navigation Adapter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one route contract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86597" y="1597819"/>
            <a:ext cx="1639443" cy="401955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Storage Adapter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per-platform persistence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50745"/>
            <a:ext cx="9768840" cy="1576388"/>
          </a:xfrm>
          <a:prstGeom prst="rect">
            <a:avLst/>
          </a:prstGeom>
          <a:solidFill>
            <a:srgbClr val="86BC2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50745"/>
            <a:ext cx="1133475" cy="15763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6BC25"/>
                </a:solidFill>
                <a:latin typeface="Arial"/>
              </a:rPr>
              <a:t>Platform
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73555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Work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73555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Issue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3555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Project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3555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View &amp; 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73555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Status &amp; Label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3555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Attachment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6816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Agent Services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6816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Agent Registry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6816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Skill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6816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Squad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6816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Ontology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6816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Agent Builder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0076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Execution Services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0076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Task 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0076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Queue &amp; Claim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80076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Lease &amp; Retry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80076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Usage Aggregation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0076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Failure Classification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83337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Collaboration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83337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Comment 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83337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Subscription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83337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Notification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83337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Inbox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83337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Chat Session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86597" y="2233136"/>
            <a:ext cx="1639443" cy="256222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Arial"/>
              </a:rPr>
              <a:t>Platform Services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86597" y="25350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Identity &amp; Token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597" y="27636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Entitlement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86597" y="29922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Feature Flags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86597" y="32208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Plugin Runtime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86597" y="3449479"/>
            <a:ext cx="1639443" cy="195262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Audit Writer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795712"/>
            <a:ext cx="9768840" cy="494348"/>
          </a:xfrm>
          <a:prstGeom prst="rect">
            <a:avLst/>
          </a:prstGeom>
          <a:solidFill>
            <a:srgbClr val="0097A9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795712"/>
            <a:ext cx="1133475" cy="4943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7A9"/>
                </a:solidFill>
                <a:latin typeface="Arial"/>
              </a:rPr>
              <a:t>Edge &amp;
Transport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73555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REST API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6816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Client WebSocket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0076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Daemon WebSocket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83337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Inbound Webhooks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86597" y="3878104"/>
            <a:ext cx="1639443" cy="329565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Signed URLs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358640"/>
            <a:ext cx="9768840" cy="494348"/>
          </a:xfrm>
          <a:prstGeom prst="rect">
            <a:avLst/>
          </a:prstGeom>
          <a:solidFill>
            <a:srgbClr val="0097A9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358640"/>
            <a:ext cx="1133475" cy="4943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7A9"/>
                </a:solidFill>
                <a:latin typeface="Arial"/>
              </a:rPr>
              <a:t>Execution Plane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73555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Local Daemon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6816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Runtime Probe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0076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Claim Loop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83337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Isolation Manager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597" y="4441031"/>
            <a:ext cx="1639443" cy="329565"/>
          </a:xfrm>
          <a:prstGeom prst="rect">
            <a:avLst/>
          </a:prstGeom>
          <a:solidFill>
            <a:srgbClr val="FFFFFF"/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Agent CLI Adapter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921568"/>
            <a:ext cx="9768840" cy="777240"/>
          </a:xfrm>
          <a:prstGeom prst="rect">
            <a:avLst/>
          </a:prstGeom>
          <a:solidFill>
            <a:srgbClr val="63666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921568"/>
            <a:ext cx="1133475" cy="7772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3666A"/>
                </a:solidFill>
                <a:latin typeface="Arial"/>
              </a:rPr>
              <a:t>Data Resources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73555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Workspace Store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92939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Issue Store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12322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Task Queue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1706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Message Log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51090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Usage Rollups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70474" y="5003959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Agent Config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73555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Skill Bundles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92939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Plugin Registry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12322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Channel Bindings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1706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Object Storage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51090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Realtime Relay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70474" y="5342096"/>
            <a:ext cx="135556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Audit Log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767388"/>
            <a:ext cx="9768840" cy="494348"/>
          </a:xfrm>
          <a:prstGeom prst="rect">
            <a:avLst/>
          </a:prstGeom>
          <a:solidFill>
            <a:srgbClr val="97999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767388"/>
            <a:ext cx="1133475" cy="4943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3666A"/>
                </a:solidFill>
                <a:latin typeface="Arial"/>
              </a:rPr>
              <a:t>Integration
Surface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73555" y="5849779"/>
            <a:ext cx="2065258" cy="329565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Git Hosting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02631" y="5849779"/>
            <a:ext cx="2065258" cy="329565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Messaging Channels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31706" y="5849779"/>
            <a:ext cx="2065258" cy="329565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Tools &amp; MCP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60782" y="5849779"/>
            <a:ext cx="2065258" cy="329565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Model Gateway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344150" y="952500"/>
            <a:ext cx="1389698" cy="5309235"/>
          </a:xfrm>
          <a:prstGeom prst="rect">
            <a:avLst/>
          </a:prstGeom>
          <a:solidFill>
            <a:srgbClr val="86BC2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344150" y="952500"/>
            <a:ext cx="1389698" cy="310515"/>
          </a:xfrm>
          <a:prstGeom prst="rect">
            <a:avLst/>
          </a:prstGeom>
          <a:solidFill>
            <a:srgbClr val="86BC25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344150" y="952500"/>
            <a:ext cx="1389698" cy="31051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A1A1A"/>
                </a:solidFill>
                <a:latin typeface="Arial"/>
              </a:rPr>
              <a:t>Contract Plane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427018" y="1434465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API Schema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427018" y="2056447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Route Contract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27018" y="2678430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Event Types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27018" y="3300412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Task Token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427018" y="3922395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Client Identity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27018" y="4544378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Plugin Manifest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D0D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9600" y="6457950"/>
            <a:ext cx="1524000" cy="209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Open Sans"/>
              </a:rPr>
              <a:t>Deloitte</a:t>
            </a:r>
            <a:r>
              <a:rPr sz="975" b="1">
                <a:solidFill>
                  <a:srgbClr val="86BC25"/>
                </a:solidFill>
                <a:latin typeface="Open Sans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00500" y="6496050"/>
            <a:ext cx="41910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Information Classification: Confidential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43900" y="6496050"/>
            <a:ext cx="32385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© 2026 Deloitte. For internal use only.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84822"/>
            <a:ext cx="119063" cy="119063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5325" y="361950"/>
            <a:ext cx="7858125" cy="419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800" y="361950"/>
            <a:ext cx="4572000" cy="419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66A"/>
                </a:solidFill>
                <a:latin typeface="Arial"/>
              </a:rPr>
              <a:t>View 03 of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52500"/>
            <a:ext cx="9768840" cy="641032"/>
          </a:xfrm>
          <a:prstGeom prst="rect">
            <a:avLst/>
          </a:prstGeom>
          <a:solidFill>
            <a:srgbClr val="63666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2500"/>
            <a:ext cx="1133475" cy="641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3666A"/>
                </a:solidFill>
                <a:latin typeface="Arial"/>
              </a:rPr>
              <a:t>Client
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3555" y="1034891"/>
            <a:ext cx="2065258" cy="47625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Next.js 16 · App Router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React 19.2 · webpack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2631" y="1034891"/>
            <a:ext cx="2065258" cy="47625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Electron 39 · electron-vite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memory router · contextBridge · sandbox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1706" y="1034891"/>
            <a:ext cx="2065258" cy="47625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Expo 55 · React Native 0.83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iOS · NativeWind · its own query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60782" y="1034891"/>
            <a:ext cx="2065258" cy="47625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Go CLI + daemon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Cobra · single binary · self-update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62112"/>
            <a:ext cx="9768840" cy="641032"/>
          </a:xfrm>
          <a:prstGeom prst="rect">
            <a:avLst/>
          </a:prstGeom>
          <a:solidFill>
            <a:srgbClr val="043B2C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62112"/>
            <a:ext cx="1133475" cy="641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43B2C"/>
                </a:solidFill>
                <a:latin typeface="Arial"/>
              </a:rPr>
              <a:t>Access &amp;
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555" y="1744504"/>
            <a:ext cx="2065258" cy="476250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JWT cookie + CSRF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HttpOnly · SameSite=Strict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2631" y="1744504"/>
            <a:ext cx="2065258" cy="476250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enact_ PAT · mat_ task token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task token expires with the 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1706" y="1744504"/>
            <a:ext cx="2065258" cy="476250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Workspace filter · Access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every query scoped; admins cannot bypass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60782" y="1744504"/>
            <a:ext cx="2065258" cy="476250"/>
          </a:xfrm>
          <a:prstGeom prst="rect">
            <a:avLst/>
          </a:prstGeom>
          <a:solidFill>
            <a:srgbClr val="043B2C">
              <a:alpha val="16000"/>
            </a:srgbClr>
          </a:solidFill>
          <a:ln w="6350">
            <a:solidFill>
              <a:srgbClr val="04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secretbox · OS-user boundary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sealed integration keys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71725"/>
            <a:ext cx="9768840" cy="641032"/>
          </a:xfrm>
          <a:prstGeom prst="rect">
            <a:avLst/>
          </a:prstGeom>
          <a:solidFill>
            <a:srgbClr val="86BC2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71725"/>
            <a:ext cx="1133475" cy="641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6BC25"/>
                </a:solidFill>
                <a:latin typeface="Arial"/>
              </a:rPr>
              <a:t>Frontend Runtime
&amp; Protocols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73555" y="2454116"/>
            <a:ext cx="1639443" cy="476250"/>
          </a:xfrm>
          <a:prstGeom prst="rect">
            <a:avLst/>
          </a:prstGeom>
          <a:solidFill>
            <a:srgbClr val="86BC25">
              <a:alpha val="16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TypeScript strict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raw .ts packages, transpiled by consumers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6816" y="2454116"/>
            <a:ext cx="1639443" cy="476250"/>
          </a:xfrm>
          <a:prstGeom prst="rect">
            <a:avLst/>
          </a:prstGeom>
          <a:solidFill>
            <a:srgbClr val="86BC25">
              <a:alpha val="16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TanStack Query v5 · Zustand v5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server state vs client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80076" y="2454116"/>
            <a:ext cx="1639443" cy="476250"/>
          </a:xfrm>
          <a:prstGeom prst="rect">
            <a:avLst/>
          </a:prstGeom>
          <a:solidFill>
            <a:srgbClr val="86BC25">
              <a:alpha val="16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zod · parseWithFallback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network JSON is never cast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83337" y="2454116"/>
            <a:ext cx="1639443" cy="476250"/>
          </a:xfrm>
          <a:prstGeom prst="rect">
            <a:avLst/>
          </a:prstGeom>
          <a:solidFill>
            <a:srgbClr val="86BC25">
              <a:alpha val="16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WebSocket · client + daemon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scope subscribe · WS-first RPC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86597" y="2454116"/>
            <a:ext cx="1639443" cy="476250"/>
          </a:xfrm>
          <a:prstGeom prst="rect">
            <a:avLst/>
          </a:prstGeom>
          <a:solidFill>
            <a:srgbClr val="86BC25">
              <a:alpha val="16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REST · webhooks · MCP · VCS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HMAC-verified ingress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81338"/>
            <a:ext cx="9768840" cy="1686878"/>
          </a:xfrm>
          <a:prstGeom prst="rect">
            <a:avLst/>
          </a:prstGeom>
          <a:solidFill>
            <a:srgbClr val="86BC2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81338"/>
            <a:ext cx="1133475" cy="168687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6BC25"/>
                </a:solidFill>
                <a:latin typeface="Arial"/>
              </a:rPr>
              <a:t>Go Application
Runtime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3555" y="3163729"/>
            <a:ext cx="1639443" cy="295275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A1A1A"/>
                </a:solidFill>
                <a:latin typeface="Arial"/>
              </a:rPr>
              <a:t>API server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73555" y="350472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Chi router + middleware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73555" y="3747611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sqlc · pgx/v5 · pgxpool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73555" y="3990499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Workspace-scoped queries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73555" y="4233386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slog + X-Request-ID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73555" y="447627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Recoverer · CORS · CSP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6816" y="3163729"/>
            <a:ext cx="1639443" cy="295275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A1A1A"/>
                </a:solidFill>
                <a:latin typeface="Arial"/>
              </a:rPr>
              <a:t>Task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6816" y="350472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agent_task_queue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6816" y="3747611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Batch claim + lease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6816" y="3990499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5-minute prepare bound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6816" y="4233386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Retry · backoff · classify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6816" y="447627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Orphan recovery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0076" y="3163729"/>
            <a:ext cx="1639443" cy="295275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A1A1A"/>
                </a:solidFill>
                <a:latin typeface="Arial"/>
              </a:rPr>
              <a:t>Realtime hub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80076" y="350472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Per-workspace rooms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0076" y="3747611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Scope subscriptions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80076" y="3990499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Redis Streams relay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80076" y="4233386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XREAD BLOCK + replay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0076" y="447627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Slow-client eviction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83337" y="3163729"/>
            <a:ext cx="1639443" cy="295275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A1A1A"/>
                </a:solidFill>
                <a:latin typeface="Arial"/>
              </a:rPr>
              <a:t>Schedulers &amp; workers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83337" y="350472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sys_cron_executions lease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83337" y="3747611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Usage rollup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83337" y="3990499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Autopilot dispatch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83337" y="4233386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Webhook delivery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83337" y="447627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Channel supervisor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86597" y="3163729"/>
            <a:ext cx="1639443" cy="295275"/>
          </a:xfrm>
          <a:prstGeom prst="rect">
            <a:avLst/>
          </a:prstGeom>
          <a:solidFill>
            <a:srgbClr val="86BC25">
              <a:alpha val="20000"/>
            </a:srgbClr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A1A1A"/>
                </a:solidFill>
                <a:latin typeface="Arial"/>
              </a:rPr>
              <a:t>Execution daemon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86597" y="350472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Runtime probe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86597" y="3747611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Claim loop · WS + poll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86597" y="3990499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execenv re-exec · setpgid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86597" y="4233386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git worktree isolation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86597" y="4476274"/>
            <a:ext cx="1639443" cy="209550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3666A"/>
                </a:solidFill>
                <a:latin typeface="Arial"/>
              </a:rPr>
              <a:t>23 agent CLI backends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836795"/>
            <a:ext cx="9768840" cy="641032"/>
          </a:xfrm>
          <a:prstGeom prst="rect">
            <a:avLst/>
          </a:prstGeom>
          <a:solidFill>
            <a:srgbClr val="0097A9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836795"/>
            <a:ext cx="1133475" cy="641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7A9"/>
                </a:solidFill>
                <a:latin typeface="Arial"/>
              </a:rPr>
              <a:t>Data &amp; Platform
Services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73555" y="4919186"/>
            <a:ext cx="1639443" cy="476250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PostgreSQL 17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435 migrations · advisory-locked runner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6816" y="4919186"/>
            <a:ext cx="1639443" cy="476250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No foreign keys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integrity resolved in application code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80076" y="4919186"/>
            <a:ext cx="1639443" cy="476250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Concurrent index builds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one statement per migration file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83337" y="4919186"/>
            <a:ext cx="1639443" cy="476250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pg_bigm + pg_trgm GIN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CJK search · 3s timeout · 57014 → 503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86597" y="4919186"/>
            <a:ext cx="1639443" cy="476250"/>
          </a:xfrm>
          <a:prstGeom prst="rect">
            <a:avLst/>
          </a:prstGeom>
          <a:solidFill>
            <a:srgbClr val="0097A9">
              <a:alpha val="16000"/>
            </a:srgbClr>
          </a:solidFill>
          <a:ln w="6350">
            <a:solidFill>
              <a:srgbClr val="009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Redis · optional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relay · rate limit · claim cache; fails open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46408"/>
            <a:ext cx="9768840" cy="641032"/>
          </a:xfrm>
          <a:prstGeom prst="rect">
            <a:avLst/>
          </a:prstGeom>
          <a:solidFill>
            <a:srgbClr val="97999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546408"/>
            <a:ext cx="1133475" cy="641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3666A"/>
                </a:solidFill>
                <a:latin typeface="Arial"/>
              </a:rPr>
              <a:t>Operations &amp;
Infrastructure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73555" y="5628799"/>
            <a:ext cx="1639443" cy="476250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Docker Compose · Helm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entrypoint migrates, then serves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6816" y="5628799"/>
            <a:ext cx="1639443" cy="476250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Prometheus on METRICS_ADDR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separate server · own sampler pool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80076" y="5628799"/>
            <a:ext cx="1639443" cy="476250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slog + tint · pprof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X-Request-ID correlation · loopback only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83337" y="5628799"/>
            <a:ext cx="1639443" cy="476250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S3 + CloudFront · workdir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presigned GET · signed cookies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86597" y="5628799"/>
            <a:ext cx="1639443" cy="476250"/>
          </a:xfrm>
          <a:prstGeom prst="rect">
            <a:avLst/>
          </a:prstGeom>
          <a:solidFill>
            <a:srgbClr val="97999B">
              <a:alpha val="16000"/>
            </a:srgbClr>
          </a:solidFill>
          <a:ln w="6350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A1A1A"/>
                </a:solidFill>
                <a:latin typeface="Arial"/>
              </a:rPr>
              <a:t>GoReleaser · GHCR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3666A"/>
                </a:solidFill>
                <a:latin typeface="Arial"/>
              </a:rPr>
              <a:t>CLI archives · multi-arch images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344150" y="952500"/>
            <a:ext cx="1389698" cy="5234940"/>
          </a:xfrm>
          <a:prstGeom prst="rect">
            <a:avLst/>
          </a:prstGeom>
          <a:solidFill>
            <a:srgbClr val="86BC2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344150" y="952500"/>
            <a:ext cx="1389698" cy="310515"/>
          </a:xfrm>
          <a:prstGeom prst="rect">
            <a:avLst/>
          </a:prstGeom>
          <a:solidFill>
            <a:srgbClr val="86BC25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44150" y="952500"/>
            <a:ext cx="1389698" cy="31051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A1A1A"/>
                </a:solidFill>
                <a:latin typeface="Arial"/>
              </a:rPr>
              <a:t>External Resources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27018" y="1434465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GitHub · GitLab
Gitea · Forgejo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427018" y="2056447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Slack · Lark · WeCom
DingTalk · Telegram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27018" y="2678430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MCP servers · Composio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427018" y="3300412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AI provider CLIs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27018" y="3922395"/>
            <a:ext cx="1224915" cy="475298"/>
          </a:xfrm>
          <a:prstGeom prst="rect">
            <a:avLst/>
          </a:prstGeom>
          <a:solidFill>
            <a:srgbClr val="FFFFFF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A1A1A"/>
                </a:solidFill>
                <a:latin typeface="Arial"/>
              </a:rPr>
              <a:t>Stripe via Cloud · PostHog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D0D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9600" y="6457950"/>
            <a:ext cx="1524000" cy="209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Open Sans"/>
              </a:rPr>
              <a:t>Deloitte</a:t>
            </a:r>
            <a:r>
              <a:rPr sz="975" b="1">
                <a:solidFill>
                  <a:srgbClr val="86BC25"/>
                </a:solidFill>
                <a:latin typeface="Open Sans"/>
              </a:rPr>
              <a:t>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00500" y="6496050"/>
            <a:ext cx="41910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Information Classification: Confidential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43900" y="6496050"/>
            <a:ext cx="32385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© 2026 Deloitte. For internal use only.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95300"/>
            <a:ext cx="8572500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40">
                <a:solidFill>
                  <a:srgbClr val="26890D"/>
                </a:solidFill>
                <a:latin typeface="Open Sans"/>
              </a:rPr>
              <a:t>INTEGRATION AND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952500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Open Sans Light"/>
              </a:rPr>
              <a:t>The agent outlives the tool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Open Sans Light"/>
              </a:rPr>
              <a:t>it runs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36420"/>
            <a:ext cx="57150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065020"/>
            <a:ext cx="9620250" cy="514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3565A"/>
                </a:solidFill>
                <a:latin typeface="Open Sans"/>
              </a:rPr>
              <a:t>Teams change coding agents every few months. Enact is built so that changing the tool does not mean rebuilding the team, its permissions or the audit trail.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3670"/>
            <a:ext cx="347980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86BC25"/>
                </a:solidFill>
                <a:latin typeface="Open Sans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Identity, capability and compute are separate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An agent is a configuration — charter, instructions, skills, Access. A runtime is the machine and the tool that runs it. Swapping either leaves the other intact.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23 protocol families are supported, and the whitelist is enforced twice — in Go and as a database constraint — so a workspace can only build on a backend Enact actually supports.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100" y="2693670"/>
            <a:ext cx="3479800" cy="3810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61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37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46A38"/>
                </a:solidFill>
                <a:latin typeface="Open Sans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7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Tool access resolves at dispatch, not at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37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Workspace, agent, per-run and plugin-bridged MCP servers merge by name. On collision the live user credential wins over the saved placeholder.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A malformed overlay ships the saved servers unchanged — silently disabling a team's existing tools is the worse 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2600" y="2693670"/>
            <a:ext cx="3479800" cy="38100"/>
          </a:xfrm>
          <a:prstGeom prst="rect">
            <a:avLst/>
          </a:prstGeom>
          <a:solidFill>
            <a:srgbClr val="00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6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02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097A9"/>
                </a:solidFill>
                <a:latin typeface="Open Sans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2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Scoped by capability, never by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02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Plugins declare scopes from a closed vocabulary. net:&lt;domain&gt; is not advisory — it drives the iframe CSP allowlist and the hook host check.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MCP approvals are pinned to a schema digest, so a tool that changes what it does needs fresh consent. Remote credentials are fetched per connection, never stored in a task record.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867400"/>
            <a:ext cx="10972800" cy="495300"/>
          </a:xfrm>
          <a:prstGeom prst="rect">
            <a:avLst/>
          </a:prstGeom>
          <a:solidFill>
            <a:srgbClr val="0B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5867400"/>
            <a:ext cx="38100" cy="4953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250" y="5867400"/>
            <a:ext cx="10477500" cy="4953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1" i="0">
                <a:solidFill>
                  <a:srgbClr val="FFFFFF"/>
                </a:solidFill>
                <a:latin typeface="Open Sans"/>
              </a:rPr>
              <a:t>Nothing here assumes the tool you use today is the tool you will use next year.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457950"/>
            <a:ext cx="1524000" cy="209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Open Sans"/>
              </a:rPr>
              <a:t>Deloitte</a:t>
            </a:r>
            <a:r>
              <a:rPr sz="975" b="1">
                <a:solidFill>
                  <a:srgbClr val="86BC25"/>
                </a:solidFill>
                <a:latin typeface="Open San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500" y="6496050"/>
            <a:ext cx="41910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Information Classification: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6496050"/>
            <a:ext cx="32385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© 2026 Deloitte. For internal use only.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95300"/>
            <a:ext cx="8572500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40">
                <a:solidFill>
                  <a:srgbClr val="26890D"/>
                </a:solidFill>
                <a:latin typeface="Open Sans"/>
              </a:rPr>
              <a:t>FULL LIFECYCLE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952500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Open Sans Light"/>
              </a:rPr>
              <a:t>Eight stages an agent can run.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Open Sans Light"/>
              </a:rPr>
              <a:t>Five decisions it may not make.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36420"/>
            <a:ext cx="57150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065020"/>
            <a:ext cx="9620250" cy="514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3565A"/>
                </a:solidFill>
                <a:latin typeface="Open Sans"/>
              </a:rPr>
              <a:t>The delivery method ships as ten executable skills rather than a diagram. Every new workspace is provisioned with nine system agents and a delivery squad.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3670"/>
            <a:ext cx="347980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86BC25"/>
                </a:solidFill>
                <a:latin typeface="Open Sans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The method is executable, not documentary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Intake, Explore, Contract, Build, QA, Release, Operate, Learn — each a skill with a named exit artefact. sdlc-core holds the shared object model, state machine and validators.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State lives as files under .sdlc/ — git-diffable, reviewable in a pull request, auditable offline. No database, no session memory.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100" y="2693670"/>
            <a:ext cx="3479800" cy="3810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61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37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46A38"/>
                </a:solidFill>
                <a:latin typeface="Open Sans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7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Five gates need a named human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37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contract-approval, scope-expansion, build-review, release, lesson-approval. Each is two-phase: deterministic pre-check first, named authorisation second.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A model gathers evidence, explains it and recommends. It does not sign. An agent, the workspace owner, silence or a status change is never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2600" y="2693670"/>
            <a:ext cx="3479800" cy="38100"/>
          </a:xfrm>
          <a:prstGeom prst="rect">
            <a:avLst/>
          </a:prstGeom>
          <a:solidFill>
            <a:srgbClr val="00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6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02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097A9"/>
                </a:solidFill>
                <a:latin typeface="Open Sans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2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Separation of duties is enforced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02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QA freezes test intent from the approved contract before reading the implementation. Build may not fill a contract gap in code — it raises an amendment.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Rollback is a first-class path, including the exit that lets “this should not be built” be recorded as exactly that.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867400"/>
            <a:ext cx="10972800" cy="495300"/>
          </a:xfrm>
          <a:prstGeom prst="rect">
            <a:avLst/>
          </a:prstGeom>
          <a:solidFill>
            <a:srgbClr val="0B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5867400"/>
            <a:ext cx="38100" cy="4953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250" y="5867400"/>
            <a:ext cx="10477500" cy="4953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1" i="0">
                <a:solidFill>
                  <a:srgbClr val="FFFFFF"/>
                </a:solidFill>
                <a:latin typeface="Open Sans"/>
              </a:rPr>
              <a:t>Ceremony scales with the task. Approval gates never 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457950"/>
            <a:ext cx="1524000" cy="209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Open Sans"/>
              </a:rPr>
              <a:t>Deloitte</a:t>
            </a:r>
            <a:r>
              <a:rPr sz="975" b="1">
                <a:solidFill>
                  <a:srgbClr val="86BC25"/>
                </a:solidFill>
                <a:latin typeface="Open San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500" y="6496050"/>
            <a:ext cx="41910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Information Classification: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6496050"/>
            <a:ext cx="32385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© 2026 Deloitte. For internal use only.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95300"/>
            <a:ext cx="8572500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40">
                <a:solidFill>
                  <a:srgbClr val="26890D"/>
                </a:solidFill>
                <a:latin typeface="Open Sans"/>
              </a:rPr>
              <a:t>PERMISSION, SECURITY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952500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Open Sans Light"/>
              </a:rPr>
              <a:t>The boundary you can verify beats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Open Sans Light"/>
              </a:rPr>
              <a:t>the sandbox you were promised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36420"/>
            <a:ext cx="57150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065020"/>
            <a:ext cx="9620250" cy="514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3565A"/>
                </a:solidFill>
                <a:latin typeface="Open Sans"/>
              </a:rPr>
              <a:t>Enact does not claim a filesystem sandbox. It states where the boundary actually sits and gives you three ways to place it — a stronger position in a security review than a claim that does not 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3670"/>
            <a:ext cx="347980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86BC25"/>
                </a:solidFill>
                <a:latin typeface="Open Sans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Authorisation narrows four 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Every query filters by workspace. Organisation roles govern settings, not resource visibility. Per-resource Access binds invocation — an admin may manage an agent and still not be allowed to run it.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Sensitive endpoints require a human principal, so an agent carrying its owner's identity still cannot reach that owner's account.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100" y="2693670"/>
            <a:ext cx="3479800" cy="3810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61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37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46A38"/>
                </a:solidFill>
                <a:latin typeface="Open Sans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7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Credentials are scoped to the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37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A task token is bound to user, agent, task and workspace, and expires when the run does.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Integration secrets are sealed per integration, and plugin config has a dedicated secret type so a plugin never renders its own credential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2600" y="2693670"/>
            <a:ext cx="3479800" cy="38100"/>
          </a:xfrm>
          <a:prstGeom prst="rect">
            <a:avLst/>
          </a:prstGeom>
          <a:solidFill>
            <a:srgbClr val="00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6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02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097A9"/>
                </a:solidFill>
                <a:latin typeface="Open Sans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2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The real boundary is the OS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02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Agents run unattended, so approval prompts auto-answer and the tool's own sandbox is off. Linux workspace-write was removed: restricting writes only, it never stopped a task exfiltrating credentials.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Place the boundary yourself — a dedicated system user, a container, or a virtual machine.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867400"/>
            <a:ext cx="10972800" cy="495300"/>
          </a:xfrm>
          <a:prstGeom prst="rect">
            <a:avLst/>
          </a:prstGeom>
          <a:solidFill>
            <a:srgbClr val="0B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5867400"/>
            <a:ext cx="38100" cy="4953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250" y="5867400"/>
            <a:ext cx="10477500" cy="4953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1" i="0">
                <a:solidFill>
                  <a:srgbClr val="FFFFFF"/>
                </a:solidFill>
                <a:latin typeface="Open Sans"/>
              </a:rPr>
              <a:t>Per-task worktrees and scoped tokens shrink the blast radius. They are not an adversarial boundary, and we do not sell them as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457950"/>
            <a:ext cx="1524000" cy="209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Open Sans"/>
              </a:rPr>
              <a:t>Deloitte</a:t>
            </a:r>
            <a:r>
              <a:rPr sz="975" b="1">
                <a:solidFill>
                  <a:srgbClr val="86BC25"/>
                </a:solidFill>
                <a:latin typeface="Open San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500" y="6496050"/>
            <a:ext cx="41910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Information Classification: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6496050"/>
            <a:ext cx="32385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© 2026 Deloitte. For internal use only.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95300"/>
            <a:ext cx="8572500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40">
                <a:solidFill>
                  <a:srgbClr val="26890D"/>
                </a:solidFill>
                <a:latin typeface="Open Sans"/>
              </a:rPr>
              <a:t>KNOWLEDGE MANAGEMENT AND ACCUMULATION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952500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Open Sans Light"/>
              </a:rPr>
              <a:t>Nothing becomes a standard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Open Sans Light"/>
              </a:rPr>
              <a:t>by accident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36420"/>
            <a:ext cx="57150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065020"/>
            <a:ext cx="9620250" cy="514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3565A"/>
                </a:solidFill>
                <a:latin typeface="Open Sans"/>
              </a:rPr>
              <a:t>Two mechanisms carry knowledge: agents read enterprise fact through a read-only surface and propose changes back as ordinary git, and validated experience is promoted only by a named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3670"/>
            <a:ext cx="347980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86BC25"/>
                </a:solidFill>
                <a:latin typeface="Open Sans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Agents read the facts, they do not hold a 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Intelligence Space keeps one source with three views — the site, a committed machine export and an MCP surface — all fed by one loader, so they cannot describe different content.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Eight read-only tools cover catalogue, artefact, document, search and traceability. The server re-reads on change, so an agent sees the working tree, never a stale snapshot.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100" y="2693670"/>
            <a:ext cx="3479800" cy="3810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61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37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46A38"/>
                </a:solidFill>
                <a:latin typeface="Open Sans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7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Write-back is a branch and a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37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A proposal is a git branch in its own worktree. The pre-commit hook regenerates the export and validates, so content the site cannot render — or an export that has drifted — cannot be committed.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Approving merges with --no-ff and removes the branch; rejecting leaves the commits recoverable in the reflog.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2600" y="2693670"/>
            <a:ext cx="3479800" cy="38100"/>
          </a:xfrm>
          <a:prstGeom prst="rect">
            <a:avLst/>
          </a:prstGeom>
          <a:solidFill>
            <a:srgbClr val="00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600" y="2731770"/>
            <a:ext cx="3479800" cy="29832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0250" y="2903220"/>
            <a:ext cx="857250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097A9"/>
                </a:solidFill>
                <a:latin typeface="Open Sans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250" y="3379470"/>
            <a:ext cx="2984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Open Sans"/>
              </a:rPr>
              <a:t>Experience is promoted by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0250" y="3912870"/>
            <a:ext cx="2984500" cy="1630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Three memory tiers decide what may be cited as fact — they stop an unverified lesson becoming standard by being quoted as “last time we hit X” in the next piece of work.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 i="0">
                <a:solidFill>
                  <a:srgbClr val="53565A"/>
                </a:solidFill>
                <a:latin typeface="Open Sans"/>
              </a:rPr>
              <a:t>Promotion runs six stages, classified by blast radius from one project up to every project, and approved by a named steward.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867400"/>
            <a:ext cx="10972800" cy="495300"/>
          </a:xfrm>
          <a:prstGeom prst="rect">
            <a:avLst/>
          </a:prstGeom>
          <a:solidFill>
            <a:srgbClr val="0B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5867400"/>
            <a:ext cx="38100" cy="4953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250" y="5867400"/>
            <a:ext cx="10477500" cy="4953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1" i="0">
                <a:solidFill>
                  <a:srgbClr val="FFFFFF"/>
                </a:solidFill>
                <a:latin typeface="Open Sans"/>
              </a:rPr>
              <a:t>Facts flow in through a read-only surface. Changes flow back as reviewed commits. Nothing is promoted without someone deciding.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457950"/>
            <a:ext cx="1524000" cy="209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Open Sans"/>
              </a:rPr>
              <a:t>Deloitte</a:t>
            </a:r>
            <a:r>
              <a:rPr sz="975" b="1">
                <a:solidFill>
                  <a:srgbClr val="86BC25"/>
                </a:solidFill>
                <a:latin typeface="Open San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500" y="6496050"/>
            <a:ext cx="41910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Information Classification: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6496050"/>
            <a:ext cx="323850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75787B"/>
                </a:solidFill>
                <a:latin typeface="Open Sans"/>
              </a:rPr>
              <a:t>© 2026 Deloitte. For internal use only.  ·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